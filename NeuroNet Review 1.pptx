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520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opening slide. Replace placeholders with team details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fill team details and responsibilities. The panel can quickly verify participation.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0th review. Panel should understand the idea in less than one minute.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connect project domain with SDG goals where appropriate.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prepare the abstract before meeting the guide. Avoid plagiarism and vague statements.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should be feasible for final-year timeline.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F"/>
          </a:solidFill>
          <a:ln w="12700">
            <a:solidFill>
              <a:srgbClr val="FFF8EF">
                <a:alpha val="0"/>
              </a:srgbClr>
            </a:solidFill>
            <a:prstDash val="solid"/>
          </a:ln>
        </p:spPr>
      </p:sp>
      <p:sp>
        <p:nvSpPr>
          <p:cNvPr id="3" name="Shape 1"/>
          <p:cNvSpPr/>
          <p:nvPr/>
        </p:nvSpPr>
        <p:spPr>
          <a:xfrm>
            <a:off x="0" y="0"/>
            <a:ext cx="3703320" cy="6858000"/>
          </a:xfrm>
          <a:prstGeom prst="rect">
            <a:avLst/>
          </a:prstGeom>
          <a:solidFill>
            <a:srgbClr val="0B1F3A"/>
          </a:solidFill>
          <a:ln w="12700">
            <a:solidFill>
              <a:srgbClr val="0B1F3A">
                <a:alpha val="0"/>
              </a:srgbClr>
            </a:solidFill>
            <a:prstDash val="solid"/>
          </a:ln>
        </p:spPr>
      </p:sp>
      <p:sp>
        <p:nvSpPr>
          <p:cNvPr id="4" name="Shape 2"/>
          <p:cNvSpPr/>
          <p:nvPr/>
        </p:nvSpPr>
        <p:spPr>
          <a:xfrm>
            <a:off x="3703320" y="0"/>
            <a:ext cx="109728" cy="6858000"/>
          </a:xfrm>
          <a:prstGeom prst="rect">
            <a:avLst/>
          </a:prstGeom>
          <a:solidFill>
            <a:srgbClr val="D7A44A"/>
          </a:solidFill>
          <a:ln w="12700">
            <a:solidFill>
              <a:srgbClr val="D7A44A">
                <a:alpha val="0"/>
              </a:srgbClr>
            </a:solidFill>
            <a:prstDash val="solid"/>
          </a:ln>
        </p:spPr>
      </p:sp>
      <p:sp>
        <p:nvSpPr>
          <p:cNvPr id="5" name="Text 3"/>
          <p:cNvSpPr/>
          <p:nvPr/>
        </p:nvSpPr>
        <p:spPr>
          <a:xfrm>
            <a:off x="4251960" y="1234440"/>
            <a:ext cx="7040880" cy="411480"/>
          </a:xfrm>
          <a:prstGeom prst="rect">
            <a:avLst/>
          </a:prstGeom>
          <a:noFill/>
          <a:ln/>
        </p:spPr>
        <p:txBody>
          <a:bodyPr wrap="square" lIns="0" tIns="0" rIns="0" bIns="0" rtlCol="0" anchor="ctr">
            <a:normAutofit/>
          </a:bodyPr>
          <a:lstStyle/>
          <a:p>
            <a:pPr marL="0" indent="0">
              <a:buNone/>
            </a:pPr>
            <a:r>
              <a:rPr lang="en-US" sz="2500" b="1" dirty="0">
                <a:solidFill>
                  <a:srgbClr val="8B4513"/>
                </a:solidFill>
                <a:latin typeface="Times New Roman" pitchFamily="34" charset="0"/>
                <a:ea typeface="Times New Roman" pitchFamily="34" charset="-122"/>
                <a:cs typeface="Times New Roman" pitchFamily="34" charset="-120"/>
              </a:rPr>
              <a:t>FINAL YEAR PROJECT</a:t>
            </a:r>
            <a:endParaRPr lang="en-US" sz="2500" dirty="0"/>
          </a:p>
        </p:txBody>
      </p:sp>
      <p:sp>
        <p:nvSpPr>
          <p:cNvPr id="6" name="Text 4"/>
          <p:cNvSpPr/>
          <p:nvPr/>
        </p:nvSpPr>
        <p:spPr>
          <a:xfrm>
            <a:off x="4251960" y="1755648"/>
            <a:ext cx="7040880" cy="822960"/>
          </a:xfrm>
          <a:prstGeom prst="rect">
            <a:avLst/>
          </a:prstGeom>
          <a:noFill/>
          <a:ln/>
        </p:spPr>
        <p:txBody>
          <a:bodyPr wrap="square" lIns="0" tIns="0" rIns="0" bIns="0" rtlCol="0" anchor="ctr">
            <a:normAutofit/>
          </a:bodyPr>
          <a:lstStyle/>
          <a:p>
            <a:pPr marL="0" indent="0">
              <a:buNone/>
            </a:pPr>
            <a:r>
              <a:rPr lang="en-US" sz="4200" b="1" dirty="0" err="1">
                <a:solidFill>
                  <a:schemeClr val="accent1">
                    <a:lumMod val="50000"/>
                  </a:schemeClr>
                </a:solidFill>
              </a:rPr>
              <a:t>NeuroNet</a:t>
            </a:r>
            <a:endParaRPr lang="en-US" sz="4200" b="1" dirty="0">
              <a:solidFill>
                <a:schemeClr val="accent1">
                  <a:lumMod val="50000"/>
                </a:schemeClr>
              </a:solidFill>
            </a:endParaRPr>
          </a:p>
        </p:txBody>
      </p:sp>
      <p:sp>
        <p:nvSpPr>
          <p:cNvPr id="7" name="Text 5"/>
          <p:cNvSpPr/>
          <p:nvPr/>
        </p:nvSpPr>
        <p:spPr>
          <a:xfrm>
            <a:off x="4251960" y="2834640"/>
            <a:ext cx="4937760" cy="384048"/>
          </a:xfrm>
          <a:prstGeom prst="rect">
            <a:avLst/>
          </a:prstGeom>
          <a:noFill/>
          <a:ln/>
        </p:spPr>
        <p:txBody>
          <a:bodyPr wrap="square" lIns="0" tIns="0" rIns="0" bIns="0" rtlCol="0" anchor="ctr">
            <a:normAutofit/>
          </a:bodyPr>
          <a:lstStyle/>
          <a:p>
            <a:pPr marL="0" indent="0">
              <a:buNone/>
            </a:pPr>
            <a:r>
              <a:rPr lang="en-US" sz="2300" b="1" dirty="0">
                <a:solidFill>
                  <a:srgbClr val="8B4513"/>
                </a:solidFill>
                <a:latin typeface="Times New Roman" pitchFamily="34" charset="0"/>
                <a:ea typeface="Times New Roman" pitchFamily="34" charset="-122"/>
                <a:cs typeface="Times New Roman" pitchFamily="34" charset="-120"/>
              </a:rPr>
              <a:t>Friday, 24 July 2026</a:t>
            </a:r>
            <a:endParaRPr lang="en-US" sz="2300" dirty="0"/>
          </a:p>
        </p:txBody>
      </p:sp>
      <p:sp>
        <p:nvSpPr>
          <p:cNvPr id="8" name="Text 6"/>
          <p:cNvSpPr/>
          <p:nvPr/>
        </p:nvSpPr>
        <p:spPr>
          <a:xfrm>
            <a:off x="4251960" y="3310128"/>
            <a:ext cx="5486400" cy="292608"/>
          </a:xfrm>
          <a:prstGeom prst="rect">
            <a:avLst/>
          </a:prstGeom>
          <a:noFill/>
          <a:ln/>
        </p:spPr>
        <p:txBody>
          <a:bodyPr wrap="square" lIns="0" tIns="0" rIns="0" bIns="0" rtlCol="0" anchor="ctr">
            <a:normAutofit/>
          </a:bodyPr>
          <a:lstStyle/>
          <a:p>
            <a:pPr marL="0" indent="0">
              <a:buNone/>
            </a:pPr>
            <a:r>
              <a:rPr lang="en-US" sz="1800" dirty="0">
                <a:solidFill>
                  <a:srgbClr val="5D6571"/>
                </a:solidFill>
                <a:latin typeface="Times New Roman" pitchFamily="34" charset="0"/>
                <a:ea typeface="Times New Roman" pitchFamily="34" charset="-122"/>
                <a:cs typeface="Times New Roman" pitchFamily="34" charset="-120"/>
              </a:rPr>
              <a:t>Department of Information Technology</a:t>
            </a:r>
            <a:endParaRPr lang="en-US" sz="1800" dirty="0"/>
          </a:p>
        </p:txBody>
      </p:sp>
      <p:sp>
        <p:nvSpPr>
          <p:cNvPr id="9" name="Text 7"/>
          <p:cNvSpPr/>
          <p:nvPr/>
        </p:nvSpPr>
        <p:spPr>
          <a:xfrm>
            <a:off x="4251960" y="3977640"/>
            <a:ext cx="6583680" cy="1143000"/>
          </a:xfrm>
          <a:prstGeom prst="rect">
            <a:avLst/>
          </a:prstGeom>
          <a:solidFill>
            <a:srgbClr val="FFFFFF"/>
          </a:solidFill>
          <a:ln w="15240">
            <a:solidFill>
              <a:srgbClr val="D7A44A"/>
            </a:solidFill>
          </a:ln>
        </p:spPr>
        <p:txBody>
          <a:bodyPr wrap="square" lIns="1524" tIns="1524" rIns="1524" bIns="1524" rtlCol="0" anchor="ctr">
            <a:normAutofit/>
          </a:bodyPr>
          <a:lstStyle/>
          <a:p>
            <a:pPr marL="0" indent="0">
              <a:buNone/>
            </a:pPr>
            <a:r>
              <a:rPr lang="en-US" sz="2200" dirty="0">
                <a:solidFill>
                  <a:srgbClr val="0B1F3A"/>
                </a:solidFill>
                <a:latin typeface="Times New Roman" pitchFamily="34" charset="0"/>
                <a:ea typeface="Times New Roman" pitchFamily="34" charset="-122"/>
                <a:cs typeface="Times New Roman" pitchFamily="34" charset="-120"/>
              </a:rPr>
              <a:t> Nyx / Batch No.23</a:t>
            </a:r>
            <a:endParaRPr lang="en-US" sz="2200" dirty="0"/>
          </a:p>
          <a:p>
            <a:r>
              <a:rPr lang="en-US" sz="2200" dirty="0"/>
              <a:t> Mr. SRIRAM KRISHNA V S </a:t>
            </a:r>
          </a:p>
          <a:p>
            <a:pPr marL="0" indent="0">
              <a:buNone/>
            </a:pPr>
            <a:r>
              <a:rPr lang="en-US" sz="2200" dirty="0">
                <a:solidFill>
                  <a:srgbClr val="0B1F3A"/>
                </a:solidFill>
                <a:latin typeface="Times New Roman" pitchFamily="34" charset="0"/>
                <a:ea typeface="Times New Roman" pitchFamily="34" charset="-122"/>
                <a:cs typeface="Times New Roman" pitchFamily="34" charset="-120"/>
              </a:rPr>
              <a:t> IV-IT / A</a:t>
            </a:r>
            <a:endParaRPr lang="en-US" sz="2200" dirty="0"/>
          </a:p>
        </p:txBody>
      </p:sp>
      <p:sp>
        <p:nvSpPr>
          <p:cNvPr id="10" name="Text 8"/>
          <p:cNvSpPr/>
          <p:nvPr/>
        </p:nvSpPr>
        <p:spPr>
          <a:xfrm>
            <a:off x="502920" y="1828800"/>
            <a:ext cx="2788920" cy="1234440"/>
          </a:xfrm>
          <a:prstGeom prst="rect">
            <a:avLst/>
          </a:prstGeom>
          <a:noFill/>
          <a:ln/>
        </p:spPr>
        <p:txBody>
          <a:bodyPr wrap="square" lIns="508" tIns="508" rIns="508" bIns="508" rtlCol="0" anchor="ctr">
            <a:normAutofit/>
          </a:bodyPr>
          <a:lstStyle/>
          <a:p>
            <a:pPr marL="0" indent="0">
              <a:buNone/>
            </a:pPr>
            <a:endParaRPr lang="en-US" sz="2200" dirty="0"/>
          </a:p>
        </p:txBody>
      </p:sp>
      <p:sp>
        <p:nvSpPr>
          <p:cNvPr id="11" name="Text 9"/>
          <p:cNvSpPr/>
          <p:nvPr/>
        </p:nvSpPr>
        <p:spPr>
          <a:xfrm>
            <a:off x="502920" y="4069080"/>
            <a:ext cx="2743200" cy="1097280"/>
          </a:xfrm>
          <a:prstGeom prst="rect">
            <a:avLst/>
          </a:prstGeom>
          <a:noFill/>
          <a:ln/>
        </p:spPr>
        <p:txBody>
          <a:bodyPr wrap="square" lIns="508" tIns="508" rIns="508" bIns="508" rtlCol="0" anchor="ctr">
            <a:normAutofit/>
          </a:bodyPr>
          <a:lstStyle/>
          <a:p>
            <a:pPr marL="0" indent="0">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8B4513"/>
          </a:solidFill>
          <a:ln w="12700">
            <a:solidFill>
              <a:srgbClr val="8B4513">
                <a:alpha val="0"/>
              </a:srgbClr>
            </a:solidFill>
            <a:prstDash val="solid"/>
          </a:ln>
        </p:spPr>
      </p:sp>
      <p:sp>
        <p:nvSpPr>
          <p:cNvPr id="3" name="Text 1"/>
          <p:cNvSpPr/>
          <p:nvPr/>
        </p:nvSpPr>
        <p:spPr>
          <a:xfrm>
            <a:off x="502920" y="320040"/>
            <a:ext cx="7178040" cy="502920"/>
          </a:xfrm>
          <a:prstGeom prst="rect">
            <a:avLst/>
          </a:prstGeom>
          <a:noFill/>
          <a:ln/>
        </p:spPr>
        <p:txBody>
          <a:bodyPr wrap="square" lIns="0" tIns="0" rIns="0" bIns="0" rtlCol="0" anchor="ctr"/>
          <a:lstStyle/>
          <a:p>
            <a:pPr marL="0" indent="0">
              <a:buNone/>
            </a:pPr>
            <a:r>
              <a:rPr lang="en-US" sz="3000" b="1" dirty="0">
                <a:solidFill>
                  <a:srgbClr val="8B4513"/>
                </a:solidFill>
                <a:latin typeface="Times New Roman" pitchFamily="34" charset="0"/>
                <a:ea typeface="Times New Roman" pitchFamily="34" charset="-122"/>
                <a:cs typeface="Times New Roman" pitchFamily="34" charset="-120"/>
              </a:rPr>
              <a:t>Slide 1: Student Team Details</a:t>
            </a:r>
            <a:endParaRPr lang="en-US" sz="3000" dirty="0"/>
          </a:p>
        </p:txBody>
      </p:sp>
      <p:sp>
        <p:nvSpPr>
          <p:cNvPr id="4" name="Shape 2"/>
          <p:cNvSpPr/>
          <p:nvPr/>
        </p:nvSpPr>
        <p:spPr>
          <a:xfrm>
            <a:off x="502920" y="886968"/>
            <a:ext cx="1554480" cy="0"/>
          </a:xfrm>
          <a:prstGeom prst="line">
            <a:avLst/>
          </a:prstGeom>
          <a:noFill/>
          <a:ln w="38100">
            <a:solidFill>
              <a:srgbClr val="D7A44A"/>
            </a:solidFill>
            <a:prstDash val="solid"/>
          </a:ln>
        </p:spPr>
      </p:sp>
      <p:sp>
        <p:nvSpPr>
          <p:cNvPr id="5" name="Text 3"/>
          <p:cNvSpPr/>
          <p:nvPr/>
        </p:nvSpPr>
        <p:spPr>
          <a:xfrm>
            <a:off x="8549640" y="393192"/>
            <a:ext cx="2743200" cy="320040"/>
          </a:xfrm>
          <a:prstGeom prst="rect">
            <a:avLst/>
          </a:prstGeom>
          <a:noFill/>
          <a:ln/>
        </p:spPr>
        <p:txBody>
          <a:bodyPr wrap="square" lIns="0" tIns="0" rIns="0" bIns="0" rtlCol="0" anchor="ctr"/>
          <a:lstStyle/>
          <a:p>
            <a:pPr marL="0" indent="0" algn="r">
              <a:buNone/>
            </a:pPr>
            <a:endParaRPr lang="en-US" sz="1300" dirty="0"/>
          </a:p>
        </p:txBody>
      </p:sp>
      <p:sp>
        <p:nvSpPr>
          <p:cNvPr id="6" name="Text 4"/>
          <p:cNvSpPr/>
          <p:nvPr/>
        </p:nvSpPr>
        <p:spPr>
          <a:xfrm>
            <a:off x="502920" y="6537960"/>
            <a:ext cx="4572000" cy="201168"/>
          </a:xfrm>
          <a:prstGeom prst="rect">
            <a:avLst/>
          </a:prstGeom>
          <a:noFill/>
          <a:ln/>
        </p:spPr>
        <p:txBody>
          <a:bodyPr wrap="square" lIns="0" tIns="0" rIns="0" bIns="0" rtlCol="0" anchor="ctr"/>
          <a:lstStyle/>
          <a:p>
            <a:pPr marL="0" indent="0">
              <a:buNone/>
            </a:pPr>
            <a:r>
              <a:rPr lang="en-US" sz="950" dirty="0">
                <a:solidFill>
                  <a:srgbClr val="5D6571"/>
                </a:solidFill>
                <a:latin typeface="Times New Roman" pitchFamily="34" charset="0"/>
                <a:ea typeface="Times New Roman" pitchFamily="34" charset="-122"/>
                <a:cs typeface="Times New Roman" pitchFamily="34" charset="-120"/>
              </a:rPr>
              <a:t>Final Year Project 0th Review | 2</a:t>
            </a:r>
            <a:endParaRPr lang="en-US" sz="950" dirty="0"/>
          </a:p>
        </p:txBody>
      </p:sp>
      <p:sp>
        <p:nvSpPr>
          <p:cNvPr id="7" name="Text 5"/>
          <p:cNvSpPr/>
          <p:nvPr/>
        </p:nvSpPr>
        <p:spPr>
          <a:xfrm>
            <a:off x="7498080" y="6537960"/>
            <a:ext cx="4206240" cy="201168"/>
          </a:xfrm>
          <a:prstGeom prst="rect">
            <a:avLst/>
          </a:prstGeom>
          <a:noFill/>
          <a:ln/>
        </p:spPr>
        <p:txBody>
          <a:bodyPr wrap="square" lIns="0" tIns="0" rIns="0" bIns="0" rtlCol="0" anchor="ctr"/>
          <a:lstStyle/>
          <a:p>
            <a:pPr marL="0" indent="0" algn="r">
              <a:buNone/>
            </a:pPr>
            <a:r>
              <a:rPr lang="en-US" sz="950" dirty="0">
                <a:solidFill>
                  <a:srgbClr val="5D6571"/>
                </a:solidFill>
                <a:latin typeface="Times New Roman" pitchFamily="34" charset="0"/>
                <a:ea typeface="Times New Roman" pitchFamily="34" charset="-122"/>
                <a:cs typeface="Times New Roman" pitchFamily="34" charset="-120"/>
              </a:rPr>
              <a:t>Department of Information Technology</a:t>
            </a:r>
            <a:endParaRPr lang="en-US" sz="950" dirty="0"/>
          </a:p>
        </p:txBody>
      </p:sp>
      <p:sp>
        <p:nvSpPr>
          <p:cNvPr id="8" name="Text 6"/>
          <p:cNvSpPr/>
          <p:nvPr/>
        </p:nvSpPr>
        <p:spPr>
          <a:xfrm>
            <a:off x="731520" y="1234440"/>
            <a:ext cx="1920240" cy="512064"/>
          </a:xfrm>
          <a:prstGeom prst="rect">
            <a:avLst/>
          </a:prstGeom>
          <a:solidFill>
            <a:srgbClr val="0B1F3A"/>
          </a:solidFill>
          <a:ln w="10160">
            <a:solidFill>
              <a:srgbClr val="D9CBB9"/>
            </a:solidFill>
          </a:ln>
        </p:spPr>
        <p:txBody>
          <a:bodyPr wrap="square" lIns="762" tIns="762" rIns="762" bIns="762" rtlCol="0" anchor="ctr">
            <a:normAutofit/>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Register No.</a:t>
            </a:r>
            <a:endParaRPr lang="en-US" sz="1500" dirty="0"/>
          </a:p>
        </p:txBody>
      </p:sp>
      <p:sp>
        <p:nvSpPr>
          <p:cNvPr id="9" name="Text 7"/>
          <p:cNvSpPr/>
          <p:nvPr/>
        </p:nvSpPr>
        <p:spPr>
          <a:xfrm>
            <a:off x="2651760" y="1234440"/>
            <a:ext cx="4206240" cy="512064"/>
          </a:xfrm>
          <a:prstGeom prst="rect">
            <a:avLst/>
          </a:prstGeom>
          <a:solidFill>
            <a:srgbClr val="0B1F3A"/>
          </a:solidFill>
          <a:ln w="10160">
            <a:solidFill>
              <a:srgbClr val="D9CBB9"/>
            </a:solidFill>
          </a:ln>
        </p:spPr>
        <p:txBody>
          <a:bodyPr wrap="square" lIns="762" tIns="762" rIns="762" bIns="762" rtlCol="0" anchor="ctr">
            <a:normAutofit/>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Student Name</a:t>
            </a:r>
            <a:endParaRPr lang="en-US" sz="1500" dirty="0"/>
          </a:p>
        </p:txBody>
      </p:sp>
      <p:sp>
        <p:nvSpPr>
          <p:cNvPr id="10" name="Text 8"/>
          <p:cNvSpPr/>
          <p:nvPr/>
        </p:nvSpPr>
        <p:spPr>
          <a:xfrm>
            <a:off x="6858000" y="1234440"/>
            <a:ext cx="4526280" cy="512064"/>
          </a:xfrm>
          <a:prstGeom prst="rect">
            <a:avLst/>
          </a:prstGeom>
          <a:solidFill>
            <a:srgbClr val="0B1F3A"/>
          </a:solidFill>
          <a:ln w="10160">
            <a:solidFill>
              <a:srgbClr val="D9CBB9"/>
            </a:solidFill>
          </a:ln>
        </p:spPr>
        <p:txBody>
          <a:bodyPr wrap="square" lIns="762" tIns="762" rIns="762" bIns="762" rtlCol="0" anchor="ctr">
            <a:normAutofit/>
          </a:bodyP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Role / Responsibility</a:t>
            </a:r>
            <a:endParaRPr lang="en-US" sz="1500" dirty="0"/>
          </a:p>
        </p:txBody>
      </p:sp>
      <p:sp>
        <p:nvSpPr>
          <p:cNvPr id="11" name="Text 9"/>
          <p:cNvSpPr/>
          <p:nvPr/>
        </p:nvSpPr>
        <p:spPr>
          <a:xfrm>
            <a:off x="731520" y="1746504"/>
            <a:ext cx="192024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solidFill>
                  <a:srgbClr val="0B1F3A"/>
                </a:solidFill>
                <a:latin typeface="Times New Roman" pitchFamily="34" charset="0"/>
                <a:ea typeface="Times New Roman" pitchFamily="34" charset="-122"/>
                <a:cs typeface="Times New Roman" pitchFamily="34" charset="-120"/>
              </a:rPr>
              <a:t>   23IT005</a:t>
            </a:r>
            <a:endParaRPr lang="en-US" sz="1500" dirty="0"/>
          </a:p>
        </p:txBody>
      </p:sp>
      <p:sp>
        <p:nvSpPr>
          <p:cNvPr id="12" name="Text 10"/>
          <p:cNvSpPr/>
          <p:nvPr/>
        </p:nvSpPr>
        <p:spPr>
          <a:xfrm>
            <a:off x="2651760" y="1746504"/>
            <a:ext cx="420624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err="1">
                <a:solidFill>
                  <a:srgbClr val="0B1F3A"/>
                </a:solidFill>
                <a:latin typeface="Times New Roman" pitchFamily="34" charset="0"/>
                <a:cs typeface="Times New Roman" pitchFamily="34" charset="-120"/>
              </a:rPr>
              <a:t>Abijith</a:t>
            </a:r>
            <a:r>
              <a:rPr lang="en-US" sz="1500" dirty="0">
                <a:solidFill>
                  <a:srgbClr val="0B1F3A"/>
                </a:solidFill>
                <a:latin typeface="Times New Roman" pitchFamily="34" charset="0"/>
                <a:cs typeface="Times New Roman" pitchFamily="34" charset="-120"/>
              </a:rPr>
              <a:t> Raja B</a:t>
            </a:r>
            <a:endParaRPr lang="en-US" sz="1500" dirty="0"/>
          </a:p>
        </p:txBody>
      </p:sp>
      <p:sp>
        <p:nvSpPr>
          <p:cNvPr id="13" name="Text 11"/>
          <p:cNvSpPr/>
          <p:nvPr/>
        </p:nvSpPr>
        <p:spPr>
          <a:xfrm>
            <a:off x="6858000" y="1746504"/>
            <a:ext cx="452628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solidFill>
                  <a:srgbClr val="0B1F3A"/>
                </a:solidFill>
                <a:latin typeface="Times New Roman" pitchFamily="34" charset="0"/>
                <a:ea typeface="Times New Roman" pitchFamily="34" charset="-122"/>
                <a:cs typeface="Times New Roman" pitchFamily="34" charset="-120"/>
              </a:rPr>
              <a:t>Research / Documentation</a:t>
            </a:r>
            <a:endParaRPr lang="en-US" sz="1500" dirty="0"/>
          </a:p>
        </p:txBody>
      </p:sp>
      <p:sp>
        <p:nvSpPr>
          <p:cNvPr id="14" name="Text 12"/>
          <p:cNvSpPr/>
          <p:nvPr/>
        </p:nvSpPr>
        <p:spPr>
          <a:xfrm>
            <a:off x="731520" y="2258568"/>
            <a:ext cx="192024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solidFill>
                  <a:srgbClr val="0B1F3A"/>
                </a:solidFill>
                <a:latin typeface="Times New Roman" pitchFamily="34" charset="0"/>
                <a:ea typeface="Times New Roman" pitchFamily="34" charset="-122"/>
                <a:cs typeface="Times New Roman" pitchFamily="34" charset="-120"/>
              </a:rPr>
              <a:t>23IT006</a:t>
            </a:r>
            <a:endParaRPr lang="en-US" sz="1500" dirty="0"/>
          </a:p>
        </p:txBody>
      </p:sp>
      <p:sp>
        <p:nvSpPr>
          <p:cNvPr id="15" name="Text 13"/>
          <p:cNvSpPr/>
          <p:nvPr/>
        </p:nvSpPr>
        <p:spPr>
          <a:xfrm>
            <a:off x="2651760" y="2258568"/>
            <a:ext cx="420624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t>Abinaya S</a:t>
            </a:r>
          </a:p>
        </p:txBody>
      </p:sp>
      <p:sp>
        <p:nvSpPr>
          <p:cNvPr id="16" name="Text 14"/>
          <p:cNvSpPr/>
          <p:nvPr/>
        </p:nvSpPr>
        <p:spPr>
          <a:xfrm>
            <a:off x="6858000" y="2267712"/>
            <a:ext cx="452628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solidFill>
                  <a:srgbClr val="0B1F3A"/>
                </a:solidFill>
                <a:latin typeface="Times New Roman" pitchFamily="34" charset="0"/>
                <a:ea typeface="Times New Roman" pitchFamily="34" charset="-122"/>
                <a:cs typeface="Times New Roman" pitchFamily="34" charset="-120"/>
              </a:rPr>
              <a:t> Development / Testing</a:t>
            </a:r>
            <a:endParaRPr lang="en-US" sz="1500" dirty="0"/>
          </a:p>
        </p:txBody>
      </p:sp>
      <p:sp>
        <p:nvSpPr>
          <p:cNvPr id="17" name="Text 15"/>
          <p:cNvSpPr/>
          <p:nvPr/>
        </p:nvSpPr>
        <p:spPr>
          <a:xfrm>
            <a:off x="731520" y="2770632"/>
            <a:ext cx="192024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solidFill>
                  <a:srgbClr val="0B1F3A"/>
                </a:solidFill>
                <a:latin typeface="Times New Roman" pitchFamily="34" charset="0"/>
                <a:ea typeface="Times New Roman" pitchFamily="34" charset="-122"/>
                <a:cs typeface="Times New Roman" pitchFamily="34" charset="-120"/>
              </a:rPr>
              <a:t>23IT032</a:t>
            </a:r>
            <a:endParaRPr lang="en-US" sz="1500" dirty="0"/>
          </a:p>
        </p:txBody>
      </p:sp>
      <p:sp>
        <p:nvSpPr>
          <p:cNvPr id="18" name="Text 16"/>
          <p:cNvSpPr/>
          <p:nvPr/>
        </p:nvSpPr>
        <p:spPr>
          <a:xfrm>
            <a:off x="2651760" y="2770632"/>
            <a:ext cx="420624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err="1">
                <a:solidFill>
                  <a:srgbClr val="0B1F3A"/>
                </a:solidFill>
                <a:latin typeface="Times New Roman" pitchFamily="34" charset="0"/>
                <a:cs typeface="Times New Roman" pitchFamily="34" charset="-120"/>
              </a:rPr>
              <a:t>Mithielesh</a:t>
            </a:r>
            <a:r>
              <a:rPr lang="en-US" sz="1500" dirty="0">
                <a:solidFill>
                  <a:srgbClr val="0B1F3A"/>
                </a:solidFill>
                <a:latin typeface="Times New Roman" pitchFamily="34" charset="0"/>
                <a:cs typeface="Times New Roman" pitchFamily="34" charset="-120"/>
              </a:rPr>
              <a:t> N</a:t>
            </a:r>
            <a:endParaRPr lang="en-US" sz="1500" dirty="0"/>
          </a:p>
        </p:txBody>
      </p:sp>
      <p:sp>
        <p:nvSpPr>
          <p:cNvPr id="19" name="Text 17"/>
          <p:cNvSpPr/>
          <p:nvPr/>
        </p:nvSpPr>
        <p:spPr>
          <a:xfrm>
            <a:off x="6858000" y="2770632"/>
            <a:ext cx="452628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ctr">
              <a:buNone/>
            </a:pPr>
            <a:r>
              <a:rPr lang="en-US" sz="1500" dirty="0">
                <a:solidFill>
                  <a:srgbClr val="0B1F3A"/>
                </a:solidFill>
                <a:latin typeface="Times New Roman" pitchFamily="34" charset="0"/>
                <a:ea typeface="Times New Roman" pitchFamily="34" charset="-122"/>
                <a:cs typeface="Times New Roman" pitchFamily="34" charset="-120"/>
              </a:rPr>
              <a:t>Design / Presentation</a:t>
            </a:r>
            <a:endParaRPr lang="en-US" sz="1500" dirty="0"/>
          </a:p>
        </p:txBody>
      </p:sp>
      <p:sp>
        <p:nvSpPr>
          <p:cNvPr id="23" name="Text 21"/>
          <p:cNvSpPr/>
          <p:nvPr/>
        </p:nvSpPr>
        <p:spPr>
          <a:xfrm>
            <a:off x="731520" y="4160520"/>
            <a:ext cx="5120640" cy="502920"/>
          </a:xfrm>
          <a:prstGeom prst="rect">
            <a:avLst/>
          </a:prstGeom>
          <a:solidFill>
            <a:srgbClr val="FFFFFF"/>
          </a:solidFill>
          <a:ln w="12700">
            <a:solidFill>
              <a:srgbClr val="D9CBB9"/>
            </a:solidFill>
          </a:ln>
        </p:spPr>
        <p:txBody>
          <a:bodyPr wrap="square" lIns="1524" tIns="1524" rIns="1524" bIns="1524" rtlCol="0" anchor="ctr">
            <a:normAutofit/>
          </a:bodyPr>
          <a:lstStyle/>
          <a:p>
            <a:r>
              <a:rPr lang="en-US" sz="1800" dirty="0">
                <a:solidFill>
                  <a:srgbClr val="0B1F3A"/>
                </a:solidFill>
                <a:latin typeface="Times New Roman" pitchFamily="34" charset="0"/>
                <a:ea typeface="Times New Roman" pitchFamily="34" charset="-122"/>
                <a:cs typeface="Times New Roman" pitchFamily="34" charset="-120"/>
              </a:rPr>
              <a:t> Project Guide: </a:t>
            </a:r>
            <a:r>
              <a:rPr lang="en-US" dirty="0"/>
              <a:t> Mr. SRIRAM KRISHNA V S </a:t>
            </a:r>
            <a:endParaRPr lang="en-US" sz="1800" dirty="0"/>
          </a:p>
        </p:txBody>
      </p:sp>
      <p:sp>
        <p:nvSpPr>
          <p:cNvPr id="24" name="Text 22"/>
          <p:cNvSpPr/>
          <p:nvPr/>
        </p:nvSpPr>
        <p:spPr>
          <a:xfrm>
            <a:off x="6263640" y="4160520"/>
            <a:ext cx="5120640" cy="502920"/>
          </a:xfrm>
          <a:prstGeom prst="rect">
            <a:avLst/>
          </a:prstGeom>
          <a:solidFill>
            <a:srgbClr val="FFFFFF"/>
          </a:solidFill>
          <a:ln w="12700">
            <a:solidFill>
              <a:srgbClr val="D9CBB9"/>
            </a:solidFill>
          </a:ln>
        </p:spPr>
        <p:txBody>
          <a:bodyPr wrap="square" lIns="1524" tIns="1524" rIns="1524" bIns="1524" rtlCol="0" anchor="ctr">
            <a:normAutofit/>
          </a:bodyPr>
          <a:lstStyle/>
          <a:p>
            <a:pPr marL="0" indent="0">
              <a:buNone/>
            </a:pPr>
            <a:r>
              <a:rPr lang="en-US" sz="1800" dirty="0">
                <a:solidFill>
                  <a:srgbClr val="0B1F3A"/>
                </a:solidFill>
                <a:latin typeface="Times New Roman" pitchFamily="34" charset="0"/>
                <a:ea typeface="Times New Roman" pitchFamily="34" charset="-122"/>
                <a:cs typeface="Times New Roman" pitchFamily="34" charset="-120"/>
              </a:rPr>
              <a:t>Team / Batch No.: 23</a:t>
            </a:r>
            <a:endParaRPr lang="en-US" sz="1800" dirty="0"/>
          </a:p>
        </p:txBody>
      </p:sp>
      <p:sp>
        <p:nvSpPr>
          <p:cNvPr id="25" name="Text 23"/>
          <p:cNvSpPr/>
          <p:nvPr/>
        </p:nvSpPr>
        <p:spPr>
          <a:xfrm>
            <a:off x="731520" y="4892040"/>
            <a:ext cx="5120640" cy="502920"/>
          </a:xfrm>
          <a:prstGeom prst="rect">
            <a:avLst/>
          </a:prstGeom>
          <a:solidFill>
            <a:srgbClr val="FFFFFF"/>
          </a:solidFill>
          <a:ln w="12700">
            <a:solidFill>
              <a:srgbClr val="D9CBB9"/>
            </a:solidFill>
          </a:ln>
        </p:spPr>
        <p:txBody>
          <a:bodyPr wrap="square" lIns="1524" tIns="1524" rIns="1524" bIns="1524" rtlCol="0" anchor="ctr">
            <a:normAutofit/>
          </a:bodyPr>
          <a:lstStyle/>
          <a:p>
            <a:pPr marL="0" indent="0">
              <a:buNone/>
            </a:pPr>
            <a:r>
              <a:rPr lang="en-US" sz="1800" dirty="0">
                <a:solidFill>
                  <a:srgbClr val="0B1F3A"/>
                </a:solidFill>
                <a:latin typeface="Times New Roman" pitchFamily="34" charset="0"/>
                <a:ea typeface="Times New Roman" pitchFamily="34" charset="-122"/>
                <a:cs typeface="Times New Roman" pitchFamily="34" charset="-120"/>
              </a:rPr>
              <a:t> Class &amp; Section: </a:t>
            </a:r>
            <a:r>
              <a:rPr lang="en-US" dirty="0">
                <a:solidFill>
                  <a:srgbClr val="0B1F3A"/>
                </a:solidFill>
                <a:latin typeface="Times New Roman" pitchFamily="34" charset="0"/>
                <a:ea typeface="Times New Roman" pitchFamily="34" charset="-122"/>
                <a:cs typeface="Times New Roman" pitchFamily="34" charset="-120"/>
              </a:rPr>
              <a:t>IV IT / A</a:t>
            </a:r>
            <a:endParaRPr lang="en-US" sz="1800" dirty="0"/>
          </a:p>
        </p:txBody>
      </p:sp>
      <p:sp>
        <p:nvSpPr>
          <p:cNvPr id="26" name="Text 24"/>
          <p:cNvSpPr/>
          <p:nvPr/>
        </p:nvSpPr>
        <p:spPr>
          <a:xfrm>
            <a:off x="6263640" y="4892040"/>
            <a:ext cx="5120640" cy="502920"/>
          </a:xfrm>
          <a:prstGeom prst="rect">
            <a:avLst/>
          </a:prstGeom>
          <a:solidFill>
            <a:srgbClr val="FFFFFF"/>
          </a:solidFill>
          <a:ln w="12700">
            <a:solidFill>
              <a:srgbClr val="D9CBB9"/>
            </a:solidFill>
          </a:ln>
        </p:spPr>
        <p:txBody>
          <a:bodyPr wrap="square" lIns="1524" tIns="1524" rIns="1524" bIns="1524" rtlCol="0" anchor="ctr">
            <a:normAutofit/>
          </a:bodyPr>
          <a:lstStyle/>
          <a:p>
            <a:pPr marL="0" indent="0">
              <a:buNone/>
            </a:pPr>
            <a:r>
              <a:rPr lang="en-US" sz="1800" dirty="0">
                <a:solidFill>
                  <a:srgbClr val="0B1F3A"/>
                </a:solidFill>
                <a:latin typeface="Times New Roman" pitchFamily="34" charset="0"/>
                <a:ea typeface="Times New Roman" pitchFamily="34" charset="-122"/>
                <a:cs typeface="Times New Roman" pitchFamily="34" charset="-120"/>
              </a:rPr>
              <a:t> Contact No. / Email</a:t>
            </a:r>
            <a:r>
              <a:rPr lang="en-US" dirty="0">
                <a:solidFill>
                  <a:srgbClr val="0B1F3A"/>
                </a:solidFill>
                <a:latin typeface="Times New Roman" pitchFamily="34" charset="0"/>
                <a:ea typeface="Times New Roman" pitchFamily="34" charset="-122"/>
                <a:cs typeface="Times New Roman" pitchFamily="34" charset="-120"/>
              </a:rPr>
              <a:t> : </a:t>
            </a:r>
            <a:endParaRPr lang="en-US" sz="1800" dirty="0"/>
          </a:p>
        </p:txBody>
      </p:sp>
      <p:sp>
        <p:nvSpPr>
          <p:cNvPr id="27" name="Text 25"/>
          <p:cNvSpPr/>
          <p:nvPr/>
        </p:nvSpPr>
        <p:spPr>
          <a:xfrm>
            <a:off x="914400" y="5715000"/>
            <a:ext cx="10241280" cy="347472"/>
          </a:xfrm>
          <a:prstGeom prst="rect">
            <a:avLst/>
          </a:prstGeom>
          <a:noFill/>
          <a:ln/>
        </p:spPr>
        <p:txBody>
          <a:bodyPr wrap="square" lIns="1016" tIns="1016" rIns="1016" bIns="1016" rtlCol="0" anchor="ctr">
            <a:normAutofit/>
          </a:bodyPr>
          <a:lstStyle/>
          <a:p>
            <a:pPr marL="0" indent="0" algn="ctr">
              <a:buNone/>
            </a:pP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8B4513"/>
          </a:solidFill>
          <a:ln w="12700">
            <a:solidFill>
              <a:srgbClr val="8B4513">
                <a:alpha val="0"/>
              </a:srgbClr>
            </a:solidFill>
            <a:prstDash val="solid"/>
          </a:ln>
        </p:spPr>
      </p:sp>
      <p:sp>
        <p:nvSpPr>
          <p:cNvPr id="3" name="Text 1"/>
          <p:cNvSpPr/>
          <p:nvPr/>
        </p:nvSpPr>
        <p:spPr>
          <a:xfrm>
            <a:off x="502920" y="320040"/>
            <a:ext cx="7178040" cy="502920"/>
          </a:xfrm>
          <a:prstGeom prst="rect">
            <a:avLst/>
          </a:prstGeom>
          <a:noFill/>
          <a:ln/>
        </p:spPr>
        <p:txBody>
          <a:bodyPr wrap="square" lIns="0" tIns="0" rIns="0" bIns="0" rtlCol="0" anchor="ctr"/>
          <a:lstStyle/>
          <a:p>
            <a:pPr marL="0" indent="0">
              <a:buNone/>
            </a:pPr>
            <a:r>
              <a:rPr lang="en-US" sz="3000" b="1" dirty="0">
                <a:solidFill>
                  <a:srgbClr val="8B4513"/>
                </a:solidFill>
                <a:latin typeface="Times New Roman" pitchFamily="34" charset="0"/>
                <a:ea typeface="Times New Roman" pitchFamily="34" charset="-122"/>
                <a:cs typeface="Times New Roman" pitchFamily="34" charset="-120"/>
              </a:rPr>
              <a:t>Slide 2: Project Snapshot</a:t>
            </a:r>
            <a:endParaRPr lang="en-US" sz="3000" dirty="0"/>
          </a:p>
        </p:txBody>
      </p:sp>
      <p:sp>
        <p:nvSpPr>
          <p:cNvPr id="4" name="Shape 2"/>
          <p:cNvSpPr/>
          <p:nvPr/>
        </p:nvSpPr>
        <p:spPr>
          <a:xfrm>
            <a:off x="502920" y="886968"/>
            <a:ext cx="1554480" cy="0"/>
          </a:xfrm>
          <a:prstGeom prst="line">
            <a:avLst/>
          </a:prstGeom>
          <a:noFill/>
          <a:ln w="38100">
            <a:solidFill>
              <a:srgbClr val="D7A44A"/>
            </a:solidFill>
            <a:prstDash val="solid"/>
          </a:ln>
        </p:spPr>
      </p:sp>
      <p:sp>
        <p:nvSpPr>
          <p:cNvPr id="5" name="Text 3"/>
          <p:cNvSpPr/>
          <p:nvPr/>
        </p:nvSpPr>
        <p:spPr>
          <a:xfrm>
            <a:off x="8549640" y="393192"/>
            <a:ext cx="2743200" cy="320040"/>
          </a:xfrm>
          <a:prstGeom prst="rect">
            <a:avLst/>
          </a:prstGeom>
          <a:noFill/>
          <a:ln/>
        </p:spPr>
        <p:txBody>
          <a:bodyPr wrap="square" lIns="0" tIns="0" rIns="0" bIns="0" rtlCol="0" anchor="ctr"/>
          <a:lstStyle/>
          <a:p>
            <a:pPr marL="0" indent="0" algn="r">
              <a:buNone/>
            </a:pPr>
            <a:endParaRPr lang="en-US" sz="1300" dirty="0"/>
          </a:p>
        </p:txBody>
      </p:sp>
      <p:sp>
        <p:nvSpPr>
          <p:cNvPr id="6" name="Text 4"/>
          <p:cNvSpPr/>
          <p:nvPr/>
        </p:nvSpPr>
        <p:spPr>
          <a:xfrm>
            <a:off x="502920" y="6537960"/>
            <a:ext cx="4572000" cy="201168"/>
          </a:xfrm>
          <a:prstGeom prst="rect">
            <a:avLst/>
          </a:prstGeom>
          <a:noFill/>
          <a:ln/>
        </p:spPr>
        <p:txBody>
          <a:bodyPr wrap="square" lIns="0" tIns="0" rIns="0" bIns="0" rtlCol="0" anchor="ctr"/>
          <a:lstStyle/>
          <a:p>
            <a:pPr marL="0" indent="0">
              <a:buNone/>
            </a:pPr>
            <a:r>
              <a:rPr lang="en-US" sz="950" dirty="0">
                <a:solidFill>
                  <a:srgbClr val="5D6571"/>
                </a:solidFill>
                <a:latin typeface="Times New Roman" pitchFamily="34" charset="0"/>
                <a:ea typeface="Times New Roman" pitchFamily="34" charset="-122"/>
                <a:cs typeface="Times New Roman" pitchFamily="34" charset="-120"/>
              </a:rPr>
              <a:t>Final Year Project 0th Review | 3</a:t>
            </a:r>
            <a:endParaRPr lang="en-US" sz="950" dirty="0"/>
          </a:p>
        </p:txBody>
      </p:sp>
      <p:sp>
        <p:nvSpPr>
          <p:cNvPr id="7" name="Text 5"/>
          <p:cNvSpPr/>
          <p:nvPr/>
        </p:nvSpPr>
        <p:spPr>
          <a:xfrm>
            <a:off x="7498080" y="6537960"/>
            <a:ext cx="4206240" cy="201168"/>
          </a:xfrm>
          <a:prstGeom prst="rect">
            <a:avLst/>
          </a:prstGeom>
          <a:noFill/>
          <a:ln/>
        </p:spPr>
        <p:txBody>
          <a:bodyPr wrap="square" lIns="0" tIns="0" rIns="0" bIns="0" rtlCol="0" anchor="ctr"/>
          <a:lstStyle/>
          <a:p>
            <a:pPr marL="0" indent="0" algn="r">
              <a:buNone/>
            </a:pPr>
            <a:r>
              <a:rPr lang="en-US" sz="950" dirty="0">
                <a:solidFill>
                  <a:srgbClr val="5D6571"/>
                </a:solidFill>
                <a:latin typeface="Times New Roman" pitchFamily="34" charset="0"/>
                <a:ea typeface="Times New Roman" pitchFamily="34" charset="-122"/>
                <a:cs typeface="Times New Roman" pitchFamily="34" charset="-120"/>
              </a:rPr>
              <a:t>Department of Information Technology</a:t>
            </a:r>
            <a:endParaRPr lang="en-US" sz="950" dirty="0"/>
          </a:p>
        </p:txBody>
      </p:sp>
      <p:sp>
        <p:nvSpPr>
          <p:cNvPr id="8" name="Text 6"/>
          <p:cNvSpPr/>
          <p:nvPr/>
        </p:nvSpPr>
        <p:spPr>
          <a:xfrm>
            <a:off x="731520" y="1234440"/>
            <a:ext cx="10744200" cy="777240"/>
          </a:xfrm>
          <a:prstGeom prst="rect">
            <a:avLst/>
          </a:prstGeom>
          <a:solidFill>
            <a:srgbClr val="FFFDF8"/>
          </a:solidFill>
          <a:ln w="15240">
            <a:solidFill>
              <a:srgbClr val="D7A44A"/>
            </a:solidFill>
          </a:ln>
        </p:spPr>
        <p:txBody>
          <a:bodyPr wrap="square" lIns="1524" tIns="1524" rIns="1524" bIns="1524" rtlCol="0" anchor="ctr">
            <a:normAutofit fontScale="85000" lnSpcReduction="10000"/>
          </a:bodyPr>
          <a:lstStyle/>
          <a:p>
            <a:pPr marL="0" indent="0">
              <a:buNone/>
            </a:pPr>
            <a:r>
              <a:rPr lang="en-US" sz="2300" b="1" dirty="0">
                <a:solidFill>
                  <a:srgbClr val="0B1F3A"/>
                </a:solidFill>
                <a:latin typeface="Times New Roman" pitchFamily="34" charset="0"/>
                <a:ea typeface="Times New Roman" pitchFamily="34" charset="-122"/>
                <a:cs typeface="Times New Roman" pitchFamily="34" charset="-120"/>
              </a:rPr>
              <a:t> Project Title</a:t>
            </a:r>
            <a:endParaRPr lang="en-US" sz="2300" dirty="0"/>
          </a:p>
          <a:p>
            <a:r>
              <a:rPr lang="en-US" sz="2300" b="1" dirty="0">
                <a:solidFill>
                  <a:srgbClr val="0B1F3A"/>
                </a:solidFill>
                <a:latin typeface="Times New Roman" pitchFamily="34" charset="0"/>
                <a:cs typeface="Times New Roman" pitchFamily="34" charset="-120"/>
              </a:rPr>
              <a:t> </a:t>
            </a:r>
            <a:r>
              <a:rPr lang="en-IN" sz="2400" dirty="0" err="1"/>
              <a:t>NeuroNet</a:t>
            </a:r>
            <a:r>
              <a:rPr lang="en-IN" sz="2400" dirty="0"/>
              <a:t>: GPU-Accelerated Reinforcement Learning-Based Self-Healing Network Intelligence System</a:t>
            </a:r>
            <a:endParaRPr lang="en-US" sz="2300" dirty="0"/>
          </a:p>
        </p:txBody>
      </p:sp>
      <p:sp>
        <p:nvSpPr>
          <p:cNvPr id="9" name="Text 7"/>
          <p:cNvSpPr/>
          <p:nvPr/>
        </p:nvSpPr>
        <p:spPr>
          <a:xfrm>
            <a:off x="716280" y="2267711"/>
            <a:ext cx="4938562" cy="1718751"/>
          </a:xfrm>
          <a:prstGeom prst="rect">
            <a:avLst/>
          </a:prstGeom>
          <a:solidFill>
            <a:srgbClr val="FFFFFF"/>
          </a:solidFill>
          <a:ln w="12700">
            <a:solidFill>
              <a:srgbClr val="D9CBB9"/>
            </a:solidFill>
          </a:ln>
        </p:spPr>
        <p:txBody>
          <a:bodyPr wrap="square" lIns="1524" tIns="1524" rIns="1524" bIns="1524" rtlCol="0" anchor="ctr">
            <a:normAutofit/>
          </a:bodyPr>
          <a:lstStyle/>
          <a:p>
            <a:r>
              <a:rPr lang="en-US" sz="1900" b="1" dirty="0">
                <a:solidFill>
                  <a:srgbClr val="0B1F3A"/>
                </a:solidFill>
                <a:latin typeface="Times New Roman" pitchFamily="34" charset="0"/>
                <a:ea typeface="Times New Roman" pitchFamily="34" charset="-122"/>
                <a:cs typeface="Times New Roman" pitchFamily="34" charset="-120"/>
              </a:rPr>
              <a:t>Project Domain</a:t>
            </a:r>
            <a:br>
              <a:rPr lang="en-US" sz="1900" dirty="0">
                <a:solidFill>
                  <a:srgbClr val="0B1F3A"/>
                </a:solidFill>
                <a:latin typeface="Times New Roman" pitchFamily="34" charset="0"/>
                <a:ea typeface="Times New Roman" pitchFamily="34" charset="-122"/>
                <a:cs typeface="Times New Roman" pitchFamily="34" charset="-120"/>
              </a:rPr>
            </a:br>
            <a:r>
              <a:rPr lang="en-IN" dirty="0"/>
              <a:t>AIOps (Artificial Intelligence for IT Operations),   Artificial Intelligence (AI), Machine Learning (ML), Reinforcement Learning (RL), Network Automation, Cloud Computing</a:t>
            </a:r>
            <a:endParaRPr lang="en-US" sz="1900" dirty="0"/>
          </a:p>
        </p:txBody>
      </p:sp>
      <p:sp>
        <p:nvSpPr>
          <p:cNvPr id="10" name="Text 8"/>
          <p:cNvSpPr/>
          <p:nvPr/>
        </p:nvSpPr>
        <p:spPr>
          <a:xfrm>
            <a:off x="6160168" y="2267712"/>
            <a:ext cx="5315552" cy="1718750"/>
          </a:xfrm>
          <a:prstGeom prst="rect">
            <a:avLst/>
          </a:prstGeom>
          <a:solidFill>
            <a:srgbClr val="FFFFFF"/>
          </a:solidFill>
          <a:ln w="12700">
            <a:solidFill>
              <a:srgbClr val="D9CBB9"/>
            </a:solidFill>
          </a:ln>
        </p:spPr>
        <p:txBody>
          <a:bodyPr wrap="square" lIns="1524" tIns="1524" rIns="1524" bIns="1524" rtlCol="0" anchor="ctr">
            <a:normAutofit fontScale="85000" lnSpcReduction="20000"/>
          </a:bodyPr>
          <a:lstStyle/>
          <a:p>
            <a:r>
              <a:rPr lang="en-US" sz="1900" b="1" dirty="0">
                <a:solidFill>
                  <a:srgbClr val="0B1F3A"/>
                </a:solidFill>
                <a:latin typeface="Times New Roman" pitchFamily="34" charset="0"/>
                <a:ea typeface="Times New Roman" pitchFamily="34" charset="-122"/>
                <a:cs typeface="Times New Roman" pitchFamily="34" charset="-120"/>
              </a:rPr>
              <a:t>Problem Area</a:t>
            </a:r>
            <a:br>
              <a:rPr lang="en-US" sz="1900" b="1" dirty="0">
                <a:solidFill>
                  <a:srgbClr val="0B1F3A"/>
                </a:solidFill>
                <a:latin typeface="Times New Roman" pitchFamily="34" charset="0"/>
                <a:ea typeface="Times New Roman" pitchFamily="34" charset="-122"/>
                <a:cs typeface="Times New Roman" pitchFamily="34" charset="-120"/>
              </a:rPr>
            </a:br>
            <a:r>
              <a:rPr lang="en-IN" sz="2000" dirty="0"/>
              <a:t>Modern networks rely on manual monitoring and static rule-based </a:t>
            </a:r>
            <a:r>
              <a:rPr lang="en-IN" sz="2000" dirty="0" err="1"/>
              <a:t>management.This</a:t>
            </a:r>
            <a:r>
              <a:rPr lang="en-IN" sz="2000" dirty="0"/>
              <a:t> causes delayed fault detection, increased downtime, and SLA </a:t>
            </a:r>
            <a:r>
              <a:rPr lang="en-IN" sz="2000" dirty="0" err="1"/>
              <a:t>violations.Growing</a:t>
            </a:r>
            <a:r>
              <a:rPr lang="en-IN" sz="2000" dirty="0"/>
              <a:t> network complexity makes manual operations inefficient and error-</a:t>
            </a:r>
            <a:r>
              <a:rPr lang="en-IN" sz="2000" dirty="0" err="1"/>
              <a:t>prone.Resource</a:t>
            </a:r>
            <a:r>
              <a:rPr lang="en-IN" sz="2000" dirty="0"/>
              <a:t> utilization and network performance are often </a:t>
            </a:r>
            <a:r>
              <a:rPr lang="en-IN" sz="2000" dirty="0" err="1"/>
              <a:t>suboptimal.An</a:t>
            </a:r>
            <a:r>
              <a:rPr lang="en-IN" sz="2000" dirty="0"/>
              <a:t> intelligent, automated solution is needed for real-time network management.</a:t>
            </a:r>
            <a:endParaRPr lang="en-US" sz="1900" b="1" dirty="0"/>
          </a:p>
        </p:txBody>
      </p:sp>
      <p:sp>
        <p:nvSpPr>
          <p:cNvPr id="11" name="Text 9"/>
          <p:cNvSpPr/>
          <p:nvPr/>
        </p:nvSpPr>
        <p:spPr>
          <a:xfrm>
            <a:off x="603183" y="4395537"/>
            <a:ext cx="5051659" cy="1973180"/>
          </a:xfrm>
          <a:prstGeom prst="rect">
            <a:avLst/>
          </a:prstGeom>
          <a:solidFill>
            <a:srgbClr val="FFFFFF"/>
          </a:solidFill>
          <a:ln w="12700">
            <a:solidFill>
              <a:srgbClr val="D9CBB9"/>
            </a:solidFill>
          </a:ln>
        </p:spPr>
        <p:txBody>
          <a:bodyPr wrap="square" lIns="1524" tIns="1524" rIns="1524" bIns="1524" rtlCol="0" anchor="ctr">
            <a:normAutofit/>
          </a:bodyPr>
          <a:lstStyle/>
          <a:p>
            <a:pPr marL="0" indent="0">
              <a:buNone/>
            </a:pPr>
            <a:r>
              <a:rPr lang="en-US" sz="1900" b="1" dirty="0">
                <a:solidFill>
                  <a:srgbClr val="0B1F3A"/>
                </a:solidFill>
                <a:latin typeface="Times New Roman" pitchFamily="34" charset="0"/>
                <a:ea typeface="Times New Roman" pitchFamily="34" charset="-122"/>
                <a:cs typeface="Times New Roman" pitchFamily="34" charset="-120"/>
              </a:rPr>
              <a:t>Proposed Solution</a:t>
            </a:r>
            <a:endParaRPr lang="en-US" sz="1900" b="1" dirty="0"/>
          </a:p>
          <a:p>
            <a:r>
              <a:rPr lang="en-IN" sz="2000" dirty="0"/>
              <a:t>Develop an AI-powered AIOps platform that automates network monitoring, anomaly detection, and self-healing using Reinforcement Learning.</a:t>
            </a:r>
            <a:endParaRPr lang="en-US" sz="1900" dirty="0"/>
          </a:p>
        </p:txBody>
      </p:sp>
      <p:sp>
        <p:nvSpPr>
          <p:cNvPr id="12" name="Text 10"/>
          <p:cNvSpPr/>
          <p:nvPr/>
        </p:nvSpPr>
        <p:spPr>
          <a:xfrm>
            <a:off x="6160168" y="4362650"/>
            <a:ext cx="5315552" cy="1973180"/>
          </a:xfrm>
          <a:prstGeom prst="rect">
            <a:avLst/>
          </a:prstGeom>
          <a:solidFill>
            <a:srgbClr val="FFFFFF"/>
          </a:solidFill>
          <a:ln w="12700">
            <a:solidFill>
              <a:srgbClr val="D9CBB9"/>
            </a:solidFill>
          </a:ln>
        </p:spPr>
        <p:txBody>
          <a:bodyPr wrap="square" lIns="1524" tIns="1524" rIns="1524" bIns="1524" rtlCol="0" anchor="ctr">
            <a:normAutofit/>
          </a:bodyPr>
          <a:lstStyle/>
          <a:p>
            <a:r>
              <a:rPr lang="en-US" sz="1900" b="1" dirty="0">
                <a:solidFill>
                  <a:srgbClr val="0B1F3A"/>
                </a:solidFill>
                <a:latin typeface="Times New Roman" pitchFamily="34" charset="0"/>
                <a:ea typeface="Times New Roman" pitchFamily="34" charset="-122"/>
                <a:cs typeface="Times New Roman" pitchFamily="34" charset="-120"/>
              </a:rPr>
              <a:t>Expected Outcome</a:t>
            </a:r>
          </a:p>
          <a:p>
            <a:r>
              <a:rPr lang="en-IN" sz="2000" dirty="0"/>
              <a:t>An AI-powered AIOps prototype featuring an intelligent monitoring dashboard, reinforcement learning-based self-healing network automation, and a comprehensive technical report with performance evaluation.</a:t>
            </a:r>
            <a:endParaRPr lang="en-US" sz="19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8B4513"/>
          </a:solidFill>
          <a:ln w="12700">
            <a:solidFill>
              <a:srgbClr val="8B4513">
                <a:alpha val="0"/>
              </a:srgbClr>
            </a:solidFill>
            <a:prstDash val="solid"/>
          </a:ln>
        </p:spPr>
      </p:sp>
      <p:sp>
        <p:nvSpPr>
          <p:cNvPr id="3" name="Text 1"/>
          <p:cNvSpPr/>
          <p:nvPr/>
        </p:nvSpPr>
        <p:spPr>
          <a:xfrm>
            <a:off x="502920" y="320040"/>
            <a:ext cx="7178040" cy="502920"/>
          </a:xfrm>
          <a:prstGeom prst="rect">
            <a:avLst/>
          </a:prstGeom>
          <a:noFill/>
          <a:ln/>
        </p:spPr>
        <p:txBody>
          <a:bodyPr wrap="square" lIns="0" tIns="0" rIns="0" bIns="0" rtlCol="0" anchor="ctr"/>
          <a:lstStyle/>
          <a:p>
            <a:pPr marL="0" indent="0">
              <a:buNone/>
            </a:pPr>
            <a:r>
              <a:rPr lang="en-US" sz="3000" b="1" dirty="0">
                <a:solidFill>
                  <a:srgbClr val="8B4513"/>
                </a:solidFill>
                <a:latin typeface="Times New Roman" pitchFamily="34" charset="0"/>
                <a:ea typeface="Times New Roman" pitchFamily="34" charset="-122"/>
                <a:cs typeface="Times New Roman" pitchFamily="34" charset="-120"/>
              </a:rPr>
              <a:t>Slide 3: Project Domain and SDG Relevance</a:t>
            </a:r>
            <a:endParaRPr lang="en-US" sz="3000" dirty="0"/>
          </a:p>
        </p:txBody>
      </p:sp>
      <p:sp>
        <p:nvSpPr>
          <p:cNvPr id="5" name="Text 3"/>
          <p:cNvSpPr/>
          <p:nvPr/>
        </p:nvSpPr>
        <p:spPr>
          <a:xfrm>
            <a:off x="8549640" y="393192"/>
            <a:ext cx="2743200" cy="320040"/>
          </a:xfrm>
          <a:prstGeom prst="rect">
            <a:avLst/>
          </a:prstGeom>
          <a:noFill/>
          <a:ln/>
        </p:spPr>
        <p:txBody>
          <a:bodyPr wrap="square" lIns="0" tIns="0" rIns="0" bIns="0" rtlCol="0" anchor="ctr"/>
          <a:lstStyle/>
          <a:p>
            <a:pPr marL="0" indent="0" algn="r">
              <a:buNone/>
            </a:pPr>
            <a:endParaRPr lang="en-US" sz="1300" dirty="0"/>
          </a:p>
        </p:txBody>
      </p:sp>
      <p:sp>
        <p:nvSpPr>
          <p:cNvPr id="6" name="Text 4"/>
          <p:cNvSpPr/>
          <p:nvPr/>
        </p:nvSpPr>
        <p:spPr>
          <a:xfrm>
            <a:off x="502920" y="6537960"/>
            <a:ext cx="4572000" cy="201168"/>
          </a:xfrm>
          <a:prstGeom prst="rect">
            <a:avLst/>
          </a:prstGeom>
          <a:noFill/>
          <a:ln/>
        </p:spPr>
        <p:txBody>
          <a:bodyPr wrap="square" lIns="0" tIns="0" rIns="0" bIns="0" rtlCol="0" anchor="ctr"/>
          <a:lstStyle/>
          <a:p>
            <a:pPr marL="0" indent="0">
              <a:buNone/>
            </a:pPr>
            <a:r>
              <a:rPr lang="en-US" sz="950" dirty="0">
                <a:solidFill>
                  <a:srgbClr val="5D6571"/>
                </a:solidFill>
                <a:latin typeface="Times New Roman" pitchFamily="34" charset="0"/>
                <a:ea typeface="Times New Roman" pitchFamily="34" charset="-122"/>
                <a:cs typeface="Times New Roman" pitchFamily="34" charset="-120"/>
              </a:rPr>
              <a:t>Final Year Project 0th Review | 4</a:t>
            </a:r>
            <a:endParaRPr lang="en-US" sz="950" dirty="0"/>
          </a:p>
        </p:txBody>
      </p:sp>
      <p:sp>
        <p:nvSpPr>
          <p:cNvPr id="7" name="Text 5"/>
          <p:cNvSpPr/>
          <p:nvPr/>
        </p:nvSpPr>
        <p:spPr>
          <a:xfrm>
            <a:off x="7498080" y="6537960"/>
            <a:ext cx="4206240" cy="201168"/>
          </a:xfrm>
          <a:prstGeom prst="rect">
            <a:avLst/>
          </a:prstGeom>
          <a:noFill/>
          <a:ln/>
        </p:spPr>
        <p:txBody>
          <a:bodyPr wrap="square" lIns="0" tIns="0" rIns="0" bIns="0" rtlCol="0" anchor="ctr"/>
          <a:lstStyle/>
          <a:p>
            <a:pPr marL="0" indent="0" algn="r">
              <a:buNone/>
            </a:pPr>
            <a:r>
              <a:rPr lang="en-US" sz="950" dirty="0">
                <a:solidFill>
                  <a:srgbClr val="5D6571"/>
                </a:solidFill>
                <a:latin typeface="Times New Roman" pitchFamily="34" charset="0"/>
                <a:ea typeface="Times New Roman" pitchFamily="34" charset="-122"/>
                <a:cs typeface="Times New Roman" pitchFamily="34" charset="-120"/>
              </a:rPr>
              <a:t>Department of Information Technology</a:t>
            </a:r>
            <a:endParaRPr lang="en-US" sz="950" dirty="0"/>
          </a:p>
        </p:txBody>
      </p:sp>
      <p:sp>
        <p:nvSpPr>
          <p:cNvPr id="8" name="Text 6"/>
          <p:cNvSpPr/>
          <p:nvPr/>
        </p:nvSpPr>
        <p:spPr>
          <a:xfrm>
            <a:off x="731520" y="1633728"/>
            <a:ext cx="3657600" cy="868680"/>
          </a:xfrm>
          <a:prstGeom prst="rect">
            <a:avLst/>
          </a:prstGeom>
          <a:solidFill>
            <a:srgbClr val="EAF2F8"/>
          </a:solidFill>
          <a:ln w="12700">
            <a:solidFill>
              <a:srgbClr val="D9CBB9"/>
            </a:solidFill>
          </a:ln>
        </p:spPr>
        <p:txBody>
          <a:bodyPr wrap="square" lIns="1524" tIns="1524" rIns="1524" bIns="1524" rtlCol="0" anchor="ctr">
            <a:normAutofit/>
          </a:bodyPr>
          <a:lstStyle/>
          <a:p>
            <a:r>
              <a:rPr lang="en-IN" sz="1900" dirty="0">
                <a:solidFill>
                  <a:schemeClr val="tx2">
                    <a:lumMod val="50000"/>
                  </a:schemeClr>
                </a:solidFill>
              </a:rPr>
              <a:t>AIOps (Artificial Intelligence for IT Operations)</a:t>
            </a:r>
            <a:endParaRPr lang="en-US" sz="2100" dirty="0">
              <a:solidFill>
                <a:schemeClr val="tx2">
                  <a:lumMod val="50000"/>
                </a:schemeClr>
              </a:solidFill>
            </a:endParaRPr>
          </a:p>
        </p:txBody>
      </p:sp>
      <p:sp>
        <p:nvSpPr>
          <p:cNvPr id="9" name="Text 7"/>
          <p:cNvSpPr/>
          <p:nvPr/>
        </p:nvSpPr>
        <p:spPr>
          <a:xfrm>
            <a:off x="4526280" y="1633728"/>
            <a:ext cx="6949440" cy="868680"/>
          </a:xfrm>
          <a:prstGeom prst="rect">
            <a:avLst/>
          </a:prstGeom>
          <a:solidFill>
            <a:srgbClr val="FFFFFF"/>
          </a:solidFill>
          <a:ln w="12700">
            <a:solidFill>
              <a:srgbClr val="D9CBB9"/>
            </a:solidFill>
          </a:ln>
        </p:spPr>
        <p:txBody>
          <a:bodyPr wrap="square" lIns="1524" tIns="1524" rIns="1524" bIns="1524" rtlCol="0" anchor="ctr">
            <a:normAutofit/>
          </a:bodyPr>
          <a:lstStyle/>
          <a:p>
            <a:pPr algn="ctr"/>
            <a:r>
              <a:rPr lang="en-IN" sz="2000" dirty="0"/>
              <a:t>AI-Driven Network Automation &amp; Self-Healing Networks</a:t>
            </a:r>
            <a:endParaRPr lang="en-US" sz="2000" dirty="0"/>
          </a:p>
        </p:txBody>
      </p:sp>
      <p:sp>
        <p:nvSpPr>
          <p:cNvPr id="10" name="Text 8"/>
          <p:cNvSpPr/>
          <p:nvPr/>
        </p:nvSpPr>
        <p:spPr>
          <a:xfrm>
            <a:off x="731520" y="2822448"/>
            <a:ext cx="2743200" cy="512064"/>
          </a:xfrm>
          <a:prstGeom prst="rect">
            <a:avLst/>
          </a:prstGeom>
          <a:solidFill>
            <a:srgbClr val="8B4513"/>
          </a:solidFill>
          <a:ln w="10160">
            <a:solidFill>
              <a:srgbClr val="D9CBB9"/>
            </a:solidFill>
          </a:ln>
        </p:spPr>
        <p:txBody>
          <a:bodyPr wrap="square" lIns="762" tIns="762" rIns="762" bIns="762" rtlCol="0" anchor="ctr">
            <a:normAutofit/>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SDG Goal</a:t>
            </a:r>
            <a:endParaRPr lang="en-US" sz="1500" dirty="0"/>
          </a:p>
        </p:txBody>
      </p:sp>
      <p:sp>
        <p:nvSpPr>
          <p:cNvPr id="11" name="Text 9"/>
          <p:cNvSpPr/>
          <p:nvPr/>
        </p:nvSpPr>
        <p:spPr>
          <a:xfrm>
            <a:off x="3474720" y="2822448"/>
            <a:ext cx="8001000" cy="512064"/>
          </a:xfrm>
          <a:prstGeom prst="rect">
            <a:avLst/>
          </a:prstGeom>
          <a:solidFill>
            <a:srgbClr val="8B4513"/>
          </a:solidFill>
          <a:ln w="10160">
            <a:solidFill>
              <a:srgbClr val="D9CBB9"/>
            </a:solidFill>
          </a:ln>
        </p:spPr>
        <p:txBody>
          <a:bodyPr wrap="square" lIns="762" tIns="762" rIns="762" bIns="762" rtlCol="0" anchor="ctr">
            <a:normAutofit/>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How project supports it</a:t>
            </a:r>
            <a:endParaRPr lang="en-US" sz="1500" dirty="0"/>
          </a:p>
        </p:txBody>
      </p:sp>
      <p:sp>
        <p:nvSpPr>
          <p:cNvPr id="12" name="Text 10"/>
          <p:cNvSpPr/>
          <p:nvPr/>
        </p:nvSpPr>
        <p:spPr>
          <a:xfrm>
            <a:off x="731520" y="3334512"/>
            <a:ext cx="2743200" cy="512064"/>
          </a:xfrm>
          <a:prstGeom prst="rect">
            <a:avLst/>
          </a:prstGeom>
          <a:solidFill>
            <a:srgbClr val="FFFFFF"/>
          </a:solidFill>
          <a:ln w="10160">
            <a:solidFill>
              <a:srgbClr val="D9CBB9"/>
            </a:solidFill>
          </a:ln>
        </p:spPr>
        <p:txBody>
          <a:bodyPr wrap="square" lIns="762" tIns="762" rIns="762" bIns="762" rtlCol="0" anchor="ctr">
            <a:normAutofit/>
          </a:bodyPr>
          <a:lstStyle/>
          <a:p>
            <a:r>
              <a:rPr lang="en-US" sz="1500" dirty="0">
                <a:solidFill>
                  <a:srgbClr val="0B1F3A"/>
                </a:solidFill>
                <a:latin typeface="Times New Roman" pitchFamily="34" charset="0"/>
                <a:ea typeface="Times New Roman" pitchFamily="34" charset="-122"/>
                <a:cs typeface="Times New Roman" pitchFamily="34" charset="-120"/>
              </a:rPr>
              <a:t>SDG 9 : </a:t>
            </a:r>
            <a:r>
              <a:rPr lang="en-IN" sz="1600" dirty="0"/>
              <a:t>Industry, Innovation and Infrastructure</a:t>
            </a:r>
            <a:endParaRPr lang="en-US" sz="1500" dirty="0"/>
          </a:p>
        </p:txBody>
      </p:sp>
      <p:sp>
        <p:nvSpPr>
          <p:cNvPr id="13" name="Text 11"/>
          <p:cNvSpPr/>
          <p:nvPr/>
        </p:nvSpPr>
        <p:spPr>
          <a:xfrm>
            <a:off x="3474720" y="3334512"/>
            <a:ext cx="8001000" cy="512064"/>
          </a:xfrm>
          <a:prstGeom prst="rect">
            <a:avLst/>
          </a:prstGeom>
          <a:solidFill>
            <a:srgbClr val="FFFFFF"/>
          </a:solidFill>
          <a:ln w="10160">
            <a:solidFill>
              <a:srgbClr val="D9CBB9"/>
            </a:solidFill>
          </a:ln>
        </p:spPr>
        <p:txBody>
          <a:bodyPr wrap="square" lIns="762" tIns="762" rIns="762" bIns="762" rtlCol="0" anchor="ctr">
            <a:normAutofit/>
          </a:bodyPr>
          <a:lstStyle/>
          <a:p>
            <a:r>
              <a:rPr lang="en-IN" sz="1600" dirty="0"/>
              <a:t> Improves network reliability through AI-powered monitoring, anomaly detection, and automated   recovery.</a:t>
            </a:r>
            <a:endParaRPr lang="en-US" sz="1500" dirty="0"/>
          </a:p>
        </p:txBody>
      </p:sp>
      <p:sp>
        <p:nvSpPr>
          <p:cNvPr id="14" name="Text 12"/>
          <p:cNvSpPr/>
          <p:nvPr/>
        </p:nvSpPr>
        <p:spPr>
          <a:xfrm>
            <a:off x="731520" y="3846576"/>
            <a:ext cx="274320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l">
              <a:buNone/>
            </a:pPr>
            <a:r>
              <a:rPr lang="en-US" sz="1500" dirty="0">
                <a:solidFill>
                  <a:srgbClr val="0B1F3A"/>
                </a:solidFill>
                <a:latin typeface="Times New Roman" pitchFamily="34" charset="0"/>
                <a:ea typeface="Times New Roman" pitchFamily="34" charset="-122"/>
                <a:cs typeface="Times New Roman" pitchFamily="34" charset="-120"/>
              </a:rPr>
              <a:t>Target Users</a:t>
            </a:r>
            <a:endParaRPr lang="en-US" sz="1500" dirty="0"/>
          </a:p>
        </p:txBody>
      </p:sp>
      <p:sp>
        <p:nvSpPr>
          <p:cNvPr id="15" name="Text 13"/>
          <p:cNvSpPr/>
          <p:nvPr/>
        </p:nvSpPr>
        <p:spPr>
          <a:xfrm>
            <a:off x="3474720" y="3846576"/>
            <a:ext cx="8001000" cy="512064"/>
          </a:xfrm>
          <a:prstGeom prst="rect">
            <a:avLst/>
          </a:prstGeom>
          <a:solidFill>
            <a:srgbClr val="FFFFFF"/>
          </a:solidFill>
          <a:ln w="10160">
            <a:solidFill>
              <a:srgbClr val="D9CBB9"/>
            </a:solidFill>
          </a:ln>
        </p:spPr>
        <p:txBody>
          <a:bodyPr wrap="square" lIns="762" tIns="762" rIns="762" bIns="762" rtlCol="0" anchor="ctr">
            <a:normAutofit/>
          </a:bodyPr>
          <a:lstStyle/>
          <a:p>
            <a:r>
              <a:rPr lang="en-IN" sz="1600" dirty="0"/>
              <a:t>Telecom Providers, Enterprise IT Teams, Cloud Service Providers, NOC Engineers</a:t>
            </a:r>
            <a:endParaRPr lang="en-US" sz="1500" dirty="0"/>
          </a:p>
        </p:txBody>
      </p:sp>
      <p:sp>
        <p:nvSpPr>
          <p:cNvPr id="16" name="Text 14"/>
          <p:cNvSpPr/>
          <p:nvPr/>
        </p:nvSpPr>
        <p:spPr>
          <a:xfrm>
            <a:off x="731520" y="4358640"/>
            <a:ext cx="274320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l">
              <a:buNone/>
            </a:pPr>
            <a:r>
              <a:rPr lang="en-US" sz="1500" dirty="0">
                <a:solidFill>
                  <a:srgbClr val="0B1F3A"/>
                </a:solidFill>
                <a:latin typeface="Times New Roman" pitchFamily="34" charset="0"/>
                <a:ea typeface="Times New Roman" pitchFamily="34" charset="-122"/>
                <a:cs typeface="Times New Roman" pitchFamily="34" charset="-120"/>
              </a:rPr>
              <a:t>Beneficiaries</a:t>
            </a:r>
            <a:endParaRPr lang="en-US" sz="1500" dirty="0"/>
          </a:p>
        </p:txBody>
      </p:sp>
      <p:sp>
        <p:nvSpPr>
          <p:cNvPr id="17" name="Text 15"/>
          <p:cNvSpPr/>
          <p:nvPr/>
        </p:nvSpPr>
        <p:spPr>
          <a:xfrm>
            <a:off x="3474720" y="4358640"/>
            <a:ext cx="8001000" cy="512064"/>
          </a:xfrm>
          <a:prstGeom prst="rect">
            <a:avLst/>
          </a:prstGeom>
          <a:solidFill>
            <a:srgbClr val="FFFFFF"/>
          </a:solidFill>
          <a:ln w="10160">
            <a:solidFill>
              <a:srgbClr val="D9CBB9"/>
            </a:solidFill>
          </a:ln>
        </p:spPr>
        <p:txBody>
          <a:bodyPr wrap="square" lIns="762" tIns="762" rIns="762" bIns="762" rtlCol="0" anchor="ctr">
            <a:normAutofit/>
          </a:bodyPr>
          <a:lstStyle/>
          <a:p>
            <a:r>
              <a:rPr lang="en-US" sz="1500" dirty="0">
                <a:solidFill>
                  <a:srgbClr val="0B1F3A"/>
                </a:solidFill>
                <a:latin typeface="Times New Roman" pitchFamily="34" charset="0"/>
                <a:ea typeface="Times New Roman" pitchFamily="34" charset="-122"/>
                <a:cs typeface="Times New Roman" pitchFamily="34" charset="-120"/>
              </a:rPr>
              <a:t> </a:t>
            </a:r>
            <a:r>
              <a:rPr lang="en-IN" sz="1600" dirty="0"/>
              <a:t>Organizations and end users through reduced downtime, improved network performance, and lower operational costs.</a:t>
            </a:r>
            <a:endParaRPr lang="en-US" sz="1500" dirty="0"/>
          </a:p>
        </p:txBody>
      </p:sp>
      <p:sp>
        <p:nvSpPr>
          <p:cNvPr id="18" name="Text 16"/>
          <p:cNvSpPr/>
          <p:nvPr/>
        </p:nvSpPr>
        <p:spPr>
          <a:xfrm>
            <a:off x="731520" y="4870704"/>
            <a:ext cx="2743200" cy="512064"/>
          </a:xfrm>
          <a:prstGeom prst="rect">
            <a:avLst/>
          </a:prstGeom>
          <a:solidFill>
            <a:srgbClr val="FFFFFF"/>
          </a:solidFill>
          <a:ln w="10160">
            <a:solidFill>
              <a:srgbClr val="D9CBB9"/>
            </a:solidFill>
          </a:ln>
        </p:spPr>
        <p:txBody>
          <a:bodyPr wrap="square" lIns="762" tIns="762" rIns="762" bIns="762" rtlCol="0" anchor="ctr">
            <a:normAutofit/>
          </a:bodyPr>
          <a:lstStyle/>
          <a:p>
            <a:pPr marL="0" indent="0" algn="l">
              <a:buNone/>
            </a:pPr>
            <a:r>
              <a:rPr lang="en-US" sz="1500" dirty="0">
                <a:solidFill>
                  <a:srgbClr val="0B1F3A"/>
                </a:solidFill>
                <a:latin typeface="Times New Roman" pitchFamily="34" charset="0"/>
                <a:ea typeface="Times New Roman" pitchFamily="34" charset="-122"/>
                <a:cs typeface="Times New Roman" pitchFamily="34" charset="-120"/>
              </a:rPr>
              <a:t>Justification</a:t>
            </a:r>
            <a:endParaRPr lang="en-US" sz="1500" dirty="0"/>
          </a:p>
        </p:txBody>
      </p:sp>
      <p:sp>
        <p:nvSpPr>
          <p:cNvPr id="19" name="Text 17"/>
          <p:cNvSpPr/>
          <p:nvPr/>
        </p:nvSpPr>
        <p:spPr>
          <a:xfrm>
            <a:off x="3474720" y="4870704"/>
            <a:ext cx="8001000" cy="512064"/>
          </a:xfrm>
          <a:prstGeom prst="rect">
            <a:avLst/>
          </a:prstGeom>
          <a:solidFill>
            <a:srgbClr val="FFFFFF"/>
          </a:solidFill>
          <a:ln w="10160">
            <a:solidFill>
              <a:srgbClr val="D9CBB9"/>
            </a:solidFill>
          </a:ln>
        </p:spPr>
        <p:txBody>
          <a:bodyPr wrap="square" lIns="762" tIns="762" rIns="762" bIns="762" rtlCol="0" anchor="ctr">
            <a:normAutofit/>
          </a:bodyPr>
          <a:lstStyle/>
          <a:p>
            <a:r>
              <a:rPr lang="en-US" sz="1500" dirty="0">
                <a:solidFill>
                  <a:srgbClr val="0B1F3A"/>
                </a:solidFill>
                <a:latin typeface="Times New Roman" pitchFamily="34" charset="0"/>
                <a:cs typeface="Times New Roman" pitchFamily="34" charset="-120"/>
              </a:rPr>
              <a:t> </a:t>
            </a:r>
            <a:r>
              <a:rPr lang="en-IN" sz="1600" dirty="0"/>
              <a:t>Growing network complexity demands intelligent automation for faster fault detection and reliable network operations.</a:t>
            </a:r>
            <a:endParaRPr lang="en-US" sz="1500" dirty="0"/>
          </a:p>
        </p:txBody>
      </p:sp>
      <p:sp>
        <p:nvSpPr>
          <p:cNvPr id="20" name="Text 18"/>
          <p:cNvSpPr/>
          <p:nvPr/>
        </p:nvSpPr>
        <p:spPr>
          <a:xfrm>
            <a:off x="914400" y="5257800"/>
            <a:ext cx="10332720" cy="777240"/>
          </a:xfrm>
          <a:prstGeom prst="rect">
            <a:avLst/>
          </a:prstGeom>
          <a:noFill/>
          <a:ln/>
        </p:spPr>
        <p:txBody>
          <a:bodyPr wrap="square" lIns="635" tIns="635" rIns="635" bIns="635" rtlCol="0" anchor="ctr">
            <a:normAutofit/>
          </a:bodyPr>
          <a:lstStyle/>
          <a:p>
            <a:endParaRPr lang="en-US" sz="1800" dirty="0"/>
          </a:p>
        </p:txBody>
      </p:sp>
      <p:sp>
        <p:nvSpPr>
          <p:cNvPr id="21" name="Shape 2">
            <a:extLst>
              <a:ext uri="{FF2B5EF4-FFF2-40B4-BE49-F238E27FC236}">
                <a16:creationId xmlns:a16="http://schemas.microsoft.com/office/drawing/2014/main" id="{6B25CFDC-21BD-42B5-4EFD-52017011AB87}"/>
              </a:ext>
            </a:extLst>
          </p:cNvPr>
          <p:cNvSpPr/>
          <p:nvPr/>
        </p:nvSpPr>
        <p:spPr>
          <a:xfrm>
            <a:off x="502920" y="1183747"/>
            <a:ext cx="1554480" cy="0"/>
          </a:xfrm>
          <a:prstGeom prst="line">
            <a:avLst/>
          </a:prstGeom>
          <a:noFill/>
          <a:ln w="38100">
            <a:solidFill>
              <a:srgbClr val="D7A44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8B4513"/>
          </a:solidFill>
          <a:ln w="12700">
            <a:solidFill>
              <a:srgbClr val="8B4513">
                <a:alpha val="0"/>
              </a:srgbClr>
            </a:solidFill>
            <a:prstDash val="solid"/>
          </a:ln>
        </p:spPr>
      </p:sp>
      <p:sp>
        <p:nvSpPr>
          <p:cNvPr id="3" name="Text 1"/>
          <p:cNvSpPr/>
          <p:nvPr/>
        </p:nvSpPr>
        <p:spPr>
          <a:xfrm>
            <a:off x="502920" y="320040"/>
            <a:ext cx="7178040" cy="502920"/>
          </a:xfrm>
          <a:prstGeom prst="rect">
            <a:avLst/>
          </a:prstGeom>
          <a:noFill/>
          <a:ln/>
        </p:spPr>
        <p:txBody>
          <a:bodyPr wrap="square" lIns="0" tIns="0" rIns="0" bIns="0" rtlCol="0" anchor="ctr"/>
          <a:lstStyle/>
          <a:p>
            <a:pPr marL="0" indent="0">
              <a:buNone/>
            </a:pPr>
            <a:r>
              <a:rPr lang="en-US" sz="3000" b="1" dirty="0">
                <a:solidFill>
                  <a:srgbClr val="8B4513"/>
                </a:solidFill>
                <a:latin typeface="Times New Roman" pitchFamily="34" charset="0"/>
                <a:ea typeface="Times New Roman" pitchFamily="34" charset="-122"/>
                <a:cs typeface="Times New Roman" pitchFamily="34" charset="-120"/>
              </a:rPr>
              <a:t>Slide 4: Abstract</a:t>
            </a:r>
            <a:endParaRPr lang="en-US" sz="3000" dirty="0"/>
          </a:p>
        </p:txBody>
      </p:sp>
      <p:sp>
        <p:nvSpPr>
          <p:cNvPr id="4" name="Shape 2"/>
          <p:cNvSpPr/>
          <p:nvPr/>
        </p:nvSpPr>
        <p:spPr>
          <a:xfrm>
            <a:off x="502920" y="886968"/>
            <a:ext cx="1554480" cy="0"/>
          </a:xfrm>
          <a:prstGeom prst="line">
            <a:avLst/>
          </a:prstGeom>
          <a:noFill/>
          <a:ln w="38100">
            <a:solidFill>
              <a:srgbClr val="D7A44A"/>
            </a:solidFill>
            <a:prstDash val="solid"/>
          </a:ln>
        </p:spPr>
      </p:sp>
      <p:sp>
        <p:nvSpPr>
          <p:cNvPr id="5" name="Text 3"/>
          <p:cNvSpPr/>
          <p:nvPr/>
        </p:nvSpPr>
        <p:spPr>
          <a:xfrm>
            <a:off x="8549640" y="393192"/>
            <a:ext cx="2743200" cy="320040"/>
          </a:xfrm>
          <a:prstGeom prst="rect">
            <a:avLst/>
          </a:prstGeom>
          <a:noFill/>
          <a:ln/>
        </p:spPr>
        <p:txBody>
          <a:bodyPr wrap="square" lIns="0" tIns="0" rIns="0" bIns="0" rtlCol="0" anchor="ctr"/>
          <a:lstStyle/>
          <a:p>
            <a:pPr marL="0" indent="0" algn="r">
              <a:buNone/>
            </a:pPr>
            <a:endParaRPr lang="en-US" sz="1300" dirty="0"/>
          </a:p>
        </p:txBody>
      </p:sp>
      <p:sp>
        <p:nvSpPr>
          <p:cNvPr id="6" name="Text 4"/>
          <p:cNvSpPr/>
          <p:nvPr/>
        </p:nvSpPr>
        <p:spPr>
          <a:xfrm>
            <a:off x="502920" y="6537960"/>
            <a:ext cx="4572000" cy="201168"/>
          </a:xfrm>
          <a:prstGeom prst="rect">
            <a:avLst/>
          </a:prstGeom>
          <a:noFill/>
          <a:ln/>
        </p:spPr>
        <p:txBody>
          <a:bodyPr wrap="square" lIns="0" tIns="0" rIns="0" bIns="0" rtlCol="0" anchor="ctr"/>
          <a:lstStyle/>
          <a:p>
            <a:pPr marL="0" indent="0">
              <a:buNone/>
            </a:pPr>
            <a:r>
              <a:rPr lang="en-US" sz="950" dirty="0">
                <a:solidFill>
                  <a:srgbClr val="5D6571"/>
                </a:solidFill>
                <a:latin typeface="Times New Roman" pitchFamily="34" charset="0"/>
                <a:ea typeface="Times New Roman" pitchFamily="34" charset="-122"/>
                <a:cs typeface="Times New Roman" pitchFamily="34" charset="-120"/>
              </a:rPr>
              <a:t>Final Year Project 0th Review | 5</a:t>
            </a:r>
            <a:endParaRPr lang="en-US" sz="950" dirty="0"/>
          </a:p>
        </p:txBody>
      </p:sp>
      <p:sp>
        <p:nvSpPr>
          <p:cNvPr id="7" name="Text 5"/>
          <p:cNvSpPr/>
          <p:nvPr/>
        </p:nvSpPr>
        <p:spPr>
          <a:xfrm>
            <a:off x="7498080" y="6537960"/>
            <a:ext cx="4206240" cy="201168"/>
          </a:xfrm>
          <a:prstGeom prst="rect">
            <a:avLst/>
          </a:prstGeom>
          <a:noFill/>
          <a:ln/>
        </p:spPr>
        <p:txBody>
          <a:bodyPr wrap="square" lIns="0" tIns="0" rIns="0" bIns="0" rtlCol="0" anchor="ctr"/>
          <a:lstStyle/>
          <a:p>
            <a:pPr marL="0" indent="0" algn="r">
              <a:buNone/>
            </a:pPr>
            <a:r>
              <a:rPr lang="en-US" sz="950" dirty="0">
                <a:solidFill>
                  <a:srgbClr val="5D6571"/>
                </a:solidFill>
                <a:latin typeface="Times New Roman" pitchFamily="34" charset="0"/>
                <a:ea typeface="Times New Roman" pitchFamily="34" charset="-122"/>
                <a:cs typeface="Times New Roman" pitchFamily="34" charset="-120"/>
              </a:rPr>
              <a:t>Department of Information Technology</a:t>
            </a:r>
            <a:endParaRPr lang="en-US" sz="950" dirty="0"/>
          </a:p>
        </p:txBody>
      </p:sp>
      <p:sp>
        <p:nvSpPr>
          <p:cNvPr id="8" name="Text 6"/>
          <p:cNvSpPr/>
          <p:nvPr/>
        </p:nvSpPr>
        <p:spPr>
          <a:xfrm>
            <a:off x="587141" y="1234439"/>
            <a:ext cx="11117180" cy="4626857"/>
          </a:xfrm>
          <a:prstGeom prst="rect">
            <a:avLst/>
          </a:prstGeom>
          <a:solidFill>
            <a:srgbClr val="FFFFFF"/>
          </a:solidFill>
          <a:ln w="12700">
            <a:solidFill>
              <a:srgbClr val="D9CBB9"/>
            </a:solidFill>
          </a:ln>
        </p:spPr>
        <p:txBody>
          <a:bodyPr wrap="square" lIns="1524" tIns="1524" rIns="1524" bIns="1524" rtlCol="0" anchor="t">
            <a:normAutofit lnSpcReduction="10000"/>
          </a:bodyPr>
          <a:lstStyle/>
          <a:p>
            <a:pPr marL="0" indent="0">
              <a:buNone/>
            </a:pPr>
            <a:r>
              <a:rPr lang="en-US" sz="2000" b="1" dirty="0">
                <a:solidFill>
                  <a:srgbClr val="0B1F3A"/>
                </a:solidFill>
                <a:latin typeface="Times New Roman" pitchFamily="34" charset="0"/>
                <a:ea typeface="Times New Roman" pitchFamily="34" charset="-122"/>
                <a:cs typeface="Times New Roman" pitchFamily="34" charset="-120"/>
              </a:rPr>
              <a:t> Abstract</a:t>
            </a:r>
            <a:endParaRPr lang="en-US" sz="2000" b="1" dirty="0"/>
          </a:p>
          <a:p>
            <a:pPr marL="0" indent="0">
              <a:buNone/>
            </a:pPr>
            <a:endParaRPr lang="en-US" sz="2000" dirty="0"/>
          </a:p>
          <a:p>
            <a:r>
              <a:rPr lang="en-US" sz="2000" dirty="0">
                <a:solidFill>
                  <a:srgbClr val="0B1F3A"/>
                </a:solidFill>
                <a:latin typeface="Times New Roman" pitchFamily="34" charset="0"/>
                <a:cs typeface="Times New Roman" pitchFamily="34" charset="-120"/>
              </a:rPr>
              <a:t> </a:t>
            </a:r>
            <a:r>
              <a:rPr lang="en-IN" sz="2000" dirty="0"/>
              <a:t> Modern communication networks are becoming increasingly complex, making traditional rule-based and manual network management inefficient for ensuring reliable performance. Delayed fault detection, prolonged downtime, and inefficient resource utilization significantly impact service quality and operational costs. Existing network management systems often lack intelligent decision-making and adaptive automation capabilities. To address these challenges, this project proposes </a:t>
            </a:r>
            <a:r>
              <a:rPr lang="en-IN" sz="2000" b="1" dirty="0" err="1"/>
              <a:t>NeuroNet</a:t>
            </a:r>
            <a:r>
              <a:rPr lang="en-IN" sz="2000" dirty="0"/>
              <a:t>, an AI-powered AIOps platform for intelligent network automation. The system leverages </a:t>
            </a:r>
            <a:r>
              <a:rPr lang="en-IN" sz="2000" b="1" dirty="0"/>
              <a:t>GPU-accelerated Reinforcement Learning</a:t>
            </a:r>
            <a:r>
              <a:rPr lang="en-IN" sz="2000" dirty="0"/>
              <a:t> to </a:t>
            </a:r>
            <a:r>
              <a:rPr lang="en-IN" sz="2000" dirty="0" err="1"/>
              <a:t>analyze</a:t>
            </a:r>
            <a:r>
              <a:rPr lang="en-IN" sz="2000" dirty="0"/>
              <a:t> network telemetry, detect anomalies, and make autonomous optimization decisions in real time. It integrates anomaly detection, reinforcement learning, automated decision-making, and an interactive monitoring dashboard to enable self-healing network operations. The proposed solution aims to improve network reliability, reduce recovery time, optimize resource utilization, and minimize manual intervention. The system is primarily designed for telecom service providers, enterprise IT infrastructure teams, cloud service providers, and Network Operations </a:t>
            </a:r>
            <a:r>
              <a:rPr lang="en-IN" sz="2000" dirty="0" err="1"/>
              <a:t>Center</a:t>
            </a:r>
            <a:r>
              <a:rPr lang="en-IN" sz="2000" dirty="0"/>
              <a:t> (NOC) engineers. The expected outcome is an intelligent AIOps prototype capable of real-time monitoring, automated network optimization, and performance evaluation, contributing to more resilient, scalable, and efficient network infrastructure.</a:t>
            </a:r>
            <a:endParaRPr lang="en-US" sz="2000" dirty="0"/>
          </a:p>
        </p:txBody>
      </p:sp>
      <p:sp>
        <p:nvSpPr>
          <p:cNvPr id="10" name="Text 8"/>
          <p:cNvSpPr/>
          <p:nvPr/>
        </p:nvSpPr>
        <p:spPr>
          <a:xfrm>
            <a:off x="7726680" y="4617720"/>
            <a:ext cx="3657600" cy="731520"/>
          </a:xfrm>
          <a:prstGeom prst="rect">
            <a:avLst/>
          </a:prstGeom>
          <a:noFill/>
          <a:ln/>
        </p:spPr>
        <p:txBody>
          <a:bodyPr wrap="square" lIns="1016" tIns="1016" rIns="1016" bIns="1016" rtlCol="0" anchor="ctr">
            <a:normAutofit/>
          </a:bodyPr>
          <a:lstStyle/>
          <a:p>
            <a:pPr marL="0" indent="0">
              <a:buNone/>
            </a:pP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8B4513"/>
          </a:solidFill>
          <a:ln w="12700">
            <a:solidFill>
              <a:srgbClr val="8B4513">
                <a:alpha val="0"/>
              </a:srgbClr>
            </a:solidFill>
            <a:prstDash val="solid"/>
          </a:ln>
        </p:spPr>
      </p:sp>
      <p:sp>
        <p:nvSpPr>
          <p:cNvPr id="3" name="Text 1"/>
          <p:cNvSpPr/>
          <p:nvPr/>
        </p:nvSpPr>
        <p:spPr>
          <a:xfrm>
            <a:off x="502920" y="320040"/>
            <a:ext cx="7178040" cy="502920"/>
          </a:xfrm>
          <a:prstGeom prst="rect">
            <a:avLst/>
          </a:prstGeom>
          <a:noFill/>
          <a:ln/>
        </p:spPr>
        <p:txBody>
          <a:bodyPr wrap="square" lIns="0" tIns="0" rIns="0" bIns="0" rtlCol="0" anchor="ctr"/>
          <a:lstStyle/>
          <a:p>
            <a:pPr marL="0" indent="0">
              <a:buNone/>
            </a:pPr>
            <a:r>
              <a:rPr lang="en-US" sz="3000" b="1" dirty="0">
                <a:solidFill>
                  <a:srgbClr val="8B4513"/>
                </a:solidFill>
                <a:latin typeface="Times New Roman" pitchFamily="34" charset="0"/>
                <a:ea typeface="Times New Roman" pitchFamily="34" charset="-122"/>
                <a:cs typeface="Times New Roman" pitchFamily="34" charset="-120"/>
              </a:rPr>
              <a:t>Slide 5: Problem Statement and Objectives</a:t>
            </a:r>
            <a:endParaRPr lang="en-US" sz="3000" dirty="0"/>
          </a:p>
        </p:txBody>
      </p:sp>
      <p:sp>
        <p:nvSpPr>
          <p:cNvPr id="4" name="Shape 2"/>
          <p:cNvSpPr/>
          <p:nvPr/>
        </p:nvSpPr>
        <p:spPr>
          <a:xfrm>
            <a:off x="502920" y="886968"/>
            <a:ext cx="1554480" cy="0"/>
          </a:xfrm>
          <a:prstGeom prst="line">
            <a:avLst/>
          </a:prstGeom>
          <a:noFill/>
          <a:ln w="38100">
            <a:solidFill>
              <a:srgbClr val="D7A44A"/>
            </a:solidFill>
            <a:prstDash val="solid"/>
          </a:ln>
        </p:spPr>
      </p:sp>
      <p:sp>
        <p:nvSpPr>
          <p:cNvPr id="5" name="Text 3"/>
          <p:cNvSpPr/>
          <p:nvPr/>
        </p:nvSpPr>
        <p:spPr>
          <a:xfrm>
            <a:off x="8549640" y="393192"/>
            <a:ext cx="2743200" cy="320040"/>
          </a:xfrm>
          <a:prstGeom prst="rect">
            <a:avLst/>
          </a:prstGeom>
          <a:noFill/>
          <a:ln/>
        </p:spPr>
        <p:txBody>
          <a:bodyPr wrap="square" lIns="0" tIns="0" rIns="0" bIns="0" rtlCol="0" anchor="ctr"/>
          <a:lstStyle/>
          <a:p>
            <a:pPr marL="0" indent="0" algn="r">
              <a:buNone/>
            </a:pPr>
            <a:r>
              <a:rPr lang="en-US" sz="1300" dirty="0"/>
              <a:t>\</a:t>
            </a:r>
          </a:p>
        </p:txBody>
      </p:sp>
      <p:sp>
        <p:nvSpPr>
          <p:cNvPr id="6" name="Text 4"/>
          <p:cNvSpPr/>
          <p:nvPr/>
        </p:nvSpPr>
        <p:spPr>
          <a:xfrm>
            <a:off x="502920" y="6537960"/>
            <a:ext cx="4572000" cy="201168"/>
          </a:xfrm>
          <a:prstGeom prst="rect">
            <a:avLst/>
          </a:prstGeom>
          <a:noFill/>
          <a:ln/>
        </p:spPr>
        <p:txBody>
          <a:bodyPr wrap="square" lIns="0" tIns="0" rIns="0" bIns="0" rtlCol="0" anchor="ctr"/>
          <a:lstStyle/>
          <a:p>
            <a:pPr marL="0" indent="0">
              <a:buNone/>
            </a:pPr>
            <a:r>
              <a:rPr lang="en-US" sz="950" dirty="0">
                <a:solidFill>
                  <a:srgbClr val="5D6571"/>
                </a:solidFill>
                <a:latin typeface="Times New Roman" pitchFamily="34" charset="0"/>
                <a:ea typeface="Times New Roman" pitchFamily="34" charset="-122"/>
                <a:cs typeface="Times New Roman" pitchFamily="34" charset="-120"/>
              </a:rPr>
              <a:t>Final Year Project 0th Review | 6</a:t>
            </a:r>
            <a:endParaRPr lang="en-US" sz="950" dirty="0"/>
          </a:p>
        </p:txBody>
      </p:sp>
      <p:sp>
        <p:nvSpPr>
          <p:cNvPr id="7" name="Text 5"/>
          <p:cNvSpPr/>
          <p:nvPr/>
        </p:nvSpPr>
        <p:spPr>
          <a:xfrm>
            <a:off x="7498080" y="6537960"/>
            <a:ext cx="4206240" cy="201168"/>
          </a:xfrm>
          <a:prstGeom prst="rect">
            <a:avLst/>
          </a:prstGeom>
          <a:noFill/>
          <a:ln/>
        </p:spPr>
        <p:txBody>
          <a:bodyPr wrap="square" lIns="0" tIns="0" rIns="0" bIns="0" rtlCol="0" anchor="ctr"/>
          <a:lstStyle/>
          <a:p>
            <a:pPr marL="0" indent="0" algn="r">
              <a:buNone/>
            </a:pPr>
            <a:r>
              <a:rPr lang="en-US" sz="950" dirty="0">
                <a:solidFill>
                  <a:srgbClr val="5D6571"/>
                </a:solidFill>
                <a:latin typeface="Times New Roman" pitchFamily="34" charset="0"/>
                <a:ea typeface="Times New Roman" pitchFamily="34" charset="-122"/>
                <a:cs typeface="Times New Roman" pitchFamily="34" charset="-120"/>
              </a:rPr>
              <a:t>Department of Information Technology</a:t>
            </a:r>
            <a:endParaRPr lang="en-US" sz="950" dirty="0"/>
          </a:p>
        </p:txBody>
      </p:sp>
      <p:sp>
        <p:nvSpPr>
          <p:cNvPr id="8" name="Text 6"/>
          <p:cNvSpPr/>
          <p:nvPr/>
        </p:nvSpPr>
        <p:spPr>
          <a:xfrm>
            <a:off x="731520" y="1234439"/>
            <a:ext cx="10744200" cy="4644993"/>
          </a:xfrm>
          <a:prstGeom prst="rect">
            <a:avLst/>
          </a:prstGeom>
          <a:solidFill>
            <a:srgbClr val="FFFFFF"/>
          </a:solidFill>
          <a:ln w="12700">
            <a:solidFill>
              <a:srgbClr val="D9CBB9"/>
            </a:solidFill>
          </a:ln>
        </p:spPr>
        <p:txBody>
          <a:bodyPr wrap="square" lIns="1524" tIns="1524" rIns="1524" bIns="1524" rtlCol="0" anchor="ctr">
            <a:normAutofit fontScale="92500" lnSpcReduction="20000"/>
          </a:bodyPr>
          <a:lstStyle/>
          <a:p>
            <a:endParaRPr lang="en-IN" sz="2400" b="1" dirty="0"/>
          </a:p>
          <a:p>
            <a:r>
              <a:rPr lang="en-IN" sz="2400" b="1" dirty="0"/>
              <a:t>Problem Statement</a:t>
            </a:r>
          </a:p>
          <a:p>
            <a:r>
              <a:rPr lang="en-IN" sz="2400" dirty="0"/>
              <a:t>Modern communication networks rely on manual monitoring and static rule-based management, leading to delayed fault detection, increased downtime, and inefficient resource utilization. As network complexity grows, telecom operators and enterprise IT teams require an intelligent, automated solution for real-time anomaly detection, decision-making, and network optimization.</a:t>
            </a:r>
          </a:p>
          <a:p>
            <a:br>
              <a:rPr lang="en-IN" sz="2400" dirty="0"/>
            </a:br>
            <a:endParaRPr lang="en-IN" sz="2400" dirty="0"/>
          </a:p>
          <a:p>
            <a:r>
              <a:rPr lang="en-IN" sz="2400" b="1" dirty="0"/>
              <a:t>Objectives</a:t>
            </a:r>
          </a:p>
          <a:p>
            <a:r>
              <a:rPr lang="en-IN" sz="2400" b="1" dirty="0"/>
              <a:t>Design</a:t>
            </a:r>
            <a:r>
              <a:rPr lang="en-IN" sz="2400" dirty="0"/>
              <a:t> an AI-powered AIOps framework for intelligent network automation. </a:t>
            </a:r>
          </a:p>
          <a:p>
            <a:r>
              <a:rPr lang="en-IN" sz="2400" b="1" dirty="0"/>
              <a:t>Develop</a:t>
            </a:r>
            <a:r>
              <a:rPr lang="en-IN" sz="2400" dirty="0"/>
              <a:t> a GPU-accelerated Reinforcement Learning model for autonomous network optimization. </a:t>
            </a:r>
          </a:p>
          <a:p>
            <a:r>
              <a:rPr lang="en-IN" sz="2400" b="1" dirty="0"/>
              <a:t>Implement</a:t>
            </a:r>
            <a:r>
              <a:rPr lang="en-IN" sz="2400" dirty="0"/>
              <a:t> real-time network telemetry monitoring and anomaly detection. </a:t>
            </a:r>
          </a:p>
          <a:p>
            <a:r>
              <a:rPr lang="en-IN" sz="2400" b="1" dirty="0"/>
              <a:t>Evaluate</a:t>
            </a:r>
            <a:r>
              <a:rPr lang="en-IN" sz="2400" dirty="0"/>
              <a:t> system performance based on fault detection, recovery time, and resource utilization. </a:t>
            </a:r>
          </a:p>
          <a:p>
            <a:r>
              <a:rPr lang="en-IN" sz="2400" b="1" dirty="0"/>
              <a:t>Validate</a:t>
            </a:r>
            <a:r>
              <a:rPr lang="en-IN" sz="2400" dirty="0"/>
              <a:t> the effectiveness of self-healing network operations through simulation.</a:t>
            </a:r>
          </a:p>
          <a:p>
            <a:pPr marL="0" indent="0">
              <a:buNone/>
            </a:pPr>
            <a:endParaRPr lang="en-US" sz="2100" dirty="0"/>
          </a:p>
        </p:txBody>
      </p:sp>
      <p:sp>
        <p:nvSpPr>
          <p:cNvPr id="24" name="Text 22"/>
          <p:cNvSpPr/>
          <p:nvPr/>
        </p:nvSpPr>
        <p:spPr>
          <a:xfrm>
            <a:off x="914400" y="5596128"/>
            <a:ext cx="10241280" cy="384048"/>
          </a:xfrm>
          <a:prstGeom prst="rect">
            <a:avLst/>
          </a:prstGeom>
          <a:noFill/>
          <a:ln/>
        </p:spPr>
        <p:txBody>
          <a:bodyPr wrap="square" lIns="1016" tIns="1016" rIns="1016" bIns="1016" rtlCol="0" anchor="ctr">
            <a:normAutofit/>
          </a:bodyPr>
          <a:lstStyle/>
          <a:p>
            <a:pPr marL="0" indent="0" algn="ctr">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1464</TotalTime>
  <Words>830</Words>
  <Application>Microsoft Office PowerPoint</Application>
  <PresentationFormat>Widescreen</PresentationFormat>
  <Paragraphs>84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Information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0th Review Template</dc:title>
  <dc:subject>Final Year Project 0th Review Presentation Template</dc:subject>
  <dc:creator>Dr. P. Jayapriya</dc:creator>
  <cp:lastModifiedBy>ABIJITH RAJA B</cp:lastModifiedBy>
  <cp:revision>10</cp:revision>
  <dcterms:created xsi:type="dcterms:W3CDTF">2026-07-23T06:24:38Z</dcterms:created>
  <dcterms:modified xsi:type="dcterms:W3CDTF">2026-07-25T07:18:29Z</dcterms:modified>
</cp:coreProperties>
</file>