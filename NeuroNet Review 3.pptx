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6"/>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82" d="100"/>
          <a:sy n="82" d="100"/>
        </p:scale>
        <p:origin x="691" y="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notesMaster" Target="notesMasters/notesMaster1.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25297097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7F9FC"/>
        </a:solidFill>
        <a:effectLst/>
      </p:bgPr>
    </p:bg>
    <p:spTree>
      <p:nvGrpSpPr>
        <p:cNvPr id="1" name=""/>
        <p:cNvGrpSpPr/>
        <p:nvPr/>
      </p:nvGrpSpPr>
      <p:grpSpPr>
        <a:xfrm>
          <a:off x="0" y="0"/>
          <a:ext cx="0" cy="0"/>
          <a:chOff x="0" y="0"/>
          <a:chExt cx="0" cy="0"/>
        </a:xfrm>
      </p:grpSpPr>
      <p:sp>
        <p:nvSpPr>
          <p:cNvPr id="2" name="Shape 0"/>
          <p:cNvSpPr/>
          <p:nvPr/>
        </p:nvSpPr>
        <p:spPr>
          <a:xfrm>
            <a:off x="0" y="0"/>
            <a:ext cx="12191695" cy="256032"/>
          </a:xfrm>
          <a:prstGeom prst="rect">
            <a:avLst/>
          </a:prstGeom>
          <a:solidFill>
            <a:srgbClr val="17365D"/>
          </a:solidFill>
          <a:ln w="12700">
            <a:solidFill>
              <a:srgbClr val="17365D"/>
            </a:solidFill>
            <a:prstDash val="solid"/>
          </a:ln>
        </p:spPr>
      </p:sp>
      <p:sp>
        <p:nvSpPr>
          <p:cNvPr id="3" name="Shape 1"/>
          <p:cNvSpPr/>
          <p:nvPr/>
        </p:nvSpPr>
        <p:spPr>
          <a:xfrm>
            <a:off x="0" y="256032"/>
            <a:ext cx="12191695" cy="960120"/>
          </a:xfrm>
          <a:prstGeom prst="rect">
            <a:avLst/>
          </a:prstGeom>
          <a:solidFill>
            <a:srgbClr val="17365D"/>
          </a:solidFill>
          <a:ln w="12700">
            <a:solidFill>
              <a:srgbClr val="17365D"/>
            </a:solidFill>
            <a:prstDash val="solid"/>
          </a:ln>
        </p:spPr>
      </p:sp>
      <p:sp>
        <p:nvSpPr>
          <p:cNvPr id="4" name="Text 2"/>
          <p:cNvSpPr txBox="1"/>
          <p:nvPr/>
        </p:nvSpPr>
        <p:spPr>
          <a:xfrm>
            <a:off x="731520" y="1600200"/>
            <a:ext cx="10728655" cy="594360"/>
          </a:xfrm>
          <a:prstGeom prst="rect">
            <a:avLst/>
          </a:prstGeom>
          <a:noFill/>
          <a:ln/>
        </p:spPr>
        <p:txBody>
          <a:bodyPr wrap="square" lIns="0" tIns="0" rIns="0" bIns="0" rtlCol="0" anchor="ctr"/>
          <a:lstStyle/>
          <a:p>
            <a:pPr marL="0" indent="0" algn="ctr">
              <a:buNone/>
            </a:pPr>
            <a:r>
              <a:rPr lang="en-US" sz="3400" b="1" dirty="0">
                <a:solidFill>
                  <a:srgbClr val="17365D"/>
                </a:solidFill>
                <a:latin typeface="Calibri" pitchFamily="34" charset="0"/>
                <a:ea typeface="Calibri" pitchFamily="34" charset="-122"/>
                <a:cs typeface="Calibri" pitchFamily="34" charset="-120"/>
              </a:rPr>
              <a:t>FINAL REVIEW</a:t>
            </a:r>
            <a:endParaRPr lang="en-US" sz="3400" dirty="0"/>
          </a:p>
        </p:txBody>
      </p:sp>
      <p:sp>
        <p:nvSpPr>
          <p:cNvPr id="5" name="Text 3"/>
          <p:cNvSpPr txBox="1"/>
          <p:nvPr/>
        </p:nvSpPr>
        <p:spPr>
          <a:xfrm>
            <a:off x="731520" y="2240841"/>
            <a:ext cx="10728655" cy="365760"/>
          </a:xfrm>
          <a:prstGeom prst="rect">
            <a:avLst/>
          </a:prstGeom>
          <a:noFill/>
          <a:ln/>
        </p:spPr>
        <p:txBody>
          <a:bodyPr wrap="square" lIns="0" tIns="0" rIns="0" bIns="0" rtlCol="0" anchor="ctr"/>
          <a:lstStyle/>
          <a:p>
            <a:pPr marL="0" indent="0" algn="ctr">
              <a:buNone/>
            </a:pPr>
            <a:r>
              <a:rPr lang="en-US" sz="1600" dirty="0" err="1">
                <a:solidFill>
                  <a:srgbClr val="8A1C1C"/>
                </a:solidFill>
                <a:latin typeface="Calibri" pitchFamily="34" charset="0"/>
                <a:ea typeface="Calibri" pitchFamily="34" charset="-122"/>
                <a:cs typeface="Calibri" pitchFamily="34" charset="-120"/>
              </a:rPr>
              <a:t>NeuroNet</a:t>
            </a:r>
            <a:r>
              <a:rPr lang="en-US" sz="1600" dirty="0">
                <a:solidFill>
                  <a:srgbClr val="8A1C1C"/>
                </a:solidFill>
                <a:latin typeface="Calibri" pitchFamily="34" charset="0"/>
                <a:ea typeface="Calibri" pitchFamily="34" charset="-122"/>
                <a:cs typeface="Calibri" pitchFamily="34" charset="-120"/>
              </a:rPr>
              <a:t>  — Final Review Presentation</a:t>
            </a:r>
            <a:endParaRPr lang="en-US" sz="1600" dirty="0"/>
          </a:p>
        </p:txBody>
      </p:sp>
      <p:sp>
        <p:nvSpPr>
          <p:cNvPr id="6" name="Shape 4"/>
          <p:cNvSpPr/>
          <p:nvPr/>
        </p:nvSpPr>
        <p:spPr>
          <a:xfrm>
            <a:off x="1828800" y="2788920"/>
            <a:ext cx="8531352" cy="1143000"/>
          </a:xfrm>
          <a:prstGeom prst="roundRect">
            <a:avLst>
              <a:gd name="adj" fmla="val 4800"/>
            </a:avLst>
          </a:prstGeom>
          <a:solidFill>
            <a:srgbClr val="F1F5F9"/>
          </a:solidFill>
          <a:ln w="12700">
            <a:solidFill>
              <a:srgbClr val="CBD5E1"/>
            </a:solidFill>
            <a:prstDash val="solid"/>
          </a:ln>
        </p:spPr>
      </p:sp>
      <p:sp>
        <p:nvSpPr>
          <p:cNvPr id="7" name="Text 5"/>
          <p:cNvSpPr txBox="1"/>
          <p:nvPr/>
        </p:nvSpPr>
        <p:spPr>
          <a:xfrm>
            <a:off x="2057400" y="2788920"/>
            <a:ext cx="8074152" cy="1143000"/>
          </a:xfrm>
          <a:prstGeom prst="rect">
            <a:avLst/>
          </a:prstGeom>
          <a:noFill/>
          <a:ln/>
        </p:spPr>
        <p:txBody>
          <a:bodyPr wrap="square" lIns="0" tIns="0" rIns="0" bIns="0" rtlCol="0" anchor="ctr"/>
          <a:lstStyle/>
          <a:p>
            <a:pPr marL="0" indent="0" algn="ctr">
              <a:buNone/>
            </a:pPr>
            <a:r>
              <a:rPr lang="en-US" sz="1900" b="1" dirty="0" err="1">
                <a:solidFill>
                  <a:srgbClr val="1F2937"/>
                </a:solidFill>
                <a:latin typeface="Calibri" pitchFamily="34" charset="0"/>
                <a:ea typeface="Calibri" pitchFamily="34" charset="-122"/>
                <a:cs typeface="Calibri" pitchFamily="34" charset="-120"/>
              </a:rPr>
              <a:t>NeuroNet</a:t>
            </a:r>
            <a:r>
              <a:rPr lang="en-US" sz="1900" b="1" dirty="0">
                <a:solidFill>
                  <a:srgbClr val="1F2937"/>
                </a:solidFill>
                <a:latin typeface="Calibri" pitchFamily="34" charset="0"/>
                <a:ea typeface="Calibri" pitchFamily="34" charset="-122"/>
                <a:cs typeface="Calibri" pitchFamily="34" charset="-120"/>
              </a:rPr>
              <a:t> : GPU-Accelerated RL-Based Self-Healing Network Intelligence System</a:t>
            </a:r>
            <a:endParaRPr lang="en-US" sz="1900" dirty="0"/>
          </a:p>
        </p:txBody>
      </p:sp>
      <p:sp>
        <p:nvSpPr>
          <p:cNvPr id="8" name="Text 6"/>
          <p:cNvSpPr txBox="1"/>
          <p:nvPr/>
        </p:nvSpPr>
        <p:spPr>
          <a:xfrm>
            <a:off x="914400" y="4206240"/>
            <a:ext cx="10362895" cy="274320"/>
          </a:xfrm>
          <a:prstGeom prst="rect">
            <a:avLst/>
          </a:prstGeom>
          <a:noFill/>
          <a:ln/>
        </p:spPr>
        <p:txBody>
          <a:bodyPr wrap="square" lIns="0" tIns="0" rIns="0" bIns="0" rtlCol="0" anchor="ctr"/>
          <a:lstStyle/>
          <a:p>
            <a:pPr marL="0" indent="0" algn="ctr">
              <a:buNone/>
            </a:pPr>
            <a:r>
              <a:rPr lang="en-US" sz="1300" dirty="0">
                <a:solidFill>
                  <a:srgbClr val="5D6B7A"/>
                </a:solidFill>
                <a:latin typeface="Calibri" pitchFamily="34" charset="0"/>
                <a:ea typeface="Calibri" pitchFamily="34" charset="-122"/>
                <a:cs typeface="Calibri" pitchFamily="34" charset="-120"/>
              </a:rPr>
              <a:t>Team No. 23  |  Guide: Mr. SRIRAM KRISHNA V S  |  Batch: 2023–2027</a:t>
            </a:r>
            <a:endParaRPr lang="en-US" sz="1300" dirty="0"/>
          </a:p>
        </p:txBody>
      </p:sp>
      <p:sp>
        <p:nvSpPr>
          <p:cNvPr id="9" name="Text 7"/>
          <p:cNvSpPr txBox="1"/>
          <p:nvPr/>
        </p:nvSpPr>
        <p:spPr>
          <a:xfrm>
            <a:off x="914400" y="4526280"/>
            <a:ext cx="10362895" cy="274320"/>
          </a:xfrm>
          <a:prstGeom prst="rect">
            <a:avLst/>
          </a:prstGeom>
          <a:noFill/>
          <a:ln/>
        </p:spPr>
        <p:txBody>
          <a:bodyPr wrap="square" lIns="0" tIns="0" rIns="0" bIns="0" rtlCol="0" anchor="ctr"/>
          <a:lstStyle/>
          <a:p>
            <a:pPr marL="0" indent="0" algn="ctr">
              <a:buNone/>
            </a:pPr>
            <a:r>
              <a:rPr lang="en-US" sz="1300" dirty="0">
                <a:solidFill>
                  <a:srgbClr val="1F2937"/>
                </a:solidFill>
                <a:latin typeface="Calibri" pitchFamily="34" charset="0"/>
                <a:ea typeface="Calibri" pitchFamily="34" charset="-122"/>
                <a:cs typeface="Calibri" pitchFamily="34" charset="-120"/>
              </a:rPr>
              <a:t>1. Mithielesh N      2. Abijith Raja B      3. Abinaya S</a:t>
            </a:r>
            <a:endParaRPr lang="en-US" sz="1300" dirty="0"/>
          </a:p>
        </p:txBody>
      </p:sp>
      <p:sp>
        <p:nvSpPr>
          <p:cNvPr id="10" name="Text 8"/>
          <p:cNvSpPr txBox="1"/>
          <p:nvPr/>
        </p:nvSpPr>
        <p:spPr>
          <a:xfrm>
            <a:off x="914400" y="5074920"/>
            <a:ext cx="10362895" cy="320040"/>
          </a:xfrm>
          <a:prstGeom prst="rect">
            <a:avLst/>
          </a:prstGeom>
          <a:noFill/>
          <a:ln/>
        </p:spPr>
        <p:txBody>
          <a:bodyPr wrap="square" lIns="0" tIns="0" rIns="0" bIns="0" rtlCol="0" anchor="ctr"/>
          <a:lstStyle/>
          <a:p>
            <a:pPr marL="0" indent="0" algn="ctr">
              <a:buNone/>
            </a:pPr>
            <a:r>
              <a:rPr lang="en-US" sz="1600" b="1" dirty="0">
                <a:solidFill>
                  <a:srgbClr val="17365D"/>
                </a:solidFill>
                <a:latin typeface="Calibri" pitchFamily="34" charset="0"/>
                <a:ea typeface="Calibri" pitchFamily="34" charset="-122"/>
                <a:cs typeface="Calibri" pitchFamily="34" charset="-120"/>
              </a:rPr>
              <a:t>Department of Information Technology</a:t>
            </a:r>
            <a:endParaRPr lang="en-US" sz="1600" dirty="0"/>
          </a:p>
        </p:txBody>
      </p:sp>
      <p:sp>
        <p:nvSpPr>
          <p:cNvPr id="11" name="Text 9"/>
          <p:cNvSpPr txBox="1"/>
          <p:nvPr/>
        </p:nvSpPr>
        <p:spPr>
          <a:xfrm>
            <a:off x="914400" y="5440680"/>
            <a:ext cx="10362895" cy="256032"/>
          </a:xfrm>
          <a:prstGeom prst="rect">
            <a:avLst/>
          </a:prstGeom>
          <a:noFill/>
          <a:ln/>
        </p:spPr>
        <p:txBody>
          <a:bodyPr wrap="square" lIns="0" tIns="0" rIns="0" bIns="0" rtlCol="0" anchor="ctr"/>
          <a:lstStyle/>
          <a:p>
            <a:pPr marL="0" indent="0" algn="ctr">
              <a:buNone/>
            </a:pPr>
            <a:r>
              <a:rPr lang="en-US" sz="1200" dirty="0">
                <a:solidFill>
                  <a:srgbClr val="5D6B7A"/>
                </a:solidFill>
                <a:latin typeface="Calibri" pitchFamily="34" charset="0"/>
                <a:ea typeface="Calibri" pitchFamily="34" charset="-122"/>
                <a:cs typeface="Calibri" pitchFamily="34" charset="-120"/>
              </a:rPr>
              <a:t>KPR Institute of Engineering and Technology</a:t>
            </a:r>
            <a:endParaRPr lang="en-US" sz="1200" dirty="0"/>
          </a:p>
        </p:txBody>
      </p:sp>
      <p:sp>
        <p:nvSpPr>
          <p:cNvPr id="12" name="Text 10"/>
          <p:cNvSpPr txBox="1"/>
          <p:nvPr/>
        </p:nvSpPr>
        <p:spPr>
          <a:xfrm>
            <a:off x="914400" y="5715000"/>
            <a:ext cx="10362895" cy="256032"/>
          </a:xfrm>
          <a:prstGeom prst="rect">
            <a:avLst/>
          </a:prstGeom>
          <a:noFill/>
          <a:ln/>
        </p:spPr>
        <p:txBody>
          <a:bodyPr wrap="square" lIns="0" tIns="0" rIns="0" bIns="0" rtlCol="0" anchor="ctr"/>
          <a:lstStyle/>
          <a:p>
            <a:pPr marL="0" indent="0" algn="ctr">
              <a:buNone/>
            </a:pPr>
            <a:r>
              <a:rPr lang="en-US" sz="1200" dirty="0">
                <a:solidFill>
                  <a:srgbClr val="8A1C1C"/>
                </a:solidFill>
                <a:latin typeface="Calibri" pitchFamily="34" charset="0"/>
                <a:ea typeface="Calibri" pitchFamily="34" charset="-122"/>
                <a:cs typeface="Calibri" pitchFamily="34" charset="-120"/>
              </a:rPr>
              <a:t>Academic Year 2026–2027</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7F9FC"/>
        </a:solidFill>
        <a:effectLst/>
      </p:bgPr>
    </p:bg>
    <p:spTree>
      <p:nvGrpSpPr>
        <p:cNvPr id="1" name=""/>
        <p:cNvGrpSpPr/>
        <p:nvPr/>
      </p:nvGrpSpPr>
      <p:grpSpPr>
        <a:xfrm>
          <a:off x="0" y="0"/>
          <a:ext cx="0" cy="0"/>
          <a:chOff x="0" y="0"/>
          <a:chExt cx="0" cy="0"/>
        </a:xfrm>
      </p:grpSpPr>
      <p:sp>
        <p:nvSpPr>
          <p:cNvPr id="2" name="Shape 0"/>
          <p:cNvSpPr/>
          <p:nvPr/>
        </p:nvSpPr>
        <p:spPr>
          <a:xfrm>
            <a:off x="0" y="0"/>
            <a:ext cx="12191695" cy="256032"/>
          </a:xfrm>
          <a:prstGeom prst="rect">
            <a:avLst/>
          </a:prstGeom>
          <a:solidFill>
            <a:srgbClr val="17365D"/>
          </a:solidFill>
          <a:ln w="12700">
            <a:solidFill>
              <a:srgbClr val="17365D"/>
            </a:solidFill>
            <a:prstDash val="solid"/>
          </a:ln>
        </p:spPr>
      </p:sp>
      <p:sp>
        <p:nvSpPr>
          <p:cNvPr id="3" name="Text 1"/>
          <p:cNvSpPr txBox="1"/>
          <p:nvPr/>
        </p:nvSpPr>
        <p:spPr>
          <a:xfrm>
            <a:off x="594360" y="475488"/>
            <a:ext cx="10607040" cy="438912"/>
          </a:xfrm>
          <a:prstGeom prst="rect">
            <a:avLst/>
          </a:prstGeom>
          <a:noFill/>
          <a:ln/>
        </p:spPr>
        <p:txBody>
          <a:bodyPr wrap="square" lIns="0" tIns="0" rIns="0" bIns="0" rtlCol="0" anchor="ctr"/>
          <a:lstStyle/>
          <a:p>
            <a:pPr marL="0" indent="0" algn="l">
              <a:buNone/>
            </a:pPr>
            <a:r>
              <a:rPr lang="en-US" sz="2400" b="1" dirty="0">
                <a:solidFill>
                  <a:srgbClr val="17365D"/>
                </a:solidFill>
                <a:latin typeface="Calibri" pitchFamily="34" charset="0"/>
                <a:ea typeface="Calibri" pitchFamily="34" charset="-122"/>
                <a:cs typeface="Calibri" pitchFamily="34" charset="-120"/>
              </a:rPr>
              <a:t>2. The Real-World Problem</a:t>
            </a:r>
            <a:endParaRPr lang="en-US" sz="2400" dirty="0"/>
          </a:p>
        </p:txBody>
      </p:sp>
      <p:sp>
        <p:nvSpPr>
          <p:cNvPr id="4" name="Shape 2"/>
          <p:cNvSpPr/>
          <p:nvPr/>
        </p:nvSpPr>
        <p:spPr>
          <a:xfrm>
            <a:off x="594360" y="1005840"/>
            <a:ext cx="1097280" cy="0"/>
          </a:xfrm>
          <a:prstGeom prst="line">
            <a:avLst/>
          </a:prstGeom>
          <a:noFill/>
          <a:ln w="38100">
            <a:solidFill>
              <a:srgbClr val="8A1C1C"/>
            </a:solidFill>
            <a:prstDash val="solid"/>
          </a:ln>
        </p:spPr>
      </p:sp>
      <p:sp>
        <p:nvSpPr>
          <p:cNvPr id="5" name="Text 3"/>
          <p:cNvSpPr txBox="1"/>
          <p:nvPr/>
        </p:nvSpPr>
        <p:spPr>
          <a:xfrm>
            <a:off x="1920240" y="877824"/>
            <a:ext cx="8961120" cy="274320"/>
          </a:xfrm>
          <a:prstGeom prst="rect">
            <a:avLst/>
          </a:prstGeom>
          <a:noFill/>
          <a:ln/>
        </p:spPr>
        <p:txBody>
          <a:bodyPr wrap="square" lIns="0" tIns="0" rIns="0" bIns="0" rtlCol="0" anchor="ctr"/>
          <a:lstStyle/>
          <a:p>
            <a:pPr marL="0" indent="0" algn="l">
              <a:buNone/>
            </a:pPr>
            <a:r>
              <a:rPr lang="en-US" sz="1200" dirty="0">
                <a:solidFill>
                  <a:srgbClr val="5D6B7A"/>
                </a:solidFill>
                <a:latin typeface="Calibri" pitchFamily="34" charset="0"/>
                <a:ea typeface="Calibri" pitchFamily="34" charset="-122"/>
                <a:cs typeface="Calibri" pitchFamily="34" charset="-120"/>
              </a:rPr>
              <a:t>Conventional monitoring reacts; NeuroNet heals itself</a:t>
            </a:r>
            <a:endParaRPr lang="en-US" sz="1200" dirty="0"/>
          </a:p>
        </p:txBody>
      </p:sp>
      <p:sp>
        <p:nvSpPr>
          <p:cNvPr id="6" name="Shape 4"/>
          <p:cNvSpPr/>
          <p:nvPr/>
        </p:nvSpPr>
        <p:spPr>
          <a:xfrm>
            <a:off x="594360" y="6446520"/>
            <a:ext cx="11002975" cy="0"/>
          </a:xfrm>
          <a:prstGeom prst="line">
            <a:avLst/>
          </a:prstGeom>
          <a:noFill/>
          <a:ln w="9525">
            <a:solidFill>
              <a:srgbClr val="CBD5E1"/>
            </a:solidFill>
            <a:prstDash val="solid"/>
          </a:ln>
        </p:spPr>
      </p:sp>
      <p:sp>
        <p:nvSpPr>
          <p:cNvPr id="7" name="Text 5"/>
          <p:cNvSpPr txBox="1"/>
          <p:nvPr/>
        </p:nvSpPr>
        <p:spPr>
          <a:xfrm>
            <a:off x="594360" y="6492240"/>
            <a:ext cx="6858000" cy="219456"/>
          </a:xfrm>
          <a:prstGeom prst="rect">
            <a:avLst/>
          </a:prstGeom>
          <a:noFill/>
          <a:ln/>
        </p:spPr>
        <p:txBody>
          <a:bodyPr wrap="square" lIns="0" tIns="0" rIns="0" bIns="0" rtlCol="0" anchor="ctr"/>
          <a:lstStyle/>
          <a:p>
            <a:pPr marL="0" indent="0" algn="l">
              <a:buNone/>
            </a:pPr>
            <a:r>
              <a:rPr lang="en-US" sz="900" dirty="0">
                <a:solidFill>
                  <a:srgbClr val="5D6B7A"/>
                </a:solidFill>
                <a:latin typeface="Calibri" pitchFamily="34" charset="0"/>
                <a:ea typeface="Calibri" pitchFamily="34" charset="-122"/>
                <a:cs typeface="Calibri" pitchFamily="34" charset="-120"/>
              </a:rPr>
              <a:t>KPR Institute of Engineering and Technology  |  Department of Information Technology</a:t>
            </a:r>
            <a:endParaRPr lang="en-US" sz="900" dirty="0"/>
          </a:p>
        </p:txBody>
      </p:sp>
      <p:sp>
        <p:nvSpPr>
          <p:cNvPr id="8" name="Text 6"/>
          <p:cNvSpPr txBox="1"/>
          <p:nvPr/>
        </p:nvSpPr>
        <p:spPr>
          <a:xfrm>
            <a:off x="7939735" y="6492240"/>
            <a:ext cx="3657600" cy="219456"/>
          </a:xfrm>
          <a:prstGeom prst="rect">
            <a:avLst/>
          </a:prstGeom>
          <a:noFill/>
          <a:ln/>
        </p:spPr>
        <p:txBody>
          <a:bodyPr wrap="square" lIns="0" tIns="0" rIns="0" bIns="0" rtlCol="0" anchor="ctr"/>
          <a:lstStyle/>
          <a:p>
            <a:pPr marL="0" indent="0" algn="r">
              <a:buNone/>
            </a:pPr>
            <a:r>
              <a:rPr lang="en-US" sz="900" b="1" dirty="0">
                <a:solidFill>
                  <a:srgbClr val="8A1C1C"/>
                </a:solidFill>
                <a:latin typeface="Calibri" pitchFamily="34" charset="0"/>
                <a:ea typeface="Calibri" pitchFamily="34" charset="-122"/>
                <a:cs typeface="Calibri" pitchFamily="34" charset="-120"/>
              </a:rPr>
              <a:t>REVIEW – III   |  2  </a:t>
            </a:r>
            <a:endParaRPr lang="en-US" sz="900" dirty="0"/>
          </a:p>
        </p:txBody>
      </p:sp>
      <p:sp>
        <p:nvSpPr>
          <p:cNvPr id="9" name="Text 7"/>
          <p:cNvSpPr txBox="1"/>
          <p:nvPr/>
        </p:nvSpPr>
        <p:spPr>
          <a:xfrm>
            <a:off x="594360" y="1417320"/>
            <a:ext cx="2743200" cy="274320"/>
          </a:xfrm>
          <a:prstGeom prst="rect">
            <a:avLst/>
          </a:prstGeom>
          <a:noFill/>
          <a:ln/>
        </p:spPr>
        <p:txBody>
          <a:bodyPr wrap="square" lIns="0" tIns="0" rIns="0" bIns="0" rtlCol="0" anchor="ctr"/>
          <a:lstStyle/>
          <a:p>
            <a:pPr marL="0" indent="0">
              <a:buNone/>
            </a:pPr>
            <a:r>
              <a:rPr lang="en-US" sz="1350" b="1" dirty="0">
                <a:solidFill>
                  <a:srgbClr val="17365D"/>
                </a:solidFill>
                <a:latin typeface="Calibri" pitchFamily="34" charset="0"/>
                <a:ea typeface="Calibri" pitchFamily="34" charset="-122"/>
                <a:cs typeface="Calibri" pitchFamily="34" charset="-120"/>
              </a:rPr>
              <a:t>Traditional Monitoring</a:t>
            </a:r>
            <a:endParaRPr lang="en-US" sz="1350" dirty="0"/>
          </a:p>
        </p:txBody>
      </p:sp>
      <p:sp>
        <p:nvSpPr>
          <p:cNvPr id="10" name="Shape 8"/>
          <p:cNvSpPr/>
          <p:nvPr/>
        </p:nvSpPr>
        <p:spPr>
          <a:xfrm>
            <a:off x="594360" y="1783080"/>
            <a:ext cx="1901952" cy="658368"/>
          </a:xfrm>
          <a:prstGeom prst="roundRect">
            <a:avLst>
              <a:gd name="adj" fmla="val 8333"/>
            </a:avLst>
          </a:prstGeom>
          <a:solidFill>
            <a:srgbClr val="EEF3F8"/>
          </a:solidFill>
          <a:ln w="12700">
            <a:solidFill>
              <a:srgbClr val="9FB0C3"/>
            </a:solidFill>
            <a:prstDash val="solid"/>
          </a:ln>
        </p:spPr>
      </p:sp>
      <p:sp>
        <p:nvSpPr>
          <p:cNvPr id="11" name="Text 9"/>
          <p:cNvSpPr txBox="1"/>
          <p:nvPr/>
        </p:nvSpPr>
        <p:spPr>
          <a:xfrm>
            <a:off x="640080" y="1783080"/>
            <a:ext cx="1810512" cy="658368"/>
          </a:xfrm>
          <a:prstGeom prst="rect">
            <a:avLst/>
          </a:prstGeom>
          <a:noFill/>
          <a:ln/>
        </p:spPr>
        <p:txBody>
          <a:bodyPr wrap="square" lIns="0" tIns="0" rIns="0" bIns="0" rtlCol="0" anchor="ctr"/>
          <a:lstStyle/>
          <a:p>
            <a:pPr marL="0" indent="0" algn="ctr">
              <a:buNone/>
            </a:pPr>
            <a:r>
              <a:rPr lang="en-US" sz="1050" b="1" dirty="0">
                <a:solidFill>
                  <a:srgbClr val="17365D"/>
                </a:solidFill>
                <a:latin typeface="Calibri" pitchFamily="34" charset="0"/>
                <a:ea typeface="Calibri" pitchFamily="34" charset="-122"/>
                <a:cs typeface="Calibri" pitchFamily="34" charset="-120"/>
              </a:rPr>
              <a:t>Issue begins</a:t>
            </a:r>
            <a:endParaRPr lang="en-US" sz="1050" dirty="0"/>
          </a:p>
        </p:txBody>
      </p:sp>
      <p:sp>
        <p:nvSpPr>
          <p:cNvPr id="12" name="Text 10"/>
          <p:cNvSpPr txBox="1"/>
          <p:nvPr/>
        </p:nvSpPr>
        <p:spPr>
          <a:xfrm>
            <a:off x="2523744" y="1956816"/>
            <a:ext cx="310896" cy="310896"/>
          </a:xfrm>
          <a:prstGeom prst="rect">
            <a:avLst/>
          </a:prstGeom>
          <a:noFill/>
          <a:ln/>
        </p:spPr>
        <p:txBody>
          <a:bodyPr wrap="square" lIns="0" tIns="0" rIns="0" bIns="0" rtlCol="0" anchor="ctr"/>
          <a:lstStyle/>
          <a:p>
            <a:pPr marL="0" indent="0" algn="ctr">
              <a:buNone/>
            </a:pPr>
            <a:r>
              <a:rPr lang="en-US" sz="1800" b="1" dirty="0">
                <a:solidFill>
                  <a:srgbClr val="8A1C1C"/>
                </a:solidFill>
                <a:latin typeface="Calibri" pitchFamily="34" charset="0"/>
                <a:ea typeface="Calibri" pitchFamily="34" charset="-122"/>
                <a:cs typeface="Calibri" pitchFamily="34" charset="-120"/>
              </a:rPr>
              <a:t>→</a:t>
            </a:r>
            <a:endParaRPr lang="en-US" sz="1800" dirty="0"/>
          </a:p>
        </p:txBody>
      </p:sp>
      <p:sp>
        <p:nvSpPr>
          <p:cNvPr id="13" name="Shape 11"/>
          <p:cNvSpPr/>
          <p:nvPr/>
        </p:nvSpPr>
        <p:spPr>
          <a:xfrm>
            <a:off x="2862072" y="1783080"/>
            <a:ext cx="1901952" cy="658368"/>
          </a:xfrm>
          <a:prstGeom prst="roundRect">
            <a:avLst>
              <a:gd name="adj" fmla="val 8333"/>
            </a:avLst>
          </a:prstGeom>
          <a:solidFill>
            <a:srgbClr val="EEF3F8"/>
          </a:solidFill>
          <a:ln w="12700">
            <a:solidFill>
              <a:srgbClr val="9FB0C3"/>
            </a:solidFill>
            <a:prstDash val="solid"/>
          </a:ln>
        </p:spPr>
      </p:sp>
      <p:sp>
        <p:nvSpPr>
          <p:cNvPr id="14" name="Text 12"/>
          <p:cNvSpPr txBox="1"/>
          <p:nvPr/>
        </p:nvSpPr>
        <p:spPr>
          <a:xfrm>
            <a:off x="2907792" y="1783080"/>
            <a:ext cx="1810512" cy="658368"/>
          </a:xfrm>
          <a:prstGeom prst="rect">
            <a:avLst/>
          </a:prstGeom>
          <a:noFill/>
          <a:ln/>
        </p:spPr>
        <p:txBody>
          <a:bodyPr wrap="square" lIns="0" tIns="0" rIns="0" bIns="0" rtlCol="0" anchor="ctr"/>
          <a:lstStyle/>
          <a:p>
            <a:pPr marL="0" indent="0" algn="ctr">
              <a:buNone/>
            </a:pPr>
            <a:r>
              <a:rPr lang="en-US" sz="1050" b="1" dirty="0">
                <a:solidFill>
                  <a:srgbClr val="17365D"/>
                </a:solidFill>
                <a:latin typeface="Calibri" pitchFamily="34" charset="0"/>
                <a:ea typeface="Calibri" pitchFamily="34" charset="-122"/>
                <a:cs typeface="Calibri" pitchFamily="34" charset="-120"/>
              </a:rPr>
              <a:t>Threshold alert fires</a:t>
            </a:r>
            <a:endParaRPr lang="en-US" sz="1050" dirty="0"/>
          </a:p>
        </p:txBody>
      </p:sp>
      <p:sp>
        <p:nvSpPr>
          <p:cNvPr id="15" name="Text 13"/>
          <p:cNvSpPr txBox="1"/>
          <p:nvPr/>
        </p:nvSpPr>
        <p:spPr>
          <a:xfrm>
            <a:off x="4791456" y="1956816"/>
            <a:ext cx="310896" cy="310896"/>
          </a:xfrm>
          <a:prstGeom prst="rect">
            <a:avLst/>
          </a:prstGeom>
          <a:noFill/>
          <a:ln/>
        </p:spPr>
        <p:txBody>
          <a:bodyPr wrap="square" lIns="0" tIns="0" rIns="0" bIns="0" rtlCol="0" anchor="ctr"/>
          <a:lstStyle/>
          <a:p>
            <a:pPr marL="0" indent="0" algn="ctr">
              <a:buNone/>
            </a:pPr>
            <a:r>
              <a:rPr lang="en-US" sz="1800" b="1" dirty="0">
                <a:solidFill>
                  <a:srgbClr val="8A1C1C"/>
                </a:solidFill>
                <a:latin typeface="Calibri" pitchFamily="34" charset="0"/>
                <a:ea typeface="Calibri" pitchFamily="34" charset="-122"/>
                <a:cs typeface="Calibri" pitchFamily="34" charset="-120"/>
              </a:rPr>
              <a:t>→</a:t>
            </a:r>
            <a:endParaRPr lang="en-US" sz="1800" dirty="0"/>
          </a:p>
        </p:txBody>
      </p:sp>
      <p:sp>
        <p:nvSpPr>
          <p:cNvPr id="16" name="Shape 14"/>
          <p:cNvSpPr/>
          <p:nvPr/>
        </p:nvSpPr>
        <p:spPr>
          <a:xfrm>
            <a:off x="5129784" y="1783080"/>
            <a:ext cx="1901952" cy="658368"/>
          </a:xfrm>
          <a:prstGeom prst="roundRect">
            <a:avLst>
              <a:gd name="adj" fmla="val 8333"/>
            </a:avLst>
          </a:prstGeom>
          <a:solidFill>
            <a:srgbClr val="EEF3F8"/>
          </a:solidFill>
          <a:ln w="12700">
            <a:solidFill>
              <a:srgbClr val="9FB0C3"/>
            </a:solidFill>
            <a:prstDash val="solid"/>
          </a:ln>
        </p:spPr>
      </p:sp>
      <p:sp>
        <p:nvSpPr>
          <p:cNvPr id="17" name="Text 15"/>
          <p:cNvSpPr txBox="1"/>
          <p:nvPr/>
        </p:nvSpPr>
        <p:spPr>
          <a:xfrm>
            <a:off x="5175504" y="1783080"/>
            <a:ext cx="1810512" cy="658368"/>
          </a:xfrm>
          <a:prstGeom prst="rect">
            <a:avLst/>
          </a:prstGeom>
          <a:noFill/>
          <a:ln/>
        </p:spPr>
        <p:txBody>
          <a:bodyPr wrap="square" lIns="0" tIns="0" rIns="0" bIns="0" rtlCol="0" anchor="ctr"/>
          <a:lstStyle/>
          <a:p>
            <a:pPr marL="0" indent="0" algn="ctr">
              <a:buNone/>
            </a:pPr>
            <a:r>
              <a:rPr lang="en-US" sz="1050" b="1" dirty="0">
                <a:solidFill>
                  <a:srgbClr val="17365D"/>
                </a:solidFill>
                <a:latin typeface="Calibri" pitchFamily="34" charset="0"/>
                <a:ea typeface="Calibri" pitchFamily="34" charset="-122"/>
                <a:cs typeface="Calibri" pitchFamily="34" charset="-120"/>
              </a:rPr>
              <a:t>Engineer reads &amp;</a:t>
            </a:r>
            <a:endParaRPr lang="en-US" sz="1050" dirty="0"/>
          </a:p>
          <a:p>
            <a:pPr marL="0" indent="0" algn="ctr">
              <a:buNone/>
            </a:pPr>
            <a:r>
              <a:rPr lang="en-US" sz="1050" b="1" dirty="0">
                <a:solidFill>
                  <a:srgbClr val="17365D"/>
                </a:solidFill>
                <a:latin typeface="Calibri" pitchFamily="34" charset="0"/>
                <a:ea typeface="Calibri" pitchFamily="34" charset="-122"/>
                <a:cs typeface="Calibri" pitchFamily="34" charset="-120"/>
              </a:rPr>
              <a:t>assesses</a:t>
            </a:r>
            <a:endParaRPr lang="en-US" sz="1050" dirty="0"/>
          </a:p>
        </p:txBody>
      </p:sp>
      <p:sp>
        <p:nvSpPr>
          <p:cNvPr id="18" name="Text 16"/>
          <p:cNvSpPr txBox="1"/>
          <p:nvPr/>
        </p:nvSpPr>
        <p:spPr>
          <a:xfrm>
            <a:off x="7059168" y="1956816"/>
            <a:ext cx="310896" cy="310896"/>
          </a:xfrm>
          <a:prstGeom prst="rect">
            <a:avLst/>
          </a:prstGeom>
          <a:noFill/>
          <a:ln/>
        </p:spPr>
        <p:txBody>
          <a:bodyPr wrap="square" lIns="0" tIns="0" rIns="0" bIns="0" rtlCol="0" anchor="ctr"/>
          <a:lstStyle/>
          <a:p>
            <a:pPr marL="0" indent="0" algn="ctr">
              <a:buNone/>
            </a:pPr>
            <a:r>
              <a:rPr lang="en-US" sz="1800" b="1" dirty="0">
                <a:solidFill>
                  <a:srgbClr val="8A1C1C"/>
                </a:solidFill>
                <a:latin typeface="Calibri" pitchFamily="34" charset="0"/>
                <a:ea typeface="Calibri" pitchFamily="34" charset="-122"/>
                <a:cs typeface="Calibri" pitchFamily="34" charset="-120"/>
              </a:rPr>
              <a:t>→</a:t>
            </a:r>
            <a:endParaRPr lang="en-US" sz="1800" dirty="0"/>
          </a:p>
        </p:txBody>
      </p:sp>
      <p:sp>
        <p:nvSpPr>
          <p:cNvPr id="19" name="Shape 17"/>
          <p:cNvSpPr/>
          <p:nvPr/>
        </p:nvSpPr>
        <p:spPr>
          <a:xfrm>
            <a:off x="7397496" y="1783080"/>
            <a:ext cx="1901952" cy="658368"/>
          </a:xfrm>
          <a:prstGeom prst="roundRect">
            <a:avLst>
              <a:gd name="adj" fmla="val 8333"/>
            </a:avLst>
          </a:prstGeom>
          <a:solidFill>
            <a:srgbClr val="EEF3F8"/>
          </a:solidFill>
          <a:ln w="12700">
            <a:solidFill>
              <a:srgbClr val="9FB0C3"/>
            </a:solidFill>
            <a:prstDash val="solid"/>
          </a:ln>
        </p:spPr>
      </p:sp>
      <p:sp>
        <p:nvSpPr>
          <p:cNvPr id="20" name="Text 18"/>
          <p:cNvSpPr txBox="1"/>
          <p:nvPr/>
        </p:nvSpPr>
        <p:spPr>
          <a:xfrm>
            <a:off x="7443216" y="1783080"/>
            <a:ext cx="1810512" cy="658368"/>
          </a:xfrm>
          <a:prstGeom prst="rect">
            <a:avLst/>
          </a:prstGeom>
          <a:noFill/>
          <a:ln/>
        </p:spPr>
        <p:txBody>
          <a:bodyPr wrap="square" lIns="0" tIns="0" rIns="0" bIns="0" rtlCol="0" anchor="ctr"/>
          <a:lstStyle/>
          <a:p>
            <a:pPr marL="0" indent="0" algn="ctr">
              <a:buNone/>
            </a:pPr>
            <a:r>
              <a:rPr lang="en-US" sz="1050" b="1" dirty="0">
                <a:solidFill>
                  <a:srgbClr val="17365D"/>
                </a:solidFill>
                <a:latin typeface="Calibri" pitchFamily="34" charset="0"/>
                <a:ea typeface="Calibri" pitchFamily="34" charset="-122"/>
                <a:cs typeface="Calibri" pitchFamily="34" charset="-120"/>
              </a:rPr>
              <a:t>Manual fix applied</a:t>
            </a:r>
            <a:endParaRPr lang="en-US" sz="1050" dirty="0"/>
          </a:p>
        </p:txBody>
      </p:sp>
      <p:sp>
        <p:nvSpPr>
          <p:cNvPr id="21" name="Shape 19"/>
          <p:cNvSpPr/>
          <p:nvPr/>
        </p:nvSpPr>
        <p:spPr>
          <a:xfrm>
            <a:off x="9573768" y="1783080"/>
            <a:ext cx="1371600" cy="658368"/>
          </a:xfrm>
          <a:prstGeom prst="roundRect">
            <a:avLst>
              <a:gd name="adj" fmla="val 8333"/>
            </a:avLst>
          </a:prstGeom>
          <a:solidFill>
            <a:srgbClr val="FCEAEA"/>
          </a:solidFill>
          <a:ln w="12700">
            <a:solidFill>
              <a:srgbClr val="8A1C1C"/>
            </a:solidFill>
            <a:prstDash val="solid"/>
          </a:ln>
        </p:spPr>
      </p:sp>
      <p:sp>
        <p:nvSpPr>
          <p:cNvPr id="22" name="Text 20"/>
          <p:cNvSpPr txBox="1"/>
          <p:nvPr/>
        </p:nvSpPr>
        <p:spPr>
          <a:xfrm>
            <a:off x="9573768" y="1783080"/>
            <a:ext cx="1371600" cy="658368"/>
          </a:xfrm>
          <a:prstGeom prst="rect">
            <a:avLst/>
          </a:prstGeom>
          <a:noFill/>
          <a:ln/>
        </p:spPr>
        <p:txBody>
          <a:bodyPr wrap="square" lIns="0" tIns="0" rIns="0" bIns="0" rtlCol="0" anchor="ctr"/>
          <a:lstStyle/>
          <a:p>
            <a:pPr marL="0" indent="0" algn="ctr">
              <a:buNone/>
            </a:pPr>
            <a:r>
              <a:rPr lang="en-US" sz="1400" b="1" dirty="0">
                <a:solidFill>
                  <a:srgbClr val="8A1C1C"/>
                </a:solidFill>
                <a:latin typeface="Calibri" pitchFamily="34" charset="0"/>
                <a:ea typeface="Calibri" pitchFamily="34" charset="-122"/>
                <a:cs typeface="Calibri" pitchFamily="34" charset="-120"/>
              </a:rPr>
              <a:t>~3–5 min*</a:t>
            </a:r>
            <a:endParaRPr lang="en-US" sz="1400" dirty="0"/>
          </a:p>
        </p:txBody>
      </p:sp>
      <p:sp>
        <p:nvSpPr>
          <p:cNvPr id="23" name="Text 21"/>
          <p:cNvSpPr txBox="1"/>
          <p:nvPr/>
        </p:nvSpPr>
        <p:spPr>
          <a:xfrm>
            <a:off x="594360" y="3124261"/>
            <a:ext cx="2743200" cy="274320"/>
          </a:xfrm>
          <a:prstGeom prst="rect">
            <a:avLst/>
          </a:prstGeom>
          <a:noFill/>
          <a:ln/>
        </p:spPr>
        <p:txBody>
          <a:bodyPr wrap="square" lIns="0" tIns="0" rIns="0" bIns="0" rtlCol="0" anchor="ctr"/>
          <a:lstStyle/>
          <a:p>
            <a:pPr marL="0" indent="0">
              <a:buNone/>
            </a:pPr>
            <a:r>
              <a:rPr lang="en-US" sz="1350" b="1" dirty="0">
                <a:solidFill>
                  <a:srgbClr val="17365D"/>
                </a:solidFill>
                <a:latin typeface="Calibri" pitchFamily="34" charset="0"/>
                <a:ea typeface="Calibri" pitchFamily="34" charset="-122"/>
                <a:cs typeface="Calibri" pitchFamily="34" charset="-120"/>
              </a:rPr>
              <a:t>NeuroNet Self-Healing Loop</a:t>
            </a:r>
            <a:endParaRPr lang="en-US" sz="1350" dirty="0"/>
          </a:p>
        </p:txBody>
      </p:sp>
      <p:sp>
        <p:nvSpPr>
          <p:cNvPr id="24" name="Shape 22"/>
          <p:cNvSpPr/>
          <p:nvPr/>
        </p:nvSpPr>
        <p:spPr>
          <a:xfrm>
            <a:off x="594360" y="3725900"/>
            <a:ext cx="1901952" cy="658368"/>
          </a:xfrm>
          <a:prstGeom prst="roundRect">
            <a:avLst>
              <a:gd name="adj" fmla="val 8333"/>
            </a:avLst>
          </a:prstGeom>
          <a:solidFill>
            <a:srgbClr val="EEF3F8"/>
          </a:solidFill>
          <a:ln w="12700">
            <a:solidFill>
              <a:srgbClr val="9FB0C3"/>
            </a:solidFill>
            <a:prstDash val="solid"/>
          </a:ln>
        </p:spPr>
      </p:sp>
      <p:sp>
        <p:nvSpPr>
          <p:cNvPr id="25" name="Text 23"/>
          <p:cNvSpPr txBox="1"/>
          <p:nvPr/>
        </p:nvSpPr>
        <p:spPr>
          <a:xfrm>
            <a:off x="640080" y="3728887"/>
            <a:ext cx="1810512" cy="658368"/>
          </a:xfrm>
          <a:prstGeom prst="rect">
            <a:avLst/>
          </a:prstGeom>
          <a:noFill/>
          <a:ln/>
        </p:spPr>
        <p:txBody>
          <a:bodyPr wrap="square" lIns="0" tIns="0" rIns="0" bIns="0" rtlCol="0" anchor="ctr"/>
          <a:lstStyle/>
          <a:p>
            <a:pPr marL="0" indent="0" algn="ctr">
              <a:buNone/>
            </a:pPr>
            <a:r>
              <a:rPr lang="en-US" sz="1050" b="1" dirty="0">
                <a:solidFill>
                  <a:srgbClr val="17365D"/>
                </a:solidFill>
                <a:latin typeface="Calibri" pitchFamily="34" charset="0"/>
                <a:ea typeface="Calibri" pitchFamily="34" charset="-122"/>
                <a:cs typeface="Calibri" pitchFamily="34" charset="-120"/>
              </a:rPr>
              <a:t>Issue begins</a:t>
            </a:r>
            <a:endParaRPr lang="en-US" sz="1050" dirty="0"/>
          </a:p>
        </p:txBody>
      </p:sp>
      <p:sp>
        <p:nvSpPr>
          <p:cNvPr id="26" name="Text 24"/>
          <p:cNvSpPr txBox="1"/>
          <p:nvPr/>
        </p:nvSpPr>
        <p:spPr>
          <a:xfrm>
            <a:off x="2533821" y="3914565"/>
            <a:ext cx="310896" cy="310896"/>
          </a:xfrm>
          <a:prstGeom prst="rect">
            <a:avLst/>
          </a:prstGeom>
          <a:noFill/>
          <a:ln/>
        </p:spPr>
        <p:txBody>
          <a:bodyPr wrap="square" lIns="0" tIns="0" rIns="0" bIns="0" rtlCol="0" anchor="ctr"/>
          <a:lstStyle/>
          <a:p>
            <a:pPr marL="0" indent="0" algn="ctr">
              <a:buNone/>
            </a:pPr>
            <a:r>
              <a:rPr lang="en-US" sz="1800" b="1" dirty="0">
                <a:solidFill>
                  <a:srgbClr val="8A1C1C"/>
                </a:solidFill>
                <a:latin typeface="Calibri" pitchFamily="34" charset="0"/>
                <a:ea typeface="Calibri" pitchFamily="34" charset="-122"/>
                <a:cs typeface="Calibri" pitchFamily="34" charset="-120"/>
              </a:rPr>
              <a:t>→</a:t>
            </a:r>
            <a:endParaRPr lang="en-US" sz="1800" dirty="0"/>
          </a:p>
        </p:txBody>
      </p:sp>
      <p:sp>
        <p:nvSpPr>
          <p:cNvPr id="27" name="Shape 25"/>
          <p:cNvSpPr/>
          <p:nvPr/>
        </p:nvSpPr>
        <p:spPr>
          <a:xfrm>
            <a:off x="2907792" y="3740829"/>
            <a:ext cx="1901952" cy="658368"/>
          </a:xfrm>
          <a:prstGeom prst="roundRect">
            <a:avLst>
              <a:gd name="adj" fmla="val 8333"/>
            </a:avLst>
          </a:prstGeom>
          <a:solidFill>
            <a:srgbClr val="EEF3F8"/>
          </a:solidFill>
          <a:ln w="12700">
            <a:solidFill>
              <a:srgbClr val="9FB0C3"/>
            </a:solidFill>
            <a:prstDash val="solid"/>
          </a:ln>
        </p:spPr>
      </p:sp>
      <p:sp>
        <p:nvSpPr>
          <p:cNvPr id="28" name="Text 26"/>
          <p:cNvSpPr txBox="1"/>
          <p:nvPr/>
        </p:nvSpPr>
        <p:spPr>
          <a:xfrm>
            <a:off x="2890437" y="3725527"/>
            <a:ext cx="1810512" cy="658368"/>
          </a:xfrm>
          <a:prstGeom prst="rect">
            <a:avLst/>
          </a:prstGeom>
          <a:noFill/>
          <a:ln/>
        </p:spPr>
        <p:txBody>
          <a:bodyPr wrap="square" lIns="0" tIns="0" rIns="0" bIns="0" rtlCol="0" anchor="ctr"/>
          <a:lstStyle/>
          <a:p>
            <a:pPr marL="0" indent="0" algn="ctr">
              <a:buNone/>
            </a:pPr>
            <a:r>
              <a:rPr lang="en-US" sz="1050" b="1" dirty="0">
                <a:solidFill>
                  <a:srgbClr val="17365D"/>
                </a:solidFill>
                <a:latin typeface="Calibri" pitchFamily="34" charset="0"/>
                <a:ea typeface="Calibri" pitchFamily="34" charset="-122"/>
                <a:cs typeface="Calibri" pitchFamily="34" charset="-120"/>
              </a:rPr>
              <a:t>Anomaly detected</a:t>
            </a:r>
            <a:endParaRPr lang="en-US" sz="1050" dirty="0"/>
          </a:p>
        </p:txBody>
      </p:sp>
      <p:sp>
        <p:nvSpPr>
          <p:cNvPr id="29" name="Text 27"/>
          <p:cNvSpPr txBox="1"/>
          <p:nvPr/>
        </p:nvSpPr>
        <p:spPr>
          <a:xfrm>
            <a:off x="4828779" y="3927628"/>
            <a:ext cx="310896" cy="310896"/>
          </a:xfrm>
          <a:prstGeom prst="rect">
            <a:avLst/>
          </a:prstGeom>
          <a:noFill/>
          <a:ln/>
        </p:spPr>
        <p:txBody>
          <a:bodyPr wrap="square" lIns="0" tIns="0" rIns="0" bIns="0" rtlCol="0" anchor="ctr"/>
          <a:lstStyle/>
          <a:p>
            <a:pPr marL="0" indent="0" algn="ctr">
              <a:buNone/>
            </a:pPr>
            <a:r>
              <a:rPr lang="en-US" sz="1800" b="1" dirty="0">
                <a:solidFill>
                  <a:srgbClr val="8A1C1C"/>
                </a:solidFill>
                <a:latin typeface="Calibri" pitchFamily="34" charset="0"/>
                <a:ea typeface="Calibri" pitchFamily="34" charset="-122"/>
                <a:cs typeface="Calibri" pitchFamily="34" charset="-120"/>
              </a:rPr>
              <a:t>→</a:t>
            </a:r>
            <a:endParaRPr lang="en-US" sz="1800" dirty="0"/>
          </a:p>
        </p:txBody>
      </p:sp>
      <p:sp>
        <p:nvSpPr>
          <p:cNvPr id="30" name="Shape 28"/>
          <p:cNvSpPr/>
          <p:nvPr/>
        </p:nvSpPr>
        <p:spPr>
          <a:xfrm>
            <a:off x="5185395" y="3702015"/>
            <a:ext cx="1901952" cy="658368"/>
          </a:xfrm>
          <a:prstGeom prst="roundRect">
            <a:avLst>
              <a:gd name="adj" fmla="val 8333"/>
            </a:avLst>
          </a:prstGeom>
          <a:solidFill>
            <a:srgbClr val="EEF3F8"/>
          </a:solidFill>
          <a:ln w="12700">
            <a:solidFill>
              <a:srgbClr val="9FB0C3"/>
            </a:solidFill>
            <a:prstDash val="solid"/>
          </a:ln>
        </p:spPr>
      </p:sp>
      <p:sp>
        <p:nvSpPr>
          <p:cNvPr id="31" name="Text 29"/>
          <p:cNvSpPr txBox="1"/>
          <p:nvPr/>
        </p:nvSpPr>
        <p:spPr>
          <a:xfrm>
            <a:off x="5190591" y="3725527"/>
            <a:ext cx="1810512" cy="658368"/>
          </a:xfrm>
          <a:prstGeom prst="rect">
            <a:avLst/>
          </a:prstGeom>
          <a:noFill/>
          <a:ln/>
        </p:spPr>
        <p:txBody>
          <a:bodyPr wrap="square" lIns="0" tIns="0" rIns="0" bIns="0" rtlCol="0" anchor="ctr"/>
          <a:lstStyle/>
          <a:p>
            <a:pPr marL="0" indent="0" algn="ctr">
              <a:buNone/>
            </a:pPr>
            <a:r>
              <a:rPr lang="en-US" sz="1050" b="1" dirty="0">
                <a:solidFill>
                  <a:srgbClr val="17365D"/>
                </a:solidFill>
                <a:latin typeface="Calibri" pitchFamily="34" charset="0"/>
                <a:ea typeface="Calibri" pitchFamily="34" charset="-122"/>
                <a:cs typeface="Calibri" pitchFamily="34" charset="-120"/>
              </a:rPr>
              <a:t>RL agent decides</a:t>
            </a:r>
            <a:endParaRPr lang="en-US" sz="1050" dirty="0"/>
          </a:p>
        </p:txBody>
      </p:sp>
      <p:sp>
        <p:nvSpPr>
          <p:cNvPr id="32" name="Text 30"/>
          <p:cNvSpPr txBox="1"/>
          <p:nvPr/>
        </p:nvSpPr>
        <p:spPr>
          <a:xfrm>
            <a:off x="7071054" y="3914565"/>
            <a:ext cx="310896" cy="310896"/>
          </a:xfrm>
          <a:prstGeom prst="rect">
            <a:avLst/>
          </a:prstGeom>
          <a:noFill/>
          <a:ln/>
        </p:spPr>
        <p:txBody>
          <a:bodyPr wrap="square" lIns="0" tIns="0" rIns="0" bIns="0" rtlCol="0" anchor="ctr"/>
          <a:lstStyle/>
          <a:p>
            <a:pPr marL="0" indent="0" algn="ctr">
              <a:buNone/>
            </a:pPr>
            <a:r>
              <a:rPr lang="en-US" sz="1800" b="1" dirty="0">
                <a:solidFill>
                  <a:srgbClr val="8A1C1C"/>
                </a:solidFill>
                <a:latin typeface="Calibri" pitchFamily="34" charset="0"/>
                <a:ea typeface="Calibri" pitchFamily="34" charset="-122"/>
                <a:cs typeface="Calibri" pitchFamily="34" charset="-120"/>
              </a:rPr>
              <a:t>→</a:t>
            </a:r>
            <a:endParaRPr lang="en-US" sz="1800" dirty="0"/>
          </a:p>
        </p:txBody>
      </p:sp>
      <p:sp>
        <p:nvSpPr>
          <p:cNvPr id="33" name="Shape 31"/>
          <p:cNvSpPr/>
          <p:nvPr/>
        </p:nvSpPr>
        <p:spPr>
          <a:xfrm>
            <a:off x="7435752" y="3688951"/>
            <a:ext cx="1901952" cy="658368"/>
          </a:xfrm>
          <a:prstGeom prst="roundRect">
            <a:avLst>
              <a:gd name="adj" fmla="val 8333"/>
            </a:avLst>
          </a:prstGeom>
          <a:solidFill>
            <a:srgbClr val="EEF3F8"/>
          </a:solidFill>
          <a:ln w="12700">
            <a:solidFill>
              <a:srgbClr val="9FB0C3"/>
            </a:solidFill>
            <a:prstDash val="solid"/>
          </a:ln>
        </p:spPr>
      </p:sp>
      <p:sp>
        <p:nvSpPr>
          <p:cNvPr id="34" name="Text 32"/>
          <p:cNvSpPr txBox="1"/>
          <p:nvPr/>
        </p:nvSpPr>
        <p:spPr>
          <a:xfrm>
            <a:off x="7443216" y="3643232"/>
            <a:ext cx="1810512" cy="658368"/>
          </a:xfrm>
          <a:prstGeom prst="rect">
            <a:avLst/>
          </a:prstGeom>
          <a:noFill/>
          <a:ln/>
        </p:spPr>
        <p:txBody>
          <a:bodyPr wrap="square" lIns="0" tIns="0" rIns="0" bIns="0" rtlCol="0" anchor="ctr"/>
          <a:lstStyle/>
          <a:p>
            <a:pPr marL="0" indent="0" algn="ctr">
              <a:buNone/>
            </a:pPr>
            <a:r>
              <a:rPr lang="en-US" sz="1050" b="1" dirty="0">
                <a:solidFill>
                  <a:srgbClr val="17365D"/>
                </a:solidFill>
                <a:latin typeface="Calibri" pitchFamily="34" charset="0"/>
                <a:ea typeface="Calibri" pitchFamily="34" charset="-122"/>
                <a:cs typeface="Calibri" pitchFamily="34" charset="-120"/>
              </a:rPr>
              <a:t>Fix applied &amp;</a:t>
            </a:r>
            <a:endParaRPr lang="en-US" sz="1050" dirty="0"/>
          </a:p>
          <a:p>
            <a:pPr marL="0" indent="0" algn="ctr">
              <a:buNone/>
            </a:pPr>
            <a:r>
              <a:rPr lang="en-US" sz="1050" b="1" dirty="0">
                <a:solidFill>
                  <a:srgbClr val="17365D"/>
                </a:solidFill>
                <a:latin typeface="Calibri" pitchFamily="34" charset="0"/>
                <a:ea typeface="Calibri" pitchFamily="34" charset="-122"/>
                <a:cs typeface="Calibri" pitchFamily="34" charset="-120"/>
              </a:rPr>
              <a:t>verified</a:t>
            </a:r>
            <a:endParaRPr lang="en-US" sz="1050" dirty="0"/>
          </a:p>
        </p:txBody>
      </p:sp>
      <p:sp>
        <p:nvSpPr>
          <p:cNvPr id="35" name="Shape 33"/>
          <p:cNvSpPr/>
          <p:nvPr/>
        </p:nvSpPr>
        <p:spPr>
          <a:xfrm>
            <a:off x="9573768" y="3702015"/>
            <a:ext cx="1371600" cy="658368"/>
          </a:xfrm>
          <a:prstGeom prst="roundRect">
            <a:avLst>
              <a:gd name="adj" fmla="val 8333"/>
            </a:avLst>
          </a:prstGeom>
          <a:solidFill>
            <a:srgbClr val="FCEAEA"/>
          </a:solidFill>
          <a:ln w="12700">
            <a:solidFill>
              <a:srgbClr val="8A1C1C"/>
            </a:solidFill>
            <a:prstDash val="solid"/>
          </a:ln>
        </p:spPr>
      </p:sp>
      <p:sp>
        <p:nvSpPr>
          <p:cNvPr id="36" name="Text 34"/>
          <p:cNvSpPr txBox="1"/>
          <p:nvPr/>
        </p:nvSpPr>
        <p:spPr>
          <a:xfrm>
            <a:off x="9573768" y="3688951"/>
            <a:ext cx="1371600" cy="658368"/>
          </a:xfrm>
          <a:prstGeom prst="rect">
            <a:avLst/>
          </a:prstGeom>
          <a:noFill/>
          <a:ln/>
        </p:spPr>
        <p:txBody>
          <a:bodyPr wrap="square" lIns="0" tIns="0" rIns="0" bIns="0" rtlCol="0" anchor="ctr"/>
          <a:lstStyle/>
          <a:p>
            <a:pPr marL="0" indent="0" algn="ctr">
              <a:buNone/>
            </a:pPr>
            <a:r>
              <a:rPr lang="en-US" sz="1400" b="1" dirty="0">
                <a:solidFill>
                  <a:srgbClr val="8A1C1C"/>
                </a:solidFill>
                <a:latin typeface="Calibri" pitchFamily="34" charset="0"/>
                <a:ea typeface="Calibri" pitchFamily="34" charset="-122"/>
                <a:cs typeface="Calibri" pitchFamily="34" charset="-120"/>
              </a:rPr>
              <a:t>Target &lt;50 ms</a:t>
            </a:r>
            <a:endParaRPr lang="en-US" sz="1400" dirty="0"/>
          </a:p>
        </p:txBody>
      </p:sp>
      <p:sp>
        <p:nvSpPr>
          <p:cNvPr id="37" name="Text 35"/>
          <p:cNvSpPr txBox="1"/>
          <p:nvPr/>
        </p:nvSpPr>
        <p:spPr>
          <a:xfrm>
            <a:off x="856793" y="5216932"/>
            <a:ext cx="10088575" cy="566928"/>
          </a:xfrm>
          <a:prstGeom prst="rect">
            <a:avLst/>
          </a:prstGeom>
          <a:noFill/>
          <a:ln/>
        </p:spPr>
        <p:txBody>
          <a:bodyPr wrap="square" lIns="0" tIns="0" rIns="0" bIns="0" rtlCol="0" anchor="ctr"/>
          <a:lstStyle/>
          <a:p>
            <a:pPr marL="0" indent="0" algn="ctr">
              <a:buNone/>
            </a:pPr>
            <a:r>
              <a:rPr lang="en-US" sz="1300" b="1" dirty="0">
                <a:solidFill>
                  <a:srgbClr val="8A1C1C"/>
                </a:solidFill>
                <a:latin typeface="Calibri" pitchFamily="34" charset="0"/>
                <a:ea typeface="Calibri" pitchFamily="34" charset="-122"/>
                <a:cs typeface="Calibri" pitchFamily="34" charset="-120"/>
              </a:rPr>
              <a:t>*Illustrative: manual time is a typical assumption and &lt;50 ms is a design target, not a measured result</a:t>
            </a:r>
            <a:endParaRPr lang="en-US" sz="13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7F9FC"/>
        </a:solidFill>
        <a:effectLst/>
      </p:bgPr>
    </p:bg>
    <p:spTree>
      <p:nvGrpSpPr>
        <p:cNvPr id="1" name=""/>
        <p:cNvGrpSpPr/>
        <p:nvPr/>
      </p:nvGrpSpPr>
      <p:grpSpPr>
        <a:xfrm>
          <a:off x="0" y="0"/>
          <a:ext cx="0" cy="0"/>
          <a:chOff x="0" y="0"/>
          <a:chExt cx="0" cy="0"/>
        </a:xfrm>
      </p:grpSpPr>
      <p:sp>
        <p:nvSpPr>
          <p:cNvPr id="2" name="Shape 0"/>
          <p:cNvSpPr/>
          <p:nvPr/>
        </p:nvSpPr>
        <p:spPr>
          <a:xfrm>
            <a:off x="0" y="0"/>
            <a:ext cx="12191695" cy="256032"/>
          </a:xfrm>
          <a:prstGeom prst="rect">
            <a:avLst/>
          </a:prstGeom>
          <a:solidFill>
            <a:srgbClr val="17365D"/>
          </a:solidFill>
          <a:ln w="12700">
            <a:solidFill>
              <a:srgbClr val="17365D"/>
            </a:solidFill>
            <a:prstDash val="solid"/>
          </a:ln>
        </p:spPr>
      </p:sp>
      <p:sp>
        <p:nvSpPr>
          <p:cNvPr id="3" name="Text 1"/>
          <p:cNvSpPr txBox="1"/>
          <p:nvPr/>
        </p:nvSpPr>
        <p:spPr>
          <a:xfrm>
            <a:off x="594360" y="475488"/>
            <a:ext cx="10607040" cy="438912"/>
          </a:xfrm>
          <a:prstGeom prst="rect">
            <a:avLst/>
          </a:prstGeom>
          <a:noFill/>
          <a:ln/>
        </p:spPr>
        <p:txBody>
          <a:bodyPr wrap="square" lIns="0" tIns="0" rIns="0" bIns="0" rtlCol="0" anchor="ctr"/>
          <a:lstStyle/>
          <a:p>
            <a:pPr marL="0" indent="0" algn="l">
              <a:buNone/>
            </a:pPr>
            <a:r>
              <a:rPr lang="en-US" sz="2400" b="1" dirty="0">
                <a:solidFill>
                  <a:srgbClr val="17365D"/>
                </a:solidFill>
                <a:latin typeface="Calibri" pitchFamily="34" charset="0"/>
                <a:ea typeface="Calibri" pitchFamily="34" charset="-122"/>
                <a:cs typeface="Calibri" pitchFamily="34" charset="-120"/>
              </a:rPr>
              <a:t>3. Research Gap &amp; Novelty</a:t>
            </a:r>
            <a:endParaRPr lang="en-US" sz="2400" dirty="0"/>
          </a:p>
        </p:txBody>
      </p:sp>
      <p:sp>
        <p:nvSpPr>
          <p:cNvPr id="4" name="Shape 2"/>
          <p:cNvSpPr/>
          <p:nvPr/>
        </p:nvSpPr>
        <p:spPr>
          <a:xfrm>
            <a:off x="594360" y="1005840"/>
            <a:ext cx="1097280" cy="0"/>
          </a:xfrm>
          <a:prstGeom prst="line">
            <a:avLst/>
          </a:prstGeom>
          <a:noFill/>
          <a:ln w="38100">
            <a:solidFill>
              <a:srgbClr val="8A1C1C"/>
            </a:solidFill>
            <a:prstDash val="solid"/>
          </a:ln>
        </p:spPr>
      </p:sp>
      <p:sp>
        <p:nvSpPr>
          <p:cNvPr id="5" name="Text 3"/>
          <p:cNvSpPr txBox="1"/>
          <p:nvPr/>
        </p:nvSpPr>
        <p:spPr>
          <a:xfrm>
            <a:off x="1920240" y="877824"/>
            <a:ext cx="8961120" cy="274320"/>
          </a:xfrm>
          <a:prstGeom prst="rect">
            <a:avLst/>
          </a:prstGeom>
          <a:noFill/>
          <a:ln/>
        </p:spPr>
        <p:txBody>
          <a:bodyPr wrap="square" lIns="0" tIns="0" rIns="0" bIns="0" rtlCol="0" anchor="ctr"/>
          <a:lstStyle/>
          <a:p>
            <a:pPr marL="0" indent="0" algn="l">
              <a:buNone/>
            </a:pPr>
            <a:r>
              <a:rPr lang="en-US" sz="1200" dirty="0">
                <a:solidFill>
                  <a:srgbClr val="5D6B7A"/>
                </a:solidFill>
                <a:latin typeface="Calibri" pitchFamily="34" charset="0"/>
                <a:ea typeface="Calibri" pitchFamily="34" charset="-122"/>
                <a:cs typeface="Calibri" pitchFamily="34" charset="-120"/>
              </a:rPr>
              <a:t>Three connected gaps NeuroNet is built to close</a:t>
            </a:r>
            <a:endParaRPr lang="en-US" sz="1200" dirty="0"/>
          </a:p>
        </p:txBody>
      </p:sp>
      <p:sp>
        <p:nvSpPr>
          <p:cNvPr id="6" name="Shape 4"/>
          <p:cNvSpPr/>
          <p:nvPr/>
        </p:nvSpPr>
        <p:spPr>
          <a:xfrm>
            <a:off x="594360" y="6446520"/>
            <a:ext cx="11002975" cy="0"/>
          </a:xfrm>
          <a:prstGeom prst="line">
            <a:avLst/>
          </a:prstGeom>
          <a:noFill/>
          <a:ln w="9525">
            <a:solidFill>
              <a:srgbClr val="CBD5E1"/>
            </a:solidFill>
            <a:prstDash val="solid"/>
          </a:ln>
        </p:spPr>
      </p:sp>
      <p:sp>
        <p:nvSpPr>
          <p:cNvPr id="7" name="Text 5"/>
          <p:cNvSpPr txBox="1"/>
          <p:nvPr/>
        </p:nvSpPr>
        <p:spPr>
          <a:xfrm>
            <a:off x="594360" y="6492240"/>
            <a:ext cx="6858000" cy="219456"/>
          </a:xfrm>
          <a:prstGeom prst="rect">
            <a:avLst/>
          </a:prstGeom>
          <a:noFill/>
          <a:ln/>
        </p:spPr>
        <p:txBody>
          <a:bodyPr wrap="square" lIns="0" tIns="0" rIns="0" bIns="0" rtlCol="0" anchor="ctr"/>
          <a:lstStyle/>
          <a:p>
            <a:pPr marL="0" indent="0" algn="l">
              <a:buNone/>
            </a:pPr>
            <a:r>
              <a:rPr lang="en-US" sz="900" dirty="0">
                <a:solidFill>
                  <a:srgbClr val="5D6B7A"/>
                </a:solidFill>
                <a:latin typeface="Calibri" pitchFamily="34" charset="0"/>
                <a:ea typeface="Calibri" pitchFamily="34" charset="-122"/>
                <a:cs typeface="Calibri" pitchFamily="34" charset="-120"/>
              </a:rPr>
              <a:t>KPR Institute of Engineering and Technology  |  Department of Information Technology</a:t>
            </a:r>
            <a:endParaRPr lang="en-US" sz="900" dirty="0"/>
          </a:p>
        </p:txBody>
      </p:sp>
      <p:sp>
        <p:nvSpPr>
          <p:cNvPr id="8" name="Text 6"/>
          <p:cNvSpPr txBox="1"/>
          <p:nvPr/>
        </p:nvSpPr>
        <p:spPr>
          <a:xfrm>
            <a:off x="7939735" y="6492240"/>
            <a:ext cx="3657600" cy="219456"/>
          </a:xfrm>
          <a:prstGeom prst="rect">
            <a:avLst/>
          </a:prstGeom>
          <a:noFill/>
          <a:ln/>
        </p:spPr>
        <p:txBody>
          <a:bodyPr wrap="square" lIns="0" tIns="0" rIns="0" bIns="0" rtlCol="0" anchor="ctr"/>
          <a:lstStyle/>
          <a:p>
            <a:pPr marL="0" indent="0" algn="r">
              <a:buNone/>
            </a:pPr>
            <a:r>
              <a:rPr lang="en-US" sz="900" b="1" dirty="0">
                <a:solidFill>
                  <a:srgbClr val="8A1C1C"/>
                </a:solidFill>
                <a:latin typeface="Calibri" pitchFamily="34" charset="0"/>
                <a:ea typeface="Calibri" pitchFamily="34" charset="-122"/>
                <a:cs typeface="Calibri" pitchFamily="34" charset="-120"/>
              </a:rPr>
              <a:t>REVIEW - III  |   3</a:t>
            </a:r>
            <a:endParaRPr lang="en-US" sz="900" dirty="0"/>
          </a:p>
        </p:txBody>
      </p:sp>
      <p:sp>
        <p:nvSpPr>
          <p:cNvPr id="9" name="Shape 7"/>
          <p:cNvSpPr/>
          <p:nvPr/>
        </p:nvSpPr>
        <p:spPr>
          <a:xfrm>
            <a:off x="594360" y="1463040"/>
            <a:ext cx="3484778" cy="2514600"/>
          </a:xfrm>
          <a:prstGeom prst="rect">
            <a:avLst/>
          </a:prstGeom>
          <a:solidFill>
            <a:srgbClr val="FFFFFF"/>
          </a:solidFill>
          <a:ln w="12700">
            <a:solidFill>
              <a:srgbClr val="AEB9C7"/>
            </a:solidFill>
            <a:prstDash val="solid"/>
          </a:ln>
        </p:spPr>
      </p:sp>
      <p:sp>
        <p:nvSpPr>
          <p:cNvPr id="10" name="Text 8"/>
          <p:cNvSpPr txBox="1"/>
          <p:nvPr/>
        </p:nvSpPr>
        <p:spPr>
          <a:xfrm>
            <a:off x="758952" y="1572768"/>
            <a:ext cx="3155594" cy="292608"/>
          </a:xfrm>
          <a:prstGeom prst="rect">
            <a:avLst/>
          </a:prstGeom>
          <a:noFill/>
          <a:ln/>
        </p:spPr>
        <p:txBody>
          <a:bodyPr wrap="square" lIns="0" tIns="0" rIns="0" bIns="0" rtlCol="0" anchor="ctr"/>
          <a:lstStyle/>
          <a:p>
            <a:pPr marL="0" indent="0">
              <a:buNone/>
            </a:pPr>
            <a:r>
              <a:rPr lang="en-US" sz="1350" b="1" dirty="0">
                <a:solidFill>
                  <a:srgbClr val="17365D"/>
                </a:solidFill>
                <a:latin typeface="Calibri" pitchFamily="34" charset="0"/>
                <a:ea typeface="Calibri" pitchFamily="34" charset="-122"/>
                <a:cs typeface="Calibri" pitchFamily="34" charset="-120"/>
              </a:rPr>
              <a:t>Gap 1  —  Fragmented pipeline</a:t>
            </a:r>
            <a:endParaRPr lang="en-US" sz="1350" dirty="0"/>
          </a:p>
        </p:txBody>
      </p:sp>
      <p:sp>
        <p:nvSpPr>
          <p:cNvPr id="11" name="Text 9"/>
          <p:cNvSpPr txBox="1"/>
          <p:nvPr/>
        </p:nvSpPr>
        <p:spPr>
          <a:xfrm>
            <a:off x="758952" y="2029968"/>
            <a:ext cx="3155594" cy="1828800"/>
          </a:xfrm>
          <a:prstGeom prst="rect">
            <a:avLst/>
          </a:prstGeom>
          <a:noFill/>
          <a:ln/>
        </p:spPr>
        <p:txBody>
          <a:bodyPr wrap="square" lIns="0" tIns="0" rIns="0" bIns="0" rtlCol="0" anchor="t"/>
          <a:lstStyle/>
          <a:p>
            <a:r>
              <a:rPr lang="en-IN" sz="1200" dirty="0"/>
              <a:t>Existing network management approaches often treat anomaly detection, fault diagnosis, and remediation as separate processes. Detected issues may require manual intervention or an external automation tool before corrective actions are executed. This fragmentation delays recovery, limits feedback between detection and remediation, and makes continuous autonomous network optimization difficult.</a:t>
            </a:r>
            <a:endParaRPr lang="en-US" sz="1150" dirty="0"/>
          </a:p>
        </p:txBody>
      </p:sp>
      <p:sp>
        <p:nvSpPr>
          <p:cNvPr id="12" name="Shape 10"/>
          <p:cNvSpPr/>
          <p:nvPr/>
        </p:nvSpPr>
        <p:spPr>
          <a:xfrm>
            <a:off x="4353458" y="1463040"/>
            <a:ext cx="3484778" cy="2514600"/>
          </a:xfrm>
          <a:prstGeom prst="rect">
            <a:avLst/>
          </a:prstGeom>
          <a:solidFill>
            <a:srgbClr val="FFFFFF"/>
          </a:solidFill>
          <a:ln w="12700">
            <a:solidFill>
              <a:srgbClr val="AEB9C7"/>
            </a:solidFill>
            <a:prstDash val="solid"/>
          </a:ln>
        </p:spPr>
      </p:sp>
      <p:sp>
        <p:nvSpPr>
          <p:cNvPr id="13" name="Text 11"/>
          <p:cNvSpPr txBox="1"/>
          <p:nvPr/>
        </p:nvSpPr>
        <p:spPr>
          <a:xfrm>
            <a:off x="4518050" y="1572768"/>
            <a:ext cx="3155594" cy="292608"/>
          </a:xfrm>
          <a:prstGeom prst="rect">
            <a:avLst/>
          </a:prstGeom>
          <a:noFill/>
          <a:ln/>
        </p:spPr>
        <p:txBody>
          <a:bodyPr wrap="square" lIns="0" tIns="0" rIns="0" bIns="0" rtlCol="0" anchor="ctr"/>
          <a:lstStyle/>
          <a:p>
            <a:pPr marL="0" indent="0">
              <a:buNone/>
            </a:pPr>
            <a:r>
              <a:rPr lang="en-US" sz="1350" b="1" dirty="0">
                <a:solidFill>
                  <a:srgbClr val="17365D"/>
                </a:solidFill>
                <a:latin typeface="Calibri" pitchFamily="34" charset="0"/>
                <a:ea typeface="Calibri" pitchFamily="34" charset="-122"/>
                <a:cs typeface="Calibri" pitchFamily="34" charset="-120"/>
              </a:rPr>
              <a:t>Gap 2  —  Narrow action space</a:t>
            </a:r>
            <a:endParaRPr lang="en-US" sz="1350" dirty="0"/>
          </a:p>
        </p:txBody>
      </p:sp>
      <p:sp>
        <p:nvSpPr>
          <p:cNvPr id="14" name="Text 12"/>
          <p:cNvSpPr txBox="1"/>
          <p:nvPr/>
        </p:nvSpPr>
        <p:spPr>
          <a:xfrm>
            <a:off x="4518050" y="2029968"/>
            <a:ext cx="3155594" cy="1828800"/>
          </a:xfrm>
          <a:prstGeom prst="rect">
            <a:avLst/>
          </a:prstGeom>
          <a:noFill/>
          <a:ln/>
        </p:spPr>
        <p:txBody>
          <a:bodyPr wrap="square" lIns="0" tIns="0" rIns="0" bIns="0" rtlCol="0" anchor="t"/>
          <a:lstStyle/>
          <a:p>
            <a:r>
              <a:rPr lang="en-IN" sz="1200" dirty="0"/>
              <a:t>Most reinforcement-learning-based network optimization approaches primarily focus on routing, traffic engineering, or resource allocation. However, real-world network faults may require diverse corrective actions, such as rerouting traffic, adjusting bandwidth, isolating faulty nodes, restarting services, modifying configurations, or triggering recovery procedures. A limited action space restricts the ability to respond effectively to heterogeneous network failures.</a:t>
            </a:r>
            <a:endParaRPr lang="en-US" sz="1150" dirty="0"/>
          </a:p>
        </p:txBody>
      </p:sp>
      <p:sp>
        <p:nvSpPr>
          <p:cNvPr id="15" name="Shape 13"/>
          <p:cNvSpPr/>
          <p:nvPr/>
        </p:nvSpPr>
        <p:spPr>
          <a:xfrm>
            <a:off x="8112557" y="1463040"/>
            <a:ext cx="3484778" cy="2514600"/>
          </a:xfrm>
          <a:prstGeom prst="rect">
            <a:avLst/>
          </a:prstGeom>
          <a:solidFill>
            <a:srgbClr val="FFFFFF"/>
          </a:solidFill>
          <a:ln w="12700">
            <a:solidFill>
              <a:srgbClr val="AEB9C7"/>
            </a:solidFill>
            <a:prstDash val="solid"/>
          </a:ln>
        </p:spPr>
      </p:sp>
      <p:sp>
        <p:nvSpPr>
          <p:cNvPr id="16" name="Text 14"/>
          <p:cNvSpPr txBox="1"/>
          <p:nvPr/>
        </p:nvSpPr>
        <p:spPr>
          <a:xfrm>
            <a:off x="8277149" y="1572768"/>
            <a:ext cx="3155594" cy="292608"/>
          </a:xfrm>
          <a:prstGeom prst="rect">
            <a:avLst/>
          </a:prstGeom>
          <a:noFill/>
          <a:ln/>
        </p:spPr>
        <p:txBody>
          <a:bodyPr wrap="square" lIns="0" tIns="0" rIns="0" bIns="0" rtlCol="0" anchor="ctr"/>
          <a:lstStyle/>
          <a:p>
            <a:pPr marL="0" indent="0">
              <a:buNone/>
            </a:pPr>
            <a:r>
              <a:rPr lang="en-US" sz="1350" b="1" dirty="0">
                <a:solidFill>
                  <a:srgbClr val="17365D"/>
                </a:solidFill>
                <a:latin typeface="Calibri" pitchFamily="34" charset="0"/>
                <a:ea typeface="Calibri" pitchFamily="34" charset="-122"/>
                <a:cs typeface="Calibri" pitchFamily="34" charset="-120"/>
              </a:rPr>
              <a:t>Gap 3  —  Safety &amp; explainability</a:t>
            </a:r>
            <a:endParaRPr lang="en-US" sz="1350" dirty="0"/>
          </a:p>
        </p:txBody>
      </p:sp>
      <p:sp>
        <p:nvSpPr>
          <p:cNvPr id="17" name="Text 15"/>
          <p:cNvSpPr txBox="1"/>
          <p:nvPr/>
        </p:nvSpPr>
        <p:spPr>
          <a:xfrm>
            <a:off x="8277149" y="2029968"/>
            <a:ext cx="3155594" cy="1828800"/>
          </a:xfrm>
          <a:prstGeom prst="rect">
            <a:avLst/>
          </a:prstGeom>
          <a:noFill/>
          <a:ln/>
        </p:spPr>
        <p:txBody>
          <a:bodyPr wrap="square" lIns="0" tIns="0" rIns="0" bIns="0" rtlCol="0" anchor="t"/>
          <a:lstStyle/>
          <a:p>
            <a:r>
              <a:rPr lang="en-IN" sz="1200" dirty="0"/>
              <a:t>High-performing reinforcement-learning policies do not automatically guarantee safe or interpretable decisions in dynamic network environments. Unverified actions may introduce service disruptions, violate operational constraints, or worsen existing faults. Many approaches also lack explicit confidence-aware execution controls and clear explanations for their decisions, making autonomous deployment and human oversight challenging.</a:t>
            </a:r>
            <a:endParaRPr lang="en-US" sz="1150" dirty="0"/>
          </a:p>
        </p:txBody>
      </p:sp>
      <p:sp>
        <p:nvSpPr>
          <p:cNvPr id="18" name="Shape 16"/>
          <p:cNvSpPr/>
          <p:nvPr/>
        </p:nvSpPr>
        <p:spPr>
          <a:xfrm>
            <a:off x="594360" y="4160520"/>
            <a:ext cx="11002975" cy="1371600"/>
          </a:xfrm>
          <a:prstGeom prst="rect">
            <a:avLst/>
          </a:prstGeom>
          <a:solidFill>
            <a:srgbClr val="FFFFFF"/>
          </a:solidFill>
          <a:ln w="12700">
            <a:solidFill>
              <a:srgbClr val="AEB9C7"/>
            </a:solidFill>
            <a:prstDash val="solid"/>
          </a:ln>
        </p:spPr>
      </p:sp>
      <p:sp>
        <p:nvSpPr>
          <p:cNvPr id="19" name="Text 17"/>
          <p:cNvSpPr txBox="1"/>
          <p:nvPr/>
        </p:nvSpPr>
        <p:spPr>
          <a:xfrm>
            <a:off x="758952" y="4270248"/>
            <a:ext cx="10673791" cy="292608"/>
          </a:xfrm>
          <a:prstGeom prst="rect">
            <a:avLst/>
          </a:prstGeom>
          <a:noFill/>
          <a:ln/>
        </p:spPr>
        <p:txBody>
          <a:bodyPr wrap="square" lIns="0" tIns="0" rIns="0" bIns="0" rtlCol="0" anchor="ctr"/>
          <a:lstStyle/>
          <a:p>
            <a:pPr marL="0" indent="0">
              <a:buNone/>
            </a:pPr>
            <a:r>
              <a:rPr lang="en-US" sz="1350" b="1" dirty="0">
                <a:solidFill>
                  <a:srgbClr val="17365D"/>
                </a:solidFill>
                <a:latin typeface="Calibri" pitchFamily="34" charset="0"/>
                <a:ea typeface="Calibri" pitchFamily="34" charset="-122"/>
                <a:cs typeface="Calibri" pitchFamily="34" charset="-120"/>
              </a:rPr>
              <a:t>Novelty</a:t>
            </a:r>
            <a:endParaRPr lang="en-US" sz="1350" dirty="0"/>
          </a:p>
        </p:txBody>
      </p:sp>
      <p:sp>
        <p:nvSpPr>
          <p:cNvPr id="20" name="Text 18"/>
          <p:cNvSpPr txBox="1"/>
          <p:nvPr/>
        </p:nvSpPr>
        <p:spPr>
          <a:xfrm>
            <a:off x="758952" y="4608575"/>
            <a:ext cx="10673791" cy="914400"/>
          </a:xfrm>
          <a:prstGeom prst="rect">
            <a:avLst/>
          </a:prstGeom>
          <a:noFill/>
          <a:ln/>
        </p:spPr>
        <p:txBody>
          <a:bodyPr wrap="square" lIns="0" tIns="0" rIns="0" bIns="0" rtlCol="0" anchor="t"/>
          <a:lstStyle/>
          <a:p>
            <a:r>
              <a:rPr lang="en-IN" sz="1200" dirty="0" err="1"/>
              <a:t>NeuroNet</a:t>
            </a:r>
            <a:r>
              <a:rPr lang="en-IN" sz="1200" dirty="0"/>
              <a:t> proposes a unified, closed-loop network automation framework that connects telemetry ingestion, anomaly detection, reinforcement-learning-based decision-making, and automated remediation. It extends beyond routing-centric optimization by supporting eight heterogeneous remediation action types. A confidence-aware safety gate evaluates proposed actions, permits suitable actions to proceed, and escalates uncertain or high-risk decisions to a human operator. Explainability mechanisms provide insight into detected anomalies and recommended corrective actions, supporting safer and more transparent autonomous network operations.</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7F9FC"/>
        </a:solidFill>
        <a:effectLst/>
      </p:bgPr>
    </p:bg>
    <p:spTree>
      <p:nvGrpSpPr>
        <p:cNvPr id="1" name=""/>
        <p:cNvGrpSpPr/>
        <p:nvPr/>
      </p:nvGrpSpPr>
      <p:grpSpPr>
        <a:xfrm>
          <a:off x="0" y="0"/>
          <a:ext cx="0" cy="0"/>
          <a:chOff x="0" y="0"/>
          <a:chExt cx="0" cy="0"/>
        </a:xfrm>
      </p:grpSpPr>
      <p:sp>
        <p:nvSpPr>
          <p:cNvPr id="2" name="Shape 0"/>
          <p:cNvSpPr/>
          <p:nvPr/>
        </p:nvSpPr>
        <p:spPr>
          <a:xfrm>
            <a:off x="0" y="0"/>
            <a:ext cx="12191695" cy="256032"/>
          </a:xfrm>
          <a:prstGeom prst="rect">
            <a:avLst/>
          </a:prstGeom>
          <a:solidFill>
            <a:srgbClr val="17365D"/>
          </a:solidFill>
          <a:ln w="12700">
            <a:solidFill>
              <a:srgbClr val="17365D"/>
            </a:solidFill>
            <a:prstDash val="solid"/>
          </a:ln>
        </p:spPr>
      </p:sp>
      <p:sp>
        <p:nvSpPr>
          <p:cNvPr id="3" name="Text 1"/>
          <p:cNvSpPr txBox="1"/>
          <p:nvPr/>
        </p:nvSpPr>
        <p:spPr>
          <a:xfrm>
            <a:off x="594360" y="475488"/>
            <a:ext cx="10607040" cy="438912"/>
          </a:xfrm>
          <a:prstGeom prst="rect">
            <a:avLst/>
          </a:prstGeom>
          <a:noFill/>
          <a:ln/>
        </p:spPr>
        <p:txBody>
          <a:bodyPr wrap="square" lIns="0" tIns="0" rIns="0" bIns="0" rtlCol="0" anchor="ctr"/>
          <a:lstStyle/>
          <a:p>
            <a:pPr marL="0" indent="0" algn="l">
              <a:buNone/>
            </a:pPr>
            <a:r>
              <a:rPr lang="en-US" sz="2400" b="1" dirty="0">
                <a:solidFill>
                  <a:srgbClr val="17365D"/>
                </a:solidFill>
                <a:latin typeface="Calibri" pitchFamily="34" charset="0"/>
                <a:ea typeface="Calibri" pitchFamily="34" charset="-122"/>
                <a:cs typeface="Calibri" pitchFamily="34" charset="-120"/>
              </a:rPr>
              <a:t>4. Proposed NeuroNet Architecture</a:t>
            </a:r>
            <a:endParaRPr lang="en-US" sz="2400" dirty="0"/>
          </a:p>
        </p:txBody>
      </p:sp>
      <p:sp>
        <p:nvSpPr>
          <p:cNvPr id="4" name="Shape 2"/>
          <p:cNvSpPr/>
          <p:nvPr/>
        </p:nvSpPr>
        <p:spPr>
          <a:xfrm>
            <a:off x="594360" y="1005840"/>
            <a:ext cx="1097280" cy="0"/>
          </a:xfrm>
          <a:prstGeom prst="line">
            <a:avLst/>
          </a:prstGeom>
          <a:noFill/>
          <a:ln w="38100">
            <a:solidFill>
              <a:srgbClr val="8A1C1C"/>
            </a:solidFill>
            <a:prstDash val="solid"/>
          </a:ln>
        </p:spPr>
      </p:sp>
      <p:sp>
        <p:nvSpPr>
          <p:cNvPr id="5" name="Text 3"/>
          <p:cNvSpPr txBox="1"/>
          <p:nvPr/>
        </p:nvSpPr>
        <p:spPr>
          <a:xfrm>
            <a:off x="1920240" y="877824"/>
            <a:ext cx="8961120" cy="274320"/>
          </a:xfrm>
          <a:prstGeom prst="rect">
            <a:avLst/>
          </a:prstGeom>
          <a:noFill/>
          <a:ln/>
        </p:spPr>
        <p:txBody>
          <a:bodyPr wrap="square" lIns="0" tIns="0" rIns="0" bIns="0" rtlCol="0" anchor="ctr"/>
          <a:lstStyle/>
          <a:p>
            <a:pPr marL="0" indent="0" algn="l">
              <a:buNone/>
            </a:pPr>
            <a:r>
              <a:rPr lang="en-US" sz="1200" dirty="0">
                <a:solidFill>
                  <a:srgbClr val="5D6B7A"/>
                </a:solidFill>
                <a:latin typeface="Calibri" pitchFamily="34" charset="0"/>
                <a:ea typeface="Calibri" pitchFamily="34" charset="-122"/>
                <a:cs typeface="Calibri" pitchFamily="34" charset="-120"/>
              </a:rPr>
              <a:t>One continuous loop: telemetry to feedback</a:t>
            </a:r>
            <a:endParaRPr lang="en-US" sz="1200" dirty="0"/>
          </a:p>
        </p:txBody>
      </p:sp>
      <p:sp>
        <p:nvSpPr>
          <p:cNvPr id="6" name="Shape 4"/>
          <p:cNvSpPr/>
          <p:nvPr/>
        </p:nvSpPr>
        <p:spPr>
          <a:xfrm>
            <a:off x="594360" y="6446520"/>
            <a:ext cx="11002975" cy="0"/>
          </a:xfrm>
          <a:prstGeom prst="line">
            <a:avLst/>
          </a:prstGeom>
          <a:noFill/>
          <a:ln w="9525">
            <a:solidFill>
              <a:srgbClr val="CBD5E1"/>
            </a:solidFill>
            <a:prstDash val="solid"/>
          </a:ln>
        </p:spPr>
      </p:sp>
      <p:sp>
        <p:nvSpPr>
          <p:cNvPr id="7" name="Text 5"/>
          <p:cNvSpPr txBox="1"/>
          <p:nvPr/>
        </p:nvSpPr>
        <p:spPr>
          <a:xfrm>
            <a:off x="594360" y="6492240"/>
            <a:ext cx="6858000" cy="219456"/>
          </a:xfrm>
          <a:prstGeom prst="rect">
            <a:avLst/>
          </a:prstGeom>
          <a:noFill/>
          <a:ln/>
        </p:spPr>
        <p:txBody>
          <a:bodyPr wrap="square" lIns="0" tIns="0" rIns="0" bIns="0" rtlCol="0" anchor="ctr"/>
          <a:lstStyle/>
          <a:p>
            <a:pPr marL="0" indent="0" algn="l">
              <a:buNone/>
            </a:pPr>
            <a:r>
              <a:rPr lang="en-US" sz="900" dirty="0">
                <a:solidFill>
                  <a:srgbClr val="5D6B7A"/>
                </a:solidFill>
                <a:latin typeface="Calibri" pitchFamily="34" charset="0"/>
                <a:ea typeface="Calibri" pitchFamily="34" charset="-122"/>
                <a:cs typeface="Calibri" pitchFamily="34" charset="-120"/>
              </a:rPr>
              <a:t>KPR Institute of Engineering and Technology  |  Department of Information Technology</a:t>
            </a:r>
            <a:endParaRPr lang="en-US" sz="900" dirty="0"/>
          </a:p>
        </p:txBody>
      </p:sp>
      <p:sp>
        <p:nvSpPr>
          <p:cNvPr id="8" name="Text 6"/>
          <p:cNvSpPr txBox="1"/>
          <p:nvPr/>
        </p:nvSpPr>
        <p:spPr>
          <a:xfrm>
            <a:off x="7939735" y="6492240"/>
            <a:ext cx="3657600" cy="219456"/>
          </a:xfrm>
          <a:prstGeom prst="rect">
            <a:avLst/>
          </a:prstGeom>
          <a:noFill/>
          <a:ln/>
        </p:spPr>
        <p:txBody>
          <a:bodyPr wrap="square" lIns="0" tIns="0" rIns="0" bIns="0" rtlCol="0" anchor="ctr"/>
          <a:lstStyle/>
          <a:p>
            <a:pPr marL="0" indent="0" algn="r">
              <a:buNone/>
            </a:pPr>
            <a:r>
              <a:rPr lang="en-US" sz="900" b="1" dirty="0">
                <a:solidFill>
                  <a:srgbClr val="8A1C1C"/>
                </a:solidFill>
                <a:latin typeface="Calibri" pitchFamily="34" charset="0"/>
                <a:ea typeface="Calibri" pitchFamily="34" charset="-122"/>
                <a:cs typeface="Calibri" pitchFamily="34" charset="-120"/>
              </a:rPr>
              <a:t>REVIEW - III  |   4</a:t>
            </a:r>
            <a:endParaRPr lang="en-US" sz="900" dirty="0"/>
          </a:p>
        </p:txBody>
      </p:sp>
      <p:sp>
        <p:nvSpPr>
          <p:cNvPr id="9" name="Shape 7"/>
          <p:cNvSpPr/>
          <p:nvPr/>
        </p:nvSpPr>
        <p:spPr>
          <a:xfrm>
            <a:off x="1089508" y="2240280"/>
            <a:ext cx="1783080" cy="1188720"/>
          </a:xfrm>
          <a:prstGeom prst="roundRect">
            <a:avLst>
              <a:gd name="adj" fmla="val 5385"/>
            </a:avLst>
          </a:prstGeom>
          <a:solidFill>
            <a:srgbClr val="EEF3F8"/>
          </a:solidFill>
          <a:ln w="12700">
            <a:solidFill>
              <a:srgbClr val="9FB0C3"/>
            </a:solidFill>
            <a:prstDash val="solid"/>
          </a:ln>
        </p:spPr>
      </p:sp>
      <p:sp>
        <p:nvSpPr>
          <p:cNvPr id="10" name="Text 8"/>
          <p:cNvSpPr txBox="1"/>
          <p:nvPr/>
        </p:nvSpPr>
        <p:spPr>
          <a:xfrm>
            <a:off x="1143000" y="2560320"/>
            <a:ext cx="1691640" cy="457200"/>
          </a:xfrm>
          <a:prstGeom prst="rect">
            <a:avLst/>
          </a:prstGeom>
          <a:noFill/>
          <a:ln/>
        </p:spPr>
        <p:txBody>
          <a:bodyPr wrap="square" lIns="0" tIns="0" rIns="0" bIns="0" rtlCol="0" anchor="ctr"/>
          <a:lstStyle/>
          <a:p>
            <a:pPr marL="0" indent="0" algn="ctr">
              <a:buNone/>
            </a:pPr>
            <a:r>
              <a:rPr lang="en-US" sz="1250" b="1" dirty="0">
                <a:solidFill>
                  <a:srgbClr val="17365D"/>
                </a:solidFill>
                <a:latin typeface="Calibri" pitchFamily="34" charset="0"/>
                <a:ea typeface="Calibri" pitchFamily="34" charset="-122"/>
                <a:cs typeface="Calibri" pitchFamily="34" charset="-120"/>
              </a:rPr>
              <a:t>Telemetry</a:t>
            </a:r>
            <a:endParaRPr lang="en-US" sz="1250" dirty="0"/>
          </a:p>
        </p:txBody>
      </p:sp>
      <p:sp>
        <p:nvSpPr>
          <p:cNvPr id="11" name="Text 9"/>
          <p:cNvSpPr txBox="1"/>
          <p:nvPr/>
        </p:nvSpPr>
        <p:spPr>
          <a:xfrm>
            <a:off x="1162660" y="2952300"/>
            <a:ext cx="1636776" cy="502920"/>
          </a:xfrm>
          <a:prstGeom prst="rect">
            <a:avLst/>
          </a:prstGeom>
          <a:noFill/>
          <a:ln/>
        </p:spPr>
        <p:txBody>
          <a:bodyPr wrap="square" lIns="0" tIns="0" rIns="0" bIns="0" rtlCol="0" anchor="t"/>
          <a:lstStyle/>
          <a:p>
            <a:pPr marL="0" indent="0" algn="ctr">
              <a:buNone/>
            </a:pPr>
            <a:r>
              <a:rPr lang="en-US" sz="900" dirty="0">
                <a:solidFill>
                  <a:srgbClr val="5D6B7A"/>
                </a:solidFill>
                <a:latin typeface="Calibri" pitchFamily="34" charset="0"/>
                <a:ea typeface="Calibri" pitchFamily="34" charset="-122"/>
                <a:cs typeface="Calibri" pitchFamily="34" charset="-120"/>
              </a:rPr>
              <a:t>Proposed</a:t>
            </a:r>
            <a:endParaRPr lang="en-US" sz="900" dirty="0"/>
          </a:p>
        </p:txBody>
      </p:sp>
      <p:sp>
        <p:nvSpPr>
          <p:cNvPr id="12" name="Text 10"/>
          <p:cNvSpPr txBox="1"/>
          <p:nvPr/>
        </p:nvSpPr>
        <p:spPr>
          <a:xfrm>
            <a:off x="2881732" y="2660344"/>
            <a:ext cx="256032" cy="310896"/>
          </a:xfrm>
          <a:prstGeom prst="rect">
            <a:avLst/>
          </a:prstGeom>
          <a:noFill/>
          <a:ln/>
        </p:spPr>
        <p:txBody>
          <a:bodyPr wrap="square" lIns="0" tIns="0" rIns="0" bIns="0" rtlCol="0" anchor="ctr"/>
          <a:lstStyle/>
          <a:p>
            <a:pPr marL="0" indent="0" algn="ctr">
              <a:buNone/>
            </a:pPr>
            <a:r>
              <a:rPr lang="en-US" sz="1800" b="1" dirty="0">
                <a:solidFill>
                  <a:srgbClr val="8A1C1C"/>
                </a:solidFill>
                <a:latin typeface="Calibri" pitchFamily="34" charset="0"/>
                <a:ea typeface="Calibri" pitchFamily="34" charset="-122"/>
                <a:cs typeface="Calibri" pitchFamily="34" charset="-120"/>
              </a:rPr>
              <a:t>→</a:t>
            </a:r>
            <a:endParaRPr lang="en-US" sz="1800" dirty="0"/>
          </a:p>
        </p:txBody>
      </p:sp>
      <p:sp>
        <p:nvSpPr>
          <p:cNvPr id="13" name="Shape 11"/>
          <p:cNvSpPr/>
          <p:nvPr/>
        </p:nvSpPr>
        <p:spPr>
          <a:xfrm>
            <a:off x="3146908" y="2240280"/>
            <a:ext cx="1783080" cy="1188720"/>
          </a:xfrm>
          <a:prstGeom prst="roundRect">
            <a:avLst>
              <a:gd name="adj" fmla="val 5385"/>
            </a:avLst>
          </a:prstGeom>
          <a:solidFill>
            <a:srgbClr val="EEF3F8"/>
          </a:solidFill>
          <a:ln w="12700">
            <a:solidFill>
              <a:srgbClr val="9FB0C3"/>
            </a:solidFill>
            <a:prstDash val="solid"/>
          </a:ln>
        </p:spPr>
        <p:txBody>
          <a:bodyPr/>
          <a:lstStyle/>
          <a:p>
            <a:endParaRPr lang="en-IN" dirty="0"/>
          </a:p>
        </p:txBody>
      </p:sp>
      <p:sp>
        <p:nvSpPr>
          <p:cNvPr id="14" name="Text 12"/>
          <p:cNvSpPr txBox="1"/>
          <p:nvPr/>
        </p:nvSpPr>
        <p:spPr>
          <a:xfrm>
            <a:off x="3146908" y="2431744"/>
            <a:ext cx="1691640" cy="457200"/>
          </a:xfrm>
          <a:prstGeom prst="rect">
            <a:avLst/>
          </a:prstGeom>
          <a:noFill/>
          <a:ln/>
        </p:spPr>
        <p:txBody>
          <a:bodyPr wrap="square" lIns="0" tIns="0" rIns="0" bIns="0" rtlCol="0" anchor="ctr"/>
          <a:lstStyle/>
          <a:p>
            <a:pPr marL="0" indent="0" algn="ctr">
              <a:buNone/>
            </a:pPr>
            <a:r>
              <a:rPr lang="en-US" sz="1250" b="1" dirty="0">
                <a:solidFill>
                  <a:srgbClr val="17365D"/>
                </a:solidFill>
                <a:latin typeface="Calibri" pitchFamily="34" charset="0"/>
                <a:ea typeface="Calibri" pitchFamily="34" charset="-122"/>
                <a:cs typeface="Calibri" pitchFamily="34" charset="-120"/>
              </a:rPr>
              <a:t>Anomaly</a:t>
            </a:r>
            <a:endParaRPr lang="en-US" sz="1250" dirty="0"/>
          </a:p>
          <a:p>
            <a:pPr marL="0" indent="0" algn="ctr">
              <a:buNone/>
            </a:pPr>
            <a:r>
              <a:rPr lang="en-US" sz="1250" b="1" dirty="0">
                <a:solidFill>
                  <a:srgbClr val="17365D"/>
                </a:solidFill>
                <a:latin typeface="Calibri" pitchFamily="34" charset="0"/>
                <a:ea typeface="Calibri" pitchFamily="34" charset="-122"/>
                <a:cs typeface="Calibri" pitchFamily="34" charset="-120"/>
              </a:rPr>
              <a:t>Detection</a:t>
            </a:r>
            <a:endParaRPr lang="en-US" sz="1250" dirty="0"/>
          </a:p>
        </p:txBody>
      </p:sp>
      <p:sp>
        <p:nvSpPr>
          <p:cNvPr id="15" name="Text 13"/>
          <p:cNvSpPr txBox="1"/>
          <p:nvPr/>
        </p:nvSpPr>
        <p:spPr>
          <a:xfrm>
            <a:off x="3204972" y="2965642"/>
            <a:ext cx="1636776" cy="502920"/>
          </a:xfrm>
          <a:prstGeom prst="rect">
            <a:avLst/>
          </a:prstGeom>
          <a:noFill/>
          <a:ln/>
        </p:spPr>
        <p:txBody>
          <a:bodyPr wrap="square" lIns="0" tIns="0" rIns="0" bIns="0" rtlCol="0" anchor="t"/>
          <a:lstStyle/>
          <a:p>
            <a:pPr marL="0" indent="0" algn="ctr">
              <a:buNone/>
            </a:pPr>
            <a:r>
              <a:rPr lang="en-US" sz="900" dirty="0">
                <a:solidFill>
                  <a:srgbClr val="5D6B7A"/>
                </a:solidFill>
                <a:latin typeface="Calibri" pitchFamily="34" charset="0"/>
                <a:ea typeface="Calibri" pitchFamily="34" charset="-122"/>
                <a:cs typeface="Calibri" pitchFamily="34" charset="-120"/>
              </a:rPr>
              <a:t>Proposed detector</a:t>
            </a:r>
            <a:endParaRPr lang="en-US" sz="900" dirty="0"/>
          </a:p>
        </p:txBody>
      </p:sp>
      <p:sp>
        <p:nvSpPr>
          <p:cNvPr id="16" name="Text 14"/>
          <p:cNvSpPr txBox="1"/>
          <p:nvPr/>
        </p:nvSpPr>
        <p:spPr>
          <a:xfrm>
            <a:off x="4948276" y="2635805"/>
            <a:ext cx="256032" cy="310896"/>
          </a:xfrm>
          <a:prstGeom prst="rect">
            <a:avLst/>
          </a:prstGeom>
          <a:noFill/>
          <a:ln/>
        </p:spPr>
        <p:txBody>
          <a:bodyPr wrap="square" lIns="0" tIns="0" rIns="0" bIns="0" rtlCol="0" anchor="ctr"/>
          <a:lstStyle/>
          <a:p>
            <a:pPr marL="0" indent="0" algn="ctr">
              <a:buNone/>
            </a:pPr>
            <a:r>
              <a:rPr lang="en-US" sz="1800" b="1" dirty="0">
                <a:solidFill>
                  <a:srgbClr val="8A1C1C"/>
                </a:solidFill>
                <a:latin typeface="Calibri" pitchFamily="34" charset="0"/>
                <a:ea typeface="Calibri" pitchFamily="34" charset="-122"/>
                <a:cs typeface="Calibri" pitchFamily="34" charset="-120"/>
              </a:rPr>
              <a:t>→</a:t>
            </a:r>
            <a:endParaRPr lang="en-US" sz="1800" dirty="0"/>
          </a:p>
        </p:txBody>
      </p:sp>
      <p:sp>
        <p:nvSpPr>
          <p:cNvPr id="17" name="Shape 15"/>
          <p:cNvSpPr/>
          <p:nvPr/>
        </p:nvSpPr>
        <p:spPr>
          <a:xfrm>
            <a:off x="5204308" y="2234122"/>
            <a:ext cx="1783080" cy="1188720"/>
          </a:xfrm>
          <a:prstGeom prst="roundRect">
            <a:avLst>
              <a:gd name="adj" fmla="val 5385"/>
            </a:avLst>
          </a:prstGeom>
          <a:solidFill>
            <a:srgbClr val="EEF3F8"/>
          </a:solidFill>
          <a:ln w="12700">
            <a:solidFill>
              <a:srgbClr val="9FB0C3"/>
            </a:solidFill>
            <a:prstDash val="solid"/>
          </a:ln>
        </p:spPr>
        <p:txBody>
          <a:bodyPr/>
          <a:lstStyle/>
          <a:p>
            <a:endParaRPr lang="en-IN" dirty="0"/>
          </a:p>
        </p:txBody>
      </p:sp>
      <p:sp>
        <p:nvSpPr>
          <p:cNvPr id="18" name="Text 16"/>
          <p:cNvSpPr txBox="1"/>
          <p:nvPr/>
        </p:nvSpPr>
        <p:spPr>
          <a:xfrm>
            <a:off x="5304892" y="2502377"/>
            <a:ext cx="1691640" cy="457200"/>
          </a:xfrm>
          <a:prstGeom prst="rect">
            <a:avLst/>
          </a:prstGeom>
          <a:noFill/>
          <a:ln/>
        </p:spPr>
        <p:txBody>
          <a:bodyPr wrap="square" lIns="0" tIns="0" rIns="0" bIns="0" rtlCol="0" anchor="ctr"/>
          <a:lstStyle/>
          <a:p>
            <a:pPr marL="0" indent="0" algn="ctr">
              <a:buNone/>
            </a:pPr>
            <a:r>
              <a:rPr lang="en-US" sz="1250" b="1" dirty="0">
                <a:solidFill>
                  <a:srgbClr val="17365D"/>
                </a:solidFill>
                <a:latin typeface="Calibri" pitchFamily="34" charset="0"/>
                <a:ea typeface="Calibri" pitchFamily="34" charset="-122"/>
                <a:cs typeface="Calibri" pitchFamily="34" charset="-120"/>
              </a:rPr>
              <a:t>RL Decision</a:t>
            </a:r>
            <a:endParaRPr lang="en-US" sz="1250" dirty="0"/>
          </a:p>
        </p:txBody>
      </p:sp>
      <p:sp>
        <p:nvSpPr>
          <p:cNvPr id="19" name="Text 17"/>
          <p:cNvSpPr txBox="1"/>
          <p:nvPr/>
        </p:nvSpPr>
        <p:spPr>
          <a:xfrm>
            <a:off x="5304892" y="2961816"/>
            <a:ext cx="1636776" cy="502920"/>
          </a:xfrm>
          <a:prstGeom prst="rect">
            <a:avLst/>
          </a:prstGeom>
          <a:noFill/>
          <a:ln/>
        </p:spPr>
        <p:txBody>
          <a:bodyPr wrap="square" lIns="0" tIns="0" rIns="0" bIns="0" rtlCol="0" anchor="t"/>
          <a:lstStyle/>
          <a:p>
            <a:pPr marL="0" indent="0" algn="ctr">
              <a:buNone/>
            </a:pPr>
            <a:r>
              <a:rPr lang="en-US" sz="900" dirty="0">
                <a:solidFill>
                  <a:srgbClr val="5D6B7A"/>
                </a:solidFill>
                <a:latin typeface="Calibri" pitchFamily="34" charset="0"/>
                <a:ea typeface="Calibri" pitchFamily="34" charset="-122"/>
                <a:cs typeface="Calibri" pitchFamily="34" charset="-120"/>
              </a:rPr>
              <a:t>Proposed agent</a:t>
            </a:r>
            <a:endParaRPr lang="en-US" sz="900" dirty="0"/>
          </a:p>
        </p:txBody>
      </p:sp>
      <p:sp>
        <p:nvSpPr>
          <p:cNvPr id="20" name="Text 18"/>
          <p:cNvSpPr txBox="1"/>
          <p:nvPr/>
        </p:nvSpPr>
        <p:spPr>
          <a:xfrm>
            <a:off x="7014820" y="2628061"/>
            <a:ext cx="256032" cy="310896"/>
          </a:xfrm>
          <a:prstGeom prst="rect">
            <a:avLst/>
          </a:prstGeom>
          <a:noFill/>
          <a:ln/>
        </p:spPr>
        <p:txBody>
          <a:bodyPr wrap="square" lIns="0" tIns="0" rIns="0" bIns="0" rtlCol="0" anchor="ctr"/>
          <a:lstStyle/>
          <a:p>
            <a:pPr marL="0" indent="0" algn="ctr">
              <a:buNone/>
            </a:pPr>
            <a:r>
              <a:rPr lang="en-US" sz="1800" b="1" dirty="0">
                <a:solidFill>
                  <a:srgbClr val="8A1C1C"/>
                </a:solidFill>
                <a:latin typeface="Calibri" pitchFamily="34" charset="0"/>
                <a:ea typeface="Calibri" pitchFamily="34" charset="-122"/>
                <a:cs typeface="Calibri" pitchFamily="34" charset="-120"/>
              </a:rPr>
              <a:t>→</a:t>
            </a:r>
            <a:endParaRPr lang="en-US" sz="1800" dirty="0"/>
          </a:p>
        </p:txBody>
      </p:sp>
      <p:sp>
        <p:nvSpPr>
          <p:cNvPr id="21" name="Shape 19"/>
          <p:cNvSpPr/>
          <p:nvPr/>
        </p:nvSpPr>
        <p:spPr>
          <a:xfrm>
            <a:off x="7270852" y="2234122"/>
            <a:ext cx="1783080" cy="1188720"/>
          </a:xfrm>
          <a:prstGeom prst="roundRect">
            <a:avLst>
              <a:gd name="adj" fmla="val 5385"/>
            </a:avLst>
          </a:prstGeom>
          <a:solidFill>
            <a:srgbClr val="FCEAEA"/>
          </a:solidFill>
          <a:ln w="19050">
            <a:solidFill>
              <a:srgbClr val="8A1C1C"/>
            </a:solidFill>
            <a:prstDash val="solid"/>
          </a:ln>
        </p:spPr>
      </p:sp>
      <p:sp>
        <p:nvSpPr>
          <p:cNvPr id="22" name="Text 20"/>
          <p:cNvSpPr txBox="1"/>
          <p:nvPr/>
        </p:nvSpPr>
        <p:spPr>
          <a:xfrm>
            <a:off x="7307428" y="2502377"/>
            <a:ext cx="1691640" cy="457200"/>
          </a:xfrm>
          <a:prstGeom prst="rect">
            <a:avLst/>
          </a:prstGeom>
          <a:noFill/>
          <a:ln/>
        </p:spPr>
        <p:txBody>
          <a:bodyPr wrap="square" lIns="0" tIns="0" rIns="0" bIns="0" rtlCol="0" anchor="ctr"/>
          <a:lstStyle/>
          <a:p>
            <a:pPr marL="0" indent="0" algn="ctr">
              <a:buNone/>
            </a:pPr>
            <a:r>
              <a:rPr lang="en-US" sz="1250" b="1" dirty="0">
                <a:solidFill>
                  <a:srgbClr val="17365D"/>
                </a:solidFill>
                <a:latin typeface="Calibri" pitchFamily="34" charset="0"/>
                <a:ea typeface="Calibri" pitchFamily="34" charset="-122"/>
                <a:cs typeface="Calibri" pitchFamily="34" charset="-120"/>
              </a:rPr>
              <a:t>Safety Gate</a:t>
            </a:r>
            <a:endParaRPr lang="en-US" sz="1250" dirty="0"/>
          </a:p>
        </p:txBody>
      </p:sp>
      <p:sp>
        <p:nvSpPr>
          <p:cNvPr id="23" name="Text 21"/>
          <p:cNvSpPr txBox="1"/>
          <p:nvPr/>
        </p:nvSpPr>
        <p:spPr>
          <a:xfrm>
            <a:off x="7399558" y="2967415"/>
            <a:ext cx="1636776" cy="502920"/>
          </a:xfrm>
          <a:prstGeom prst="rect">
            <a:avLst/>
          </a:prstGeom>
          <a:noFill/>
          <a:ln/>
        </p:spPr>
        <p:txBody>
          <a:bodyPr wrap="square" lIns="0" tIns="0" rIns="0" bIns="0" rtlCol="0" anchor="t"/>
          <a:lstStyle/>
          <a:p>
            <a:pPr marL="0" indent="0" algn="ctr">
              <a:buNone/>
            </a:pPr>
            <a:r>
              <a:rPr lang="en-US" sz="900" dirty="0">
                <a:solidFill>
                  <a:srgbClr val="5D6B7A"/>
                </a:solidFill>
                <a:latin typeface="Calibri" pitchFamily="34" charset="0"/>
                <a:ea typeface="Calibri" pitchFamily="34" charset="-122"/>
                <a:cs typeface="Calibri" pitchFamily="34" charset="-120"/>
              </a:rPr>
              <a:t>Confidence threshold (proposed)</a:t>
            </a:r>
            <a:endParaRPr lang="en-US" sz="900" dirty="0"/>
          </a:p>
        </p:txBody>
      </p:sp>
      <p:sp>
        <p:nvSpPr>
          <p:cNvPr id="24" name="Text 22"/>
          <p:cNvSpPr txBox="1"/>
          <p:nvPr/>
        </p:nvSpPr>
        <p:spPr>
          <a:xfrm>
            <a:off x="9072220" y="2597456"/>
            <a:ext cx="256032" cy="310896"/>
          </a:xfrm>
          <a:prstGeom prst="rect">
            <a:avLst/>
          </a:prstGeom>
          <a:noFill/>
          <a:ln/>
        </p:spPr>
        <p:txBody>
          <a:bodyPr wrap="square" lIns="0" tIns="0" rIns="0" bIns="0" rtlCol="0" anchor="ctr"/>
          <a:lstStyle/>
          <a:p>
            <a:pPr marL="0" indent="0" algn="ctr">
              <a:buNone/>
            </a:pPr>
            <a:r>
              <a:rPr lang="en-US" sz="1800" b="1" dirty="0">
                <a:solidFill>
                  <a:srgbClr val="8A1C1C"/>
                </a:solidFill>
                <a:latin typeface="Calibri" pitchFamily="34" charset="0"/>
                <a:ea typeface="Calibri" pitchFamily="34" charset="-122"/>
                <a:cs typeface="Calibri" pitchFamily="34" charset="-120"/>
              </a:rPr>
              <a:t>→</a:t>
            </a:r>
            <a:endParaRPr lang="en-US" sz="1800" dirty="0"/>
          </a:p>
        </p:txBody>
      </p:sp>
      <p:sp>
        <p:nvSpPr>
          <p:cNvPr id="25" name="Shape 23"/>
          <p:cNvSpPr/>
          <p:nvPr/>
        </p:nvSpPr>
        <p:spPr>
          <a:xfrm>
            <a:off x="9346540" y="2234496"/>
            <a:ext cx="1783080" cy="1188720"/>
          </a:xfrm>
          <a:prstGeom prst="roundRect">
            <a:avLst>
              <a:gd name="adj" fmla="val 5385"/>
            </a:avLst>
          </a:prstGeom>
          <a:solidFill>
            <a:srgbClr val="EEF3F8"/>
          </a:solidFill>
          <a:ln w="12700">
            <a:solidFill>
              <a:srgbClr val="9FB0C3"/>
            </a:solidFill>
            <a:prstDash val="solid"/>
          </a:ln>
        </p:spPr>
      </p:sp>
      <p:sp>
        <p:nvSpPr>
          <p:cNvPr id="26" name="Text 24"/>
          <p:cNvSpPr txBox="1"/>
          <p:nvPr/>
        </p:nvSpPr>
        <p:spPr>
          <a:xfrm>
            <a:off x="9337396" y="2484369"/>
            <a:ext cx="1691640" cy="457200"/>
          </a:xfrm>
          <a:prstGeom prst="rect">
            <a:avLst/>
          </a:prstGeom>
          <a:noFill/>
          <a:ln/>
        </p:spPr>
        <p:txBody>
          <a:bodyPr wrap="square" lIns="0" tIns="0" rIns="0" bIns="0" rtlCol="0" anchor="ctr"/>
          <a:lstStyle/>
          <a:p>
            <a:pPr marL="0" indent="0" algn="ctr">
              <a:buNone/>
            </a:pPr>
            <a:r>
              <a:rPr lang="en-US" sz="1250" b="1" dirty="0">
                <a:solidFill>
                  <a:srgbClr val="17365D"/>
                </a:solidFill>
                <a:latin typeface="Calibri" pitchFamily="34" charset="0"/>
                <a:ea typeface="Calibri" pitchFamily="34" charset="-122"/>
                <a:cs typeface="Calibri" pitchFamily="34" charset="-120"/>
              </a:rPr>
              <a:t>Remediation</a:t>
            </a:r>
            <a:endParaRPr lang="en-US" sz="1250" dirty="0"/>
          </a:p>
        </p:txBody>
      </p:sp>
      <p:sp>
        <p:nvSpPr>
          <p:cNvPr id="27" name="Text 25"/>
          <p:cNvSpPr txBox="1"/>
          <p:nvPr/>
        </p:nvSpPr>
        <p:spPr>
          <a:xfrm>
            <a:off x="9337396" y="2976372"/>
            <a:ext cx="1636776" cy="502920"/>
          </a:xfrm>
          <a:prstGeom prst="rect">
            <a:avLst/>
          </a:prstGeom>
          <a:noFill/>
          <a:ln/>
        </p:spPr>
        <p:txBody>
          <a:bodyPr wrap="square" lIns="0" tIns="0" rIns="0" bIns="0" rtlCol="0" anchor="t"/>
          <a:lstStyle/>
          <a:p>
            <a:pPr marL="0" indent="0" algn="ctr">
              <a:buNone/>
            </a:pPr>
            <a:r>
              <a:rPr lang="en-US" sz="900" dirty="0">
                <a:solidFill>
                  <a:srgbClr val="5D6B7A"/>
                </a:solidFill>
                <a:latin typeface="Calibri" pitchFamily="34" charset="0"/>
                <a:ea typeface="Calibri" pitchFamily="34" charset="-122"/>
                <a:cs typeface="Calibri" pitchFamily="34" charset="-120"/>
              </a:rPr>
              <a:t>Proposed action</a:t>
            </a:r>
            <a:endParaRPr lang="en-US" sz="900" dirty="0"/>
          </a:p>
        </p:txBody>
      </p:sp>
      <p:sp>
        <p:nvSpPr>
          <p:cNvPr id="28" name="Shape 26"/>
          <p:cNvSpPr/>
          <p:nvPr/>
        </p:nvSpPr>
        <p:spPr>
          <a:xfrm>
            <a:off x="1986712" y="3949648"/>
            <a:ext cx="8229600" cy="0"/>
          </a:xfrm>
          <a:prstGeom prst="line">
            <a:avLst/>
          </a:prstGeom>
          <a:noFill/>
          <a:ln w="15875">
            <a:solidFill>
              <a:srgbClr val="8A1C1C"/>
            </a:solidFill>
            <a:prstDash val="dash"/>
          </a:ln>
        </p:spPr>
      </p:sp>
      <p:sp>
        <p:nvSpPr>
          <p:cNvPr id="29" name="Text 27"/>
          <p:cNvSpPr txBox="1"/>
          <p:nvPr/>
        </p:nvSpPr>
        <p:spPr>
          <a:xfrm>
            <a:off x="1079123" y="4225274"/>
            <a:ext cx="10012680" cy="274320"/>
          </a:xfrm>
          <a:prstGeom prst="rect">
            <a:avLst/>
          </a:prstGeom>
          <a:noFill/>
          <a:ln/>
        </p:spPr>
        <p:txBody>
          <a:bodyPr wrap="square" lIns="0" tIns="0" rIns="0" bIns="0" rtlCol="0" anchor="ctr"/>
          <a:lstStyle/>
          <a:p>
            <a:pPr marL="0" indent="0" algn="ctr">
              <a:buNone/>
            </a:pPr>
            <a:r>
              <a:rPr lang="en-US" sz="1100" i="1" dirty="0">
                <a:solidFill>
                  <a:srgbClr val="8A1C1C"/>
                </a:solidFill>
                <a:latin typeface="Calibri" pitchFamily="34" charset="0"/>
                <a:ea typeface="Calibri" pitchFamily="34" charset="-122"/>
                <a:cs typeface="Calibri" pitchFamily="34" charset="-120"/>
              </a:rPr>
              <a:t>Feedback: reward from the new state → replay buffer → next policy update</a:t>
            </a:r>
            <a:endParaRPr lang="en-US" sz="1100" dirty="0"/>
          </a:p>
        </p:txBody>
      </p:sp>
      <p:sp>
        <p:nvSpPr>
          <p:cNvPr id="30" name="Shape 28"/>
          <p:cNvSpPr/>
          <p:nvPr/>
        </p:nvSpPr>
        <p:spPr>
          <a:xfrm>
            <a:off x="678334" y="4892040"/>
            <a:ext cx="11002975" cy="621792"/>
          </a:xfrm>
          <a:prstGeom prst="roundRect">
            <a:avLst>
              <a:gd name="adj" fmla="val 11765"/>
            </a:avLst>
          </a:prstGeom>
          <a:solidFill>
            <a:srgbClr val="FFF8E7"/>
          </a:solidFill>
          <a:ln w="12700">
            <a:solidFill>
              <a:srgbClr val="E8C76C"/>
            </a:solidFill>
            <a:prstDash val="solid"/>
          </a:ln>
        </p:spPr>
      </p:sp>
      <p:sp>
        <p:nvSpPr>
          <p:cNvPr id="31" name="Text 29"/>
          <p:cNvSpPr txBox="1"/>
          <p:nvPr/>
        </p:nvSpPr>
        <p:spPr>
          <a:xfrm>
            <a:off x="952655" y="4892040"/>
            <a:ext cx="10454335" cy="621792"/>
          </a:xfrm>
          <a:prstGeom prst="rect">
            <a:avLst/>
          </a:prstGeom>
          <a:noFill/>
          <a:ln/>
        </p:spPr>
        <p:txBody>
          <a:bodyPr wrap="square" lIns="0" tIns="0" rIns="0" bIns="0" rtlCol="0" anchor="ctr"/>
          <a:lstStyle/>
          <a:p>
            <a:pPr marL="0" indent="0" algn="ctr">
              <a:buNone/>
            </a:pPr>
            <a:r>
              <a:rPr lang="en-US" sz="1250" b="1" dirty="0">
                <a:solidFill>
                  <a:srgbClr val="17365D"/>
                </a:solidFill>
                <a:latin typeface="Calibri" pitchFamily="34" charset="0"/>
                <a:ea typeface="Calibri" pitchFamily="34" charset="-122"/>
                <a:cs typeface="Calibri" pitchFamily="34" charset="-120"/>
              </a:rPr>
              <a:t>Proposed architecture: telemetry processing, AI/ML-based decision-making, safety checks and network remediation. Model development and end-to-end integration are in progress.</a:t>
            </a:r>
            <a:endParaRPr lang="en-US" sz="12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7F9FC"/>
        </a:solidFill>
        <a:effectLst/>
      </p:bgPr>
    </p:bg>
    <p:spTree>
      <p:nvGrpSpPr>
        <p:cNvPr id="1" name=""/>
        <p:cNvGrpSpPr/>
        <p:nvPr/>
      </p:nvGrpSpPr>
      <p:grpSpPr>
        <a:xfrm>
          <a:off x="0" y="0"/>
          <a:ext cx="0" cy="0"/>
          <a:chOff x="0" y="0"/>
          <a:chExt cx="0" cy="0"/>
        </a:xfrm>
      </p:grpSpPr>
      <p:sp>
        <p:nvSpPr>
          <p:cNvPr id="2" name="Shape 0"/>
          <p:cNvSpPr/>
          <p:nvPr/>
        </p:nvSpPr>
        <p:spPr>
          <a:xfrm>
            <a:off x="0" y="0"/>
            <a:ext cx="12191695" cy="256032"/>
          </a:xfrm>
          <a:prstGeom prst="rect">
            <a:avLst/>
          </a:prstGeom>
          <a:solidFill>
            <a:srgbClr val="17365D"/>
          </a:solidFill>
          <a:ln w="12700">
            <a:solidFill>
              <a:srgbClr val="17365D"/>
            </a:solidFill>
            <a:prstDash val="solid"/>
          </a:ln>
        </p:spPr>
      </p:sp>
      <p:sp>
        <p:nvSpPr>
          <p:cNvPr id="3" name="Text 1"/>
          <p:cNvSpPr txBox="1"/>
          <p:nvPr/>
        </p:nvSpPr>
        <p:spPr>
          <a:xfrm>
            <a:off x="594360" y="475488"/>
            <a:ext cx="10607040" cy="438912"/>
          </a:xfrm>
          <a:prstGeom prst="rect">
            <a:avLst/>
          </a:prstGeom>
          <a:noFill/>
          <a:ln/>
        </p:spPr>
        <p:txBody>
          <a:bodyPr wrap="square" lIns="0" tIns="0" rIns="0" bIns="0" rtlCol="0" anchor="ctr"/>
          <a:lstStyle/>
          <a:p>
            <a:pPr marL="0" indent="0" algn="l">
              <a:buNone/>
            </a:pPr>
            <a:r>
              <a:rPr lang="en-US" sz="2400" b="1" dirty="0">
                <a:solidFill>
                  <a:srgbClr val="17365D"/>
                </a:solidFill>
                <a:latin typeface="Calibri" pitchFamily="34" charset="0"/>
                <a:ea typeface="Calibri" pitchFamily="34" charset="-122"/>
                <a:cs typeface="Calibri" pitchFamily="34" charset="-120"/>
              </a:rPr>
              <a:t>5. Simulation Environment</a:t>
            </a:r>
            <a:endParaRPr lang="en-US" sz="2400" dirty="0"/>
          </a:p>
        </p:txBody>
      </p:sp>
      <p:sp>
        <p:nvSpPr>
          <p:cNvPr id="4" name="Shape 2"/>
          <p:cNvSpPr/>
          <p:nvPr/>
        </p:nvSpPr>
        <p:spPr>
          <a:xfrm>
            <a:off x="594360" y="1005840"/>
            <a:ext cx="1097280" cy="0"/>
          </a:xfrm>
          <a:prstGeom prst="line">
            <a:avLst/>
          </a:prstGeom>
          <a:noFill/>
          <a:ln w="38100">
            <a:solidFill>
              <a:srgbClr val="8A1C1C"/>
            </a:solidFill>
            <a:prstDash val="solid"/>
          </a:ln>
        </p:spPr>
      </p:sp>
      <p:sp>
        <p:nvSpPr>
          <p:cNvPr id="5" name="Text 3"/>
          <p:cNvSpPr txBox="1"/>
          <p:nvPr/>
        </p:nvSpPr>
        <p:spPr>
          <a:xfrm>
            <a:off x="1920240" y="877824"/>
            <a:ext cx="8961120" cy="274320"/>
          </a:xfrm>
          <a:prstGeom prst="rect">
            <a:avLst/>
          </a:prstGeom>
          <a:noFill/>
          <a:ln/>
        </p:spPr>
        <p:txBody>
          <a:bodyPr wrap="square" lIns="0" tIns="0" rIns="0" bIns="0" rtlCol="0" anchor="ctr"/>
          <a:lstStyle/>
          <a:p>
            <a:pPr marL="0" indent="0" algn="l">
              <a:buNone/>
            </a:pPr>
            <a:r>
              <a:rPr lang="en-US" sz="1200" dirty="0">
                <a:solidFill>
                  <a:srgbClr val="5D6B7A"/>
                </a:solidFill>
                <a:latin typeface="Calibri" pitchFamily="34" charset="0"/>
                <a:ea typeface="Calibri" pitchFamily="34" charset="-122"/>
                <a:cs typeface="Calibri" pitchFamily="34" charset="-120"/>
              </a:rPr>
              <a:t>Topology, telemetry and injected faults</a:t>
            </a:r>
            <a:endParaRPr lang="en-US" sz="1200" dirty="0"/>
          </a:p>
        </p:txBody>
      </p:sp>
      <p:sp>
        <p:nvSpPr>
          <p:cNvPr id="6" name="Shape 4"/>
          <p:cNvSpPr/>
          <p:nvPr/>
        </p:nvSpPr>
        <p:spPr>
          <a:xfrm>
            <a:off x="594360" y="6446520"/>
            <a:ext cx="11002975" cy="0"/>
          </a:xfrm>
          <a:prstGeom prst="line">
            <a:avLst/>
          </a:prstGeom>
          <a:noFill/>
          <a:ln w="9525">
            <a:solidFill>
              <a:srgbClr val="CBD5E1"/>
            </a:solidFill>
            <a:prstDash val="solid"/>
          </a:ln>
        </p:spPr>
      </p:sp>
      <p:sp>
        <p:nvSpPr>
          <p:cNvPr id="7" name="Text 5"/>
          <p:cNvSpPr txBox="1"/>
          <p:nvPr/>
        </p:nvSpPr>
        <p:spPr>
          <a:xfrm>
            <a:off x="594360" y="6492240"/>
            <a:ext cx="6858000" cy="219456"/>
          </a:xfrm>
          <a:prstGeom prst="rect">
            <a:avLst/>
          </a:prstGeom>
          <a:noFill/>
          <a:ln/>
        </p:spPr>
        <p:txBody>
          <a:bodyPr wrap="square" lIns="0" tIns="0" rIns="0" bIns="0" rtlCol="0" anchor="ctr"/>
          <a:lstStyle/>
          <a:p>
            <a:pPr marL="0" indent="0" algn="l">
              <a:buNone/>
            </a:pPr>
            <a:r>
              <a:rPr lang="en-US" sz="900" dirty="0">
                <a:solidFill>
                  <a:srgbClr val="5D6B7A"/>
                </a:solidFill>
                <a:latin typeface="Calibri" pitchFamily="34" charset="0"/>
                <a:ea typeface="Calibri" pitchFamily="34" charset="-122"/>
                <a:cs typeface="Calibri" pitchFamily="34" charset="-120"/>
              </a:rPr>
              <a:t>KPR Institute of Engineering and Technology  |  Department of Information Technology</a:t>
            </a:r>
            <a:endParaRPr lang="en-US" sz="900" dirty="0"/>
          </a:p>
        </p:txBody>
      </p:sp>
      <p:sp>
        <p:nvSpPr>
          <p:cNvPr id="8" name="Text 6"/>
          <p:cNvSpPr txBox="1"/>
          <p:nvPr/>
        </p:nvSpPr>
        <p:spPr>
          <a:xfrm>
            <a:off x="7939735" y="6492240"/>
            <a:ext cx="3657600" cy="219456"/>
          </a:xfrm>
          <a:prstGeom prst="rect">
            <a:avLst/>
          </a:prstGeom>
          <a:noFill/>
          <a:ln/>
        </p:spPr>
        <p:txBody>
          <a:bodyPr wrap="square" lIns="0" tIns="0" rIns="0" bIns="0" rtlCol="0" anchor="ctr"/>
          <a:lstStyle/>
          <a:p>
            <a:pPr marL="0" indent="0" algn="r">
              <a:buNone/>
            </a:pPr>
            <a:r>
              <a:rPr lang="en-US" sz="900" b="1" dirty="0">
                <a:solidFill>
                  <a:srgbClr val="8A1C1C"/>
                </a:solidFill>
                <a:latin typeface="Calibri" pitchFamily="34" charset="0"/>
                <a:ea typeface="Calibri" pitchFamily="34" charset="-122"/>
                <a:cs typeface="Calibri" pitchFamily="34" charset="-120"/>
              </a:rPr>
              <a:t>REVIEW - III   |   5</a:t>
            </a:r>
            <a:endParaRPr lang="en-US" sz="900" dirty="0"/>
          </a:p>
        </p:txBody>
      </p:sp>
      <p:sp>
        <p:nvSpPr>
          <p:cNvPr id="14" name="Text 12"/>
          <p:cNvSpPr txBox="1"/>
          <p:nvPr/>
        </p:nvSpPr>
        <p:spPr>
          <a:xfrm>
            <a:off x="1051559" y="5332240"/>
            <a:ext cx="10088575" cy="457200"/>
          </a:xfrm>
          <a:prstGeom prst="rect">
            <a:avLst/>
          </a:prstGeom>
          <a:noFill/>
          <a:ln/>
        </p:spPr>
        <p:txBody>
          <a:bodyPr wrap="square" lIns="0" tIns="0" rIns="0" bIns="0" rtlCol="0" anchor="ctr"/>
          <a:lstStyle/>
          <a:p>
            <a:pPr marL="0" indent="0" algn="ctr">
              <a:buNone/>
            </a:pPr>
            <a:r>
              <a:rPr lang="en-US" sz="1300" b="1" dirty="0">
                <a:solidFill>
                  <a:srgbClr val="8A1C1C"/>
                </a:solidFill>
                <a:latin typeface="Calibri" pitchFamily="34" charset="0"/>
                <a:ea typeface="Calibri" pitchFamily="34" charset="-122"/>
                <a:cs typeface="Calibri" pitchFamily="34" charset="-120"/>
              </a:rPr>
              <a:t>Simulation-first by design: safe to test failure modes that are unsafe on a live network</a:t>
            </a:r>
            <a:endParaRPr lang="en-US" sz="1300" dirty="0"/>
          </a:p>
        </p:txBody>
      </p:sp>
      <p:sp>
        <p:nvSpPr>
          <p:cNvPr id="100" name="Text 100"/>
          <p:cNvSpPr txBox="1"/>
          <p:nvPr/>
        </p:nvSpPr>
        <p:spPr>
          <a:xfrm>
            <a:off x="594360" y="1508760"/>
            <a:ext cx="8500000" cy="274320"/>
          </a:xfrm>
          <a:prstGeom prst="rect">
            <a:avLst/>
          </a:prstGeom>
          <a:noFill/>
          <a:ln/>
        </p:spPr>
        <p:txBody>
          <a:bodyPr wrap="square" lIns="0" tIns="0" rIns="0" bIns="0" rtlCol="0" anchor="ctr"/>
          <a:lstStyle/>
          <a:p>
            <a:pPr marL="0" indent="0" algn="l">
              <a:buNone/>
            </a:pPr>
            <a:r>
              <a:rPr lang="en-US" sz="1000" b="1" i="0" dirty="0">
                <a:solidFill>
                  <a:srgbClr val="8A1C1C"/>
                </a:solidFill>
                <a:latin typeface="Calibri" pitchFamily="34" charset="0"/>
                <a:ea typeface="Calibri" pitchFamily="34" charset="-122"/>
                <a:cs typeface="Calibri" pitchFamily="34" charset="-120"/>
              </a:rPr>
              <a:t>PROPOSED WORKFLOW — IMPLEMENTATION IN PROGRESS</a:t>
            </a:r>
            <a:endParaRPr lang="en-US" sz="1000" dirty="0"/>
          </a:p>
        </p:txBody>
      </p:sp>
      <p:sp>
        <p:nvSpPr>
          <p:cNvPr id="101" name="Shape 101"/>
          <p:cNvSpPr/>
          <p:nvPr/>
        </p:nvSpPr>
        <p:spPr>
          <a:xfrm>
            <a:off x="1089508" y="1950000"/>
            <a:ext cx="1783080" cy="1430000"/>
          </a:xfrm>
          <a:prstGeom prst="roundRect">
            <a:avLst>
              <a:gd name="adj" fmla="val 5385"/>
            </a:avLst>
          </a:prstGeom>
          <a:solidFill>
            <a:srgbClr val="EEF3F8"/>
          </a:solidFill>
          <a:ln w="12700">
            <a:solidFill>
              <a:srgbClr val="9FB0C3"/>
            </a:solidFill>
            <a:prstDash val="solid"/>
          </a:ln>
        </p:spPr>
      </p:sp>
      <p:sp>
        <p:nvSpPr>
          <p:cNvPr id="102" name="Text 102"/>
          <p:cNvSpPr txBox="1"/>
          <p:nvPr/>
        </p:nvSpPr>
        <p:spPr>
          <a:xfrm>
            <a:off x="1135228" y="2040000"/>
            <a:ext cx="1691640" cy="640000"/>
          </a:xfrm>
          <a:prstGeom prst="rect">
            <a:avLst/>
          </a:prstGeom>
          <a:noFill/>
          <a:ln/>
        </p:spPr>
        <p:txBody>
          <a:bodyPr wrap="square" lIns="0" tIns="0" rIns="0" bIns="0" rtlCol="0" anchor="ctr"/>
          <a:lstStyle/>
          <a:p>
            <a:pPr marL="0" indent="0" algn="ctr">
              <a:buNone/>
            </a:pPr>
            <a:r>
              <a:rPr lang="en-US" sz="1150" b="1" i="0" dirty="0">
                <a:solidFill>
                  <a:srgbClr val="17365D"/>
                </a:solidFill>
                <a:latin typeface="Calibri" pitchFamily="34" charset="0"/>
                <a:ea typeface="Calibri" pitchFamily="34" charset="-122"/>
                <a:cs typeface="Calibri" pitchFamily="34" charset="-120"/>
              </a:rPr>
              <a:t>Network</a:t>
            </a:r>
            <a:endParaRPr lang="en-US" sz="1150" dirty="0"/>
          </a:p>
          <a:p>
            <a:pPr marL="0" indent="0" algn="ctr">
              <a:buNone/>
            </a:pPr>
            <a:r>
              <a:rPr lang="en-US" sz="1150" b="1" i="0" dirty="0">
                <a:solidFill>
                  <a:srgbClr val="17365D"/>
                </a:solidFill>
                <a:latin typeface="Calibri" pitchFamily="34" charset="0"/>
                <a:ea typeface="Calibri" pitchFamily="34" charset="-122"/>
                <a:cs typeface="Calibri" pitchFamily="34" charset="-120"/>
              </a:rPr>
              <a:t>model</a:t>
            </a:r>
            <a:endParaRPr lang="en-US" sz="1150" dirty="0"/>
          </a:p>
        </p:txBody>
      </p:sp>
      <p:sp>
        <p:nvSpPr>
          <p:cNvPr id="103" name="Text 103"/>
          <p:cNvSpPr txBox="1"/>
          <p:nvPr/>
        </p:nvSpPr>
        <p:spPr>
          <a:xfrm>
            <a:off x="1116940" y="2700000"/>
            <a:ext cx="1728216" cy="620000"/>
          </a:xfrm>
          <a:prstGeom prst="rect">
            <a:avLst/>
          </a:prstGeom>
          <a:noFill/>
          <a:ln/>
        </p:spPr>
        <p:txBody>
          <a:bodyPr wrap="square" lIns="0" tIns="0" rIns="0" bIns="0" rtlCol="0" anchor="t"/>
          <a:lstStyle/>
          <a:p>
            <a:pPr marL="0" indent="0" algn="ctr">
              <a:buNone/>
            </a:pPr>
            <a:r>
              <a:rPr lang="en-US" sz="800" b="0" i="0" dirty="0">
                <a:solidFill>
                  <a:srgbClr val="5D6B7A"/>
                </a:solidFill>
                <a:latin typeface="Calibri" pitchFamily="34" charset="0"/>
                <a:ea typeface="Calibri" pitchFamily="34" charset="-122"/>
                <a:cs typeface="Calibri" pitchFamily="34" charset="-120"/>
              </a:rPr>
              <a:t>Nodes, links and traffic</a:t>
            </a:r>
            <a:endParaRPr lang="en-US" sz="800" dirty="0"/>
          </a:p>
        </p:txBody>
      </p:sp>
      <p:sp>
        <p:nvSpPr>
          <p:cNvPr id="104" name="Text 104"/>
          <p:cNvSpPr txBox="1"/>
          <p:nvPr/>
        </p:nvSpPr>
        <p:spPr>
          <a:xfrm>
            <a:off x="2881732" y="2509552"/>
            <a:ext cx="256032" cy="310896"/>
          </a:xfrm>
          <a:prstGeom prst="rect">
            <a:avLst/>
          </a:prstGeom>
          <a:noFill/>
          <a:ln/>
        </p:spPr>
        <p:txBody>
          <a:bodyPr wrap="square" lIns="0" tIns="0" rIns="0" bIns="0" rtlCol="0" anchor="ctr"/>
          <a:lstStyle/>
          <a:p>
            <a:pPr marL="0" indent="0" algn="ctr">
              <a:buNone/>
            </a:pPr>
            <a:r>
              <a:rPr lang="en-US" sz="1800" b="1" i="0" dirty="0">
                <a:solidFill>
                  <a:srgbClr val="8A1C1C"/>
                </a:solidFill>
                <a:latin typeface="Calibri" pitchFamily="34" charset="0"/>
                <a:ea typeface="Calibri" pitchFamily="34" charset="-122"/>
                <a:cs typeface="Calibri" pitchFamily="34" charset="-120"/>
              </a:rPr>
              <a:t>→</a:t>
            </a:r>
            <a:endParaRPr lang="en-US" sz="1800" dirty="0"/>
          </a:p>
        </p:txBody>
      </p:sp>
      <p:sp>
        <p:nvSpPr>
          <p:cNvPr id="105" name="Shape 105"/>
          <p:cNvSpPr/>
          <p:nvPr/>
        </p:nvSpPr>
        <p:spPr>
          <a:xfrm>
            <a:off x="3146908" y="1950000"/>
            <a:ext cx="1783080" cy="1430000"/>
          </a:xfrm>
          <a:prstGeom prst="roundRect">
            <a:avLst>
              <a:gd name="adj" fmla="val 5385"/>
            </a:avLst>
          </a:prstGeom>
          <a:solidFill>
            <a:srgbClr val="EEF3F8"/>
          </a:solidFill>
          <a:ln w="12700">
            <a:solidFill>
              <a:srgbClr val="9FB0C3"/>
            </a:solidFill>
            <a:prstDash val="solid"/>
          </a:ln>
        </p:spPr>
      </p:sp>
      <p:sp>
        <p:nvSpPr>
          <p:cNvPr id="106" name="Text 106"/>
          <p:cNvSpPr txBox="1"/>
          <p:nvPr/>
        </p:nvSpPr>
        <p:spPr>
          <a:xfrm>
            <a:off x="3192628" y="2040000"/>
            <a:ext cx="1691640" cy="640000"/>
          </a:xfrm>
          <a:prstGeom prst="rect">
            <a:avLst/>
          </a:prstGeom>
          <a:noFill/>
          <a:ln/>
        </p:spPr>
        <p:txBody>
          <a:bodyPr wrap="square" lIns="0" tIns="0" rIns="0" bIns="0" rtlCol="0" anchor="ctr"/>
          <a:lstStyle/>
          <a:p>
            <a:pPr marL="0" indent="0" algn="ctr">
              <a:buNone/>
            </a:pPr>
            <a:r>
              <a:rPr lang="en-US" sz="1150" b="1" i="0" dirty="0">
                <a:solidFill>
                  <a:srgbClr val="17365D"/>
                </a:solidFill>
                <a:latin typeface="Calibri" pitchFamily="34" charset="0"/>
                <a:ea typeface="Calibri" pitchFamily="34" charset="-122"/>
                <a:cs typeface="Calibri" pitchFamily="34" charset="-120"/>
              </a:rPr>
              <a:t>Fault</a:t>
            </a:r>
            <a:endParaRPr lang="en-US" sz="1150" dirty="0"/>
          </a:p>
          <a:p>
            <a:pPr marL="0" indent="0" algn="ctr">
              <a:buNone/>
            </a:pPr>
            <a:r>
              <a:rPr lang="en-US" sz="1150" b="1" i="0" dirty="0">
                <a:solidFill>
                  <a:srgbClr val="17365D"/>
                </a:solidFill>
                <a:latin typeface="Calibri" pitchFamily="34" charset="0"/>
                <a:ea typeface="Calibri" pitchFamily="34" charset="-122"/>
                <a:cs typeface="Calibri" pitchFamily="34" charset="-120"/>
              </a:rPr>
              <a:t>scenario</a:t>
            </a:r>
            <a:endParaRPr lang="en-US" sz="1150" dirty="0"/>
          </a:p>
        </p:txBody>
      </p:sp>
      <p:sp>
        <p:nvSpPr>
          <p:cNvPr id="107" name="Text 107"/>
          <p:cNvSpPr txBox="1"/>
          <p:nvPr/>
        </p:nvSpPr>
        <p:spPr>
          <a:xfrm>
            <a:off x="3174340" y="2700000"/>
            <a:ext cx="1728216" cy="620000"/>
          </a:xfrm>
          <a:prstGeom prst="rect">
            <a:avLst/>
          </a:prstGeom>
          <a:noFill/>
          <a:ln/>
        </p:spPr>
        <p:txBody>
          <a:bodyPr wrap="square" lIns="0" tIns="0" rIns="0" bIns="0" rtlCol="0" anchor="t"/>
          <a:lstStyle/>
          <a:p>
            <a:pPr marL="0" indent="0" algn="ctr">
              <a:buNone/>
            </a:pPr>
            <a:r>
              <a:rPr lang="en-US" sz="800" b="0" i="0" dirty="0">
                <a:solidFill>
                  <a:srgbClr val="5D6B7A"/>
                </a:solidFill>
                <a:latin typeface="Calibri" pitchFamily="34" charset="0"/>
                <a:ea typeface="Calibri" pitchFamily="34" charset="-122"/>
                <a:cs typeface="Calibri" pitchFamily="34" charset="-120"/>
              </a:rPr>
              <a:t>Congestion, link failure or routing instability</a:t>
            </a:r>
            <a:endParaRPr lang="en-US" sz="800" dirty="0"/>
          </a:p>
        </p:txBody>
      </p:sp>
      <p:sp>
        <p:nvSpPr>
          <p:cNvPr id="108" name="Text 108"/>
          <p:cNvSpPr txBox="1"/>
          <p:nvPr/>
        </p:nvSpPr>
        <p:spPr>
          <a:xfrm>
            <a:off x="4939132" y="2509552"/>
            <a:ext cx="256032" cy="310896"/>
          </a:xfrm>
          <a:prstGeom prst="rect">
            <a:avLst/>
          </a:prstGeom>
          <a:noFill/>
          <a:ln/>
        </p:spPr>
        <p:txBody>
          <a:bodyPr wrap="square" lIns="0" tIns="0" rIns="0" bIns="0" rtlCol="0" anchor="ctr"/>
          <a:lstStyle/>
          <a:p>
            <a:pPr marL="0" indent="0" algn="ctr">
              <a:buNone/>
            </a:pPr>
            <a:r>
              <a:rPr lang="en-US" sz="1800" b="1" i="0" dirty="0">
                <a:solidFill>
                  <a:srgbClr val="8A1C1C"/>
                </a:solidFill>
                <a:latin typeface="Calibri" pitchFamily="34" charset="0"/>
                <a:ea typeface="Calibri" pitchFamily="34" charset="-122"/>
                <a:cs typeface="Calibri" pitchFamily="34" charset="-120"/>
              </a:rPr>
              <a:t>→</a:t>
            </a:r>
            <a:endParaRPr lang="en-US" sz="1800" dirty="0"/>
          </a:p>
        </p:txBody>
      </p:sp>
      <p:sp>
        <p:nvSpPr>
          <p:cNvPr id="109" name="Shape 109"/>
          <p:cNvSpPr/>
          <p:nvPr/>
        </p:nvSpPr>
        <p:spPr>
          <a:xfrm>
            <a:off x="5204308" y="1950000"/>
            <a:ext cx="1783080" cy="1430000"/>
          </a:xfrm>
          <a:prstGeom prst="roundRect">
            <a:avLst>
              <a:gd name="adj" fmla="val 5385"/>
            </a:avLst>
          </a:prstGeom>
          <a:solidFill>
            <a:srgbClr val="EEF3F8"/>
          </a:solidFill>
          <a:ln w="12700">
            <a:solidFill>
              <a:srgbClr val="9FB0C3"/>
            </a:solidFill>
            <a:prstDash val="solid"/>
          </a:ln>
        </p:spPr>
      </p:sp>
      <p:sp>
        <p:nvSpPr>
          <p:cNvPr id="110" name="Text 110"/>
          <p:cNvSpPr txBox="1"/>
          <p:nvPr/>
        </p:nvSpPr>
        <p:spPr>
          <a:xfrm>
            <a:off x="5250028" y="2040000"/>
            <a:ext cx="1691640" cy="640000"/>
          </a:xfrm>
          <a:prstGeom prst="rect">
            <a:avLst/>
          </a:prstGeom>
          <a:noFill/>
          <a:ln/>
        </p:spPr>
        <p:txBody>
          <a:bodyPr wrap="square" lIns="0" tIns="0" rIns="0" bIns="0" rtlCol="0" anchor="ctr"/>
          <a:lstStyle/>
          <a:p>
            <a:pPr marL="0" indent="0" algn="ctr">
              <a:buNone/>
            </a:pPr>
            <a:r>
              <a:rPr lang="en-US" sz="1150" b="1" i="0" dirty="0">
                <a:solidFill>
                  <a:srgbClr val="17365D"/>
                </a:solidFill>
                <a:latin typeface="Calibri" pitchFamily="34" charset="0"/>
                <a:ea typeface="Calibri" pitchFamily="34" charset="-122"/>
                <a:cs typeface="Calibri" pitchFamily="34" charset="-120"/>
              </a:rPr>
              <a:t>Telemetry</a:t>
            </a:r>
            <a:endParaRPr lang="en-US" sz="1150" dirty="0"/>
          </a:p>
          <a:p>
            <a:pPr marL="0" indent="0" algn="ctr">
              <a:buNone/>
            </a:pPr>
            <a:r>
              <a:rPr lang="en-US" sz="1150" b="1" i="0" dirty="0">
                <a:solidFill>
                  <a:srgbClr val="17365D"/>
                </a:solidFill>
                <a:latin typeface="Calibri" pitchFamily="34" charset="0"/>
                <a:ea typeface="Calibri" pitchFamily="34" charset="-122"/>
                <a:cs typeface="Calibri" pitchFamily="34" charset="-120"/>
              </a:rPr>
              <a:t>input</a:t>
            </a:r>
            <a:endParaRPr lang="en-US" sz="1150" dirty="0"/>
          </a:p>
        </p:txBody>
      </p:sp>
      <p:sp>
        <p:nvSpPr>
          <p:cNvPr id="111" name="Text 111"/>
          <p:cNvSpPr txBox="1"/>
          <p:nvPr/>
        </p:nvSpPr>
        <p:spPr>
          <a:xfrm>
            <a:off x="5231740" y="2700000"/>
            <a:ext cx="1728216" cy="620000"/>
          </a:xfrm>
          <a:prstGeom prst="rect">
            <a:avLst/>
          </a:prstGeom>
          <a:noFill/>
          <a:ln/>
        </p:spPr>
        <p:txBody>
          <a:bodyPr wrap="square" lIns="0" tIns="0" rIns="0" bIns="0" rtlCol="0" anchor="t"/>
          <a:lstStyle/>
          <a:p>
            <a:pPr marL="0" indent="0" algn="ctr">
              <a:buNone/>
            </a:pPr>
            <a:r>
              <a:rPr lang="en-US" sz="800" b="0" i="0" dirty="0">
                <a:solidFill>
                  <a:srgbClr val="5D6B7A"/>
                </a:solidFill>
                <a:latin typeface="Calibri" pitchFamily="34" charset="0"/>
                <a:ea typeface="Calibri" pitchFamily="34" charset="-122"/>
                <a:cs typeface="Calibri" pitchFamily="34" charset="-120"/>
              </a:rPr>
              <a:t>Latency, throughput and packet loss</a:t>
            </a:r>
            <a:endParaRPr lang="en-US" sz="800" dirty="0"/>
          </a:p>
        </p:txBody>
      </p:sp>
      <p:sp>
        <p:nvSpPr>
          <p:cNvPr id="112" name="Text 112"/>
          <p:cNvSpPr txBox="1"/>
          <p:nvPr/>
        </p:nvSpPr>
        <p:spPr>
          <a:xfrm>
            <a:off x="6996532" y="2509552"/>
            <a:ext cx="256032" cy="310896"/>
          </a:xfrm>
          <a:prstGeom prst="rect">
            <a:avLst/>
          </a:prstGeom>
          <a:noFill/>
          <a:ln/>
        </p:spPr>
        <p:txBody>
          <a:bodyPr wrap="square" lIns="0" tIns="0" rIns="0" bIns="0" rtlCol="0" anchor="ctr"/>
          <a:lstStyle/>
          <a:p>
            <a:pPr marL="0" indent="0" algn="ctr">
              <a:buNone/>
            </a:pPr>
            <a:r>
              <a:rPr lang="en-US" sz="1800" b="1" i="0" dirty="0">
                <a:solidFill>
                  <a:srgbClr val="8A1C1C"/>
                </a:solidFill>
                <a:latin typeface="Calibri" pitchFamily="34" charset="0"/>
                <a:ea typeface="Calibri" pitchFamily="34" charset="-122"/>
                <a:cs typeface="Calibri" pitchFamily="34" charset="-120"/>
              </a:rPr>
              <a:t>→</a:t>
            </a:r>
            <a:endParaRPr lang="en-US" sz="1800" dirty="0"/>
          </a:p>
        </p:txBody>
      </p:sp>
      <p:sp>
        <p:nvSpPr>
          <p:cNvPr id="113" name="Shape 113"/>
          <p:cNvSpPr/>
          <p:nvPr/>
        </p:nvSpPr>
        <p:spPr>
          <a:xfrm>
            <a:off x="7261708" y="1950000"/>
            <a:ext cx="1783080" cy="1430000"/>
          </a:xfrm>
          <a:prstGeom prst="roundRect">
            <a:avLst>
              <a:gd name="adj" fmla="val 5385"/>
            </a:avLst>
          </a:prstGeom>
          <a:solidFill>
            <a:srgbClr val="FCEAEA"/>
          </a:solidFill>
          <a:ln w="19050">
            <a:solidFill>
              <a:srgbClr val="8A1C1C"/>
            </a:solidFill>
            <a:prstDash val="solid"/>
          </a:ln>
        </p:spPr>
      </p:sp>
      <p:sp>
        <p:nvSpPr>
          <p:cNvPr id="114" name="Text 114"/>
          <p:cNvSpPr txBox="1"/>
          <p:nvPr/>
        </p:nvSpPr>
        <p:spPr>
          <a:xfrm>
            <a:off x="7307428" y="2040000"/>
            <a:ext cx="1691640" cy="640000"/>
          </a:xfrm>
          <a:prstGeom prst="rect">
            <a:avLst/>
          </a:prstGeom>
          <a:noFill/>
          <a:ln/>
        </p:spPr>
        <p:txBody>
          <a:bodyPr wrap="square" lIns="0" tIns="0" rIns="0" bIns="0" rtlCol="0" anchor="ctr"/>
          <a:lstStyle/>
          <a:p>
            <a:pPr marL="0" indent="0" algn="ctr">
              <a:buNone/>
            </a:pPr>
            <a:r>
              <a:rPr lang="en-US" sz="1150" b="1" i="0" dirty="0">
                <a:solidFill>
                  <a:srgbClr val="17365D"/>
                </a:solidFill>
                <a:latin typeface="Calibri" pitchFamily="34" charset="0"/>
                <a:ea typeface="Calibri" pitchFamily="34" charset="-122"/>
                <a:cs typeface="Calibri" pitchFamily="34" charset="-120"/>
              </a:rPr>
              <a:t>AI/ML</a:t>
            </a:r>
            <a:endParaRPr lang="en-US" sz="1150" dirty="0"/>
          </a:p>
          <a:p>
            <a:pPr marL="0" indent="0" algn="ctr">
              <a:buNone/>
            </a:pPr>
            <a:r>
              <a:rPr lang="en-US" sz="1150" b="1" i="0" dirty="0">
                <a:solidFill>
                  <a:srgbClr val="17365D"/>
                </a:solidFill>
                <a:latin typeface="Calibri" pitchFamily="34" charset="0"/>
                <a:ea typeface="Calibri" pitchFamily="34" charset="-122"/>
                <a:cs typeface="Calibri" pitchFamily="34" charset="-120"/>
              </a:rPr>
              <a:t>decision</a:t>
            </a:r>
            <a:endParaRPr lang="en-US" sz="1150" dirty="0"/>
          </a:p>
        </p:txBody>
      </p:sp>
      <p:sp>
        <p:nvSpPr>
          <p:cNvPr id="115" name="Text 115"/>
          <p:cNvSpPr txBox="1"/>
          <p:nvPr/>
        </p:nvSpPr>
        <p:spPr>
          <a:xfrm>
            <a:off x="7289140" y="2700000"/>
            <a:ext cx="1728216" cy="620000"/>
          </a:xfrm>
          <a:prstGeom prst="rect">
            <a:avLst/>
          </a:prstGeom>
          <a:noFill/>
          <a:ln/>
        </p:spPr>
        <p:txBody>
          <a:bodyPr wrap="square" lIns="0" tIns="0" rIns="0" bIns="0" rtlCol="0" anchor="t"/>
          <a:lstStyle/>
          <a:p>
            <a:pPr marL="0" indent="0" algn="ctr">
              <a:buNone/>
            </a:pPr>
            <a:r>
              <a:rPr lang="en-US" sz="800" b="0" i="0" dirty="0">
                <a:solidFill>
                  <a:srgbClr val="5D6B7A"/>
                </a:solidFill>
                <a:latin typeface="Calibri" pitchFamily="34" charset="0"/>
                <a:ea typeface="Calibri" pitchFamily="34" charset="-122"/>
                <a:cs typeface="Calibri" pitchFamily="34" charset="-120"/>
              </a:rPr>
              <a:t>Model development and output refinement — in progress</a:t>
            </a:r>
            <a:endParaRPr lang="en-US" sz="800" dirty="0"/>
          </a:p>
        </p:txBody>
      </p:sp>
      <p:sp>
        <p:nvSpPr>
          <p:cNvPr id="116" name="Text 116"/>
          <p:cNvSpPr txBox="1"/>
          <p:nvPr/>
        </p:nvSpPr>
        <p:spPr>
          <a:xfrm>
            <a:off x="9053932" y="2509552"/>
            <a:ext cx="256032" cy="310896"/>
          </a:xfrm>
          <a:prstGeom prst="rect">
            <a:avLst/>
          </a:prstGeom>
          <a:noFill/>
          <a:ln/>
        </p:spPr>
        <p:txBody>
          <a:bodyPr wrap="square" lIns="0" tIns="0" rIns="0" bIns="0" rtlCol="0" anchor="ctr"/>
          <a:lstStyle/>
          <a:p>
            <a:pPr marL="0" indent="0" algn="ctr">
              <a:buNone/>
            </a:pPr>
            <a:r>
              <a:rPr lang="en-US" sz="1800" b="1" i="0" dirty="0">
                <a:solidFill>
                  <a:srgbClr val="8A1C1C"/>
                </a:solidFill>
                <a:latin typeface="Calibri" pitchFamily="34" charset="0"/>
                <a:ea typeface="Calibri" pitchFamily="34" charset="-122"/>
                <a:cs typeface="Calibri" pitchFamily="34" charset="-120"/>
              </a:rPr>
              <a:t>→</a:t>
            </a:r>
            <a:endParaRPr lang="en-US" sz="1800" dirty="0"/>
          </a:p>
        </p:txBody>
      </p:sp>
      <p:sp>
        <p:nvSpPr>
          <p:cNvPr id="117" name="Shape 117"/>
          <p:cNvSpPr/>
          <p:nvPr/>
        </p:nvSpPr>
        <p:spPr>
          <a:xfrm>
            <a:off x="9319108" y="1950000"/>
            <a:ext cx="1783080" cy="1430000"/>
          </a:xfrm>
          <a:prstGeom prst="roundRect">
            <a:avLst>
              <a:gd name="adj" fmla="val 5385"/>
            </a:avLst>
          </a:prstGeom>
          <a:solidFill>
            <a:srgbClr val="EEF3F8"/>
          </a:solidFill>
          <a:ln w="12700">
            <a:solidFill>
              <a:srgbClr val="9FB0C3"/>
            </a:solidFill>
            <a:prstDash val="solid"/>
          </a:ln>
        </p:spPr>
      </p:sp>
      <p:sp>
        <p:nvSpPr>
          <p:cNvPr id="118" name="Text 118"/>
          <p:cNvSpPr txBox="1"/>
          <p:nvPr/>
        </p:nvSpPr>
        <p:spPr>
          <a:xfrm>
            <a:off x="9364828" y="2040000"/>
            <a:ext cx="1691640" cy="640000"/>
          </a:xfrm>
          <a:prstGeom prst="rect">
            <a:avLst/>
          </a:prstGeom>
          <a:noFill/>
          <a:ln/>
        </p:spPr>
        <p:txBody>
          <a:bodyPr wrap="square" lIns="0" tIns="0" rIns="0" bIns="0" rtlCol="0" anchor="ctr"/>
          <a:lstStyle/>
          <a:p>
            <a:pPr marL="0" indent="0" algn="ctr">
              <a:buNone/>
            </a:pPr>
            <a:r>
              <a:rPr lang="en-US" sz="1150" b="1" i="0" dirty="0">
                <a:solidFill>
                  <a:srgbClr val="17365D"/>
                </a:solidFill>
                <a:latin typeface="Calibri" pitchFamily="34" charset="0"/>
                <a:ea typeface="Calibri" pitchFamily="34" charset="-122"/>
                <a:cs typeface="Calibri" pitchFamily="34" charset="-120"/>
              </a:rPr>
              <a:t>Proposed</a:t>
            </a:r>
            <a:endParaRPr lang="en-US" sz="1150" dirty="0"/>
          </a:p>
          <a:p>
            <a:pPr marL="0" indent="0" algn="ctr">
              <a:buNone/>
            </a:pPr>
            <a:r>
              <a:rPr lang="en-US" sz="1150" b="1" i="0" dirty="0">
                <a:solidFill>
                  <a:srgbClr val="17365D"/>
                </a:solidFill>
                <a:latin typeface="Calibri" pitchFamily="34" charset="0"/>
                <a:ea typeface="Calibri" pitchFamily="34" charset="-122"/>
                <a:cs typeface="Calibri" pitchFamily="34" charset="-120"/>
              </a:rPr>
              <a:t>response</a:t>
            </a:r>
            <a:endParaRPr lang="en-US" sz="1150" dirty="0"/>
          </a:p>
        </p:txBody>
      </p:sp>
      <p:sp>
        <p:nvSpPr>
          <p:cNvPr id="119" name="Text 119"/>
          <p:cNvSpPr txBox="1"/>
          <p:nvPr/>
        </p:nvSpPr>
        <p:spPr>
          <a:xfrm>
            <a:off x="9346540" y="2700000"/>
            <a:ext cx="1728216" cy="620000"/>
          </a:xfrm>
          <a:prstGeom prst="rect">
            <a:avLst/>
          </a:prstGeom>
          <a:noFill/>
          <a:ln/>
        </p:spPr>
        <p:txBody>
          <a:bodyPr wrap="square" lIns="0" tIns="0" rIns="0" bIns="0" rtlCol="0" anchor="t"/>
          <a:lstStyle/>
          <a:p>
            <a:pPr marL="0" indent="0" algn="ctr">
              <a:buNone/>
            </a:pPr>
            <a:r>
              <a:rPr lang="en-US" sz="800" b="0" i="0" dirty="0">
                <a:solidFill>
                  <a:srgbClr val="5D6B7A"/>
                </a:solidFill>
                <a:latin typeface="Calibri" pitchFamily="34" charset="0"/>
                <a:ea typeface="Calibri" pitchFamily="34" charset="-122"/>
                <a:cs typeface="Calibri" pitchFamily="34" charset="-120"/>
              </a:rPr>
              <a:t>Recommend an appropriate network correction</a:t>
            </a:r>
            <a:endParaRPr lang="en-US" sz="800" dirty="0"/>
          </a:p>
        </p:txBody>
      </p:sp>
      <p:sp>
        <p:nvSpPr>
          <p:cNvPr id="120" name="Shape 120"/>
          <p:cNvSpPr/>
          <p:nvPr/>
        </p:nvSpPr>
        <p:spPr>
          <a:xfrm>
            <a:off x="594360" y="3999518"/>
            <a:ext cx="11002975" cy="1250000"/>
          </a:xfrm>
          <a:prstGeom prst="rect">
            <a:avLst/>
          </a:prstGeom>
          <a:solidFill>
            <a:srgbClr val="FFFFFF"/>
          </a:solidFill>
          <a:ln w="9525">
            <a:solidFill>
              <a:srgbClr val="D7DEE8"/>
            </a:solidFill>
            <a:prstDash val="solid"/>
          </a:ln>
        </p:spPr>
      </p:sp>
      <p:sp>
        <p:nvSpPr>
          <p:cNvPr id="121" name="Text 121"/>
          <p:cNvSpPr txBox="1"/>
          <p:nvPr/>
        </p:nvSpPr>
        <p:spPr>
          <a:xfrm>
            <a:off x="758952" y="4017009"/>
            <a:ext cx="3000000" cy="274320"/>
          </a:xfrm>
          <a:prstGeom prst="rect">
            <a:avLst/>
          </a:prstGeom>
          <a:noFill/>
          <a:ln/>
        </p:spPr>
        <p:txBody>
          <a:bodyPr wrap="square" lIns="0" tIns="0" rIns="0" bIns="0" rtlCol="0" anchor="ctr"/>
          <a:lstStyle/>
          <a:p>
            <a:pPr marL="0" indent="0" algn="l">
              <a:buNone/>
            </a:pPr>
            <a:r>
              <a:rPr lang="en-US" sz="1150" b="1" i="0" dirty="0">
                <a:solidFill>
                  <a:srgbClr val="17365D"/>
                </a:solidFill>
                <a:latin typeface="Calibri" pitchFamily="34" charset="0"/>
                <a:ea typeface="Calibri" pitchFamily="34" charset="-122"/>
                <a:cs typeface="Calibri" pitchFamily="34" charset="-120"/>
              </a:rPr>
              <a:t>Setup</a:t>
            </a:r>
            <a:endParaRPr lang="en-US" sz="1150" dirty="0"/>
          </a:p>
        </p:txBody>
      </p:sp>
      <p:sp>
        <p:nvSpPr>
          <p:cNvPr id="122" name="Text 122"/>
          <p:cNvSpPr txBox="1"/>
          <p:nvPr/>
        </p:nvSpPr>
        <p:spPr>
          <a:xfrm>
            <a:off x="758952" y="4337048"/>
            <a:ext cx="10484071" cy="790000"/>
          </a:xfrm>
          <a:prstGeom prst="rect">
            <a:avLst/>
          </a:prstGeom>
          <a:noFill/>
          <a:ln/>
        </p:spPr>
        <p:txBody>
          <a:bodyPr wrap="square" lIns="0" tIns="0" rIns="0" bIns="0" rtlCol="0" anchor="t"/>
          <a:lstStyle/>
          <a:p>
            <a:pPr marL="137160" indent="-137160" algn="l">
              <a:buFont typeface="Arial"/>
              <a:buChar char="•"/>
            </a:pPr>
            <a:r>
              <a:rPr lang="en-US" sz="1000" dirty="0">
                <a:solidFill>
                  <a:srgbClr val="5D6B7A"/>
                </a:solidFill>
                <a:latin typeface="Calibri" pitchFamily="34" charset="0"/>
                <a:ea typeface="Calibri" pitchFamily="34" charset="-122"/>
                <a:cs typeface="Calibri" pitchFamily="34" charset="-120"/>
              </a:rPr>
              <a:t>Topology sizes: confirm from run config before presenting</a:t>
            </a:r>
            <a:endParaRPr lang="en-US" sz="1000" dirty="0"/>
          </a:p>
          <a:p>
            <a:pPr marL="137160" indent="-137160" algn="l">
              <a:buFont typeface="Arial"/>
              <a:buChar char="•"/>
            </a:pPr>
            <a:r>
              <a:rPr lang="en-US" sz="1000" dirty="0">
                <a:solidFill>
                  <a:srgbClr val="5D6B7A"/>
                </a:solidFill>
                <a:latin typeface="Calibri" pitchFamily="34" charset="0"/>
                <a:ea typeface="Calibri" pitchFamily="34" charset="-122"/>
                <a:cs typeface="Calibri" pitchFamily="34" charset="-120"/>
              </a:rPr>
              <a:t>Simulated metrics: latency, throughput, packet loss, congestion, device health</a:t>
            </a:r>
            <a:endParaRPr lang="en-US" sz="1000" dirty="0"/>
          </a:p>
          <a:p>
            <a:pPr marL="137160" indent="-137160" algn="l">
              <a:buFont typeface="Arial"/>
              <a:buChar char="•"/>
            </a:pPr>
            <a:r>
              <a:rPr lang="en-US" sz="1000" dirty="0">
                <a:solidFill>
                  <a:srgbClr val="5D6B7A"/>
                </a:solidFill>
                <a:latin typeface="Calibri" pitchFamily="34" charset="0"/>
                <a:ea typeface="Calibri" pitchFamily="34" charset="-122"/>
                <a:cs typeface="Calibri" pitchFamily="34" charset="-120"/>
              </a:rPr>
              <a:t>Faults injected: congestion, routing instability, link failure</a:t>
            </a:r>
            <a:endParaRPr lang="en-US" sz="1000" dirty="0"/>
          </a:p>
          <a:p>
            <a:pPr marL="137160" indent="-137160" algn="l">
              <a:buFont typeface="Arial"/>
              <a:buChar char="•"/>
            </a:pPr>
            <a:r>
              <a:rPr lang="en-US" sz="1000" dirty="0">
                <a:solidFill>
                  <a:srgbClr val="5D6B7A"/>
                </a:solidFill>
                <a:latin typeface="Calibri" pitchFamily="34" charset="0"/>
                <a:ea typeface="Calibri" pitchFamily="34" charset="-122"/>
                <a:cs typeface="Calibri" pitchFamily="34" charset="-120"/>
              </a:rPr>
              <a:t>Environment: Python-based simulator under development, CPU-only</a:t>
            </a:r>
            <a:endParaRPr lang="en-US" sz="1000" dirty="0"/>
          </a:p>
          <a:p>
            <a:pPr marL="137160" indent="-137160" algn="l">
              <a:buFont typeface="Arial"/>
              <a:buChar char="•"/>
            </a:pPr>
            <a:r>
              <a:rPr lang="en-US" sz="1000" dirty="0">
                <a:solidFill>
                  <a:srgbClr val="5D6B7A"/>
                </a:solidFill>
                <a:latin typeface="Calibri" pitchFamily="34" charset="0"/>
                <a:ea typeface="Calibri" pitchFamily="34" charset="-122"/>
                <a:cs typeface="Calibri" pitchFamily="34" charset="-120"/>
              </a:rPr>
              <a:t>No public labelled dataset — telemetry is generated by the simulator; Mininet is proposed future work</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7F9FC"/>
        </a:solidFill>
        <a:effectLst/>
      </p:bgPr>
    </p:bg>
    <p:spTree>
      <p:nvGrpSpPr>
        <p:cNvPr id="1" name=""/>
        <p:cNvGrpSpPr/>
        <p:nvPr/>
      </p:nvGrpSpPr>
      <p:grpSpPr>
        <a:xfrm>
          <a:off x="0" y="0"/>
          <a:ext cx="0" cy="0"/>
          <a:chOff x="0" y="0"/>
          <a:chExt cx="0" cy="0"/>
        </a:xfrm>
      </p:grpSpPr>
      <p:sp>
        <p:nvSpPr>
          <p:cNvPr id="2" name="Shape 0"/>
          <p:cNvSpPr/>
          <p:nvPr/>
        </p:nvSpPr>
        <p:spPr>
          <a:xfrm>
            <a:off x="0" y="0"/>
            <a:ext cx="12191695" cy="256032"/>
          </a:xfrm>
          <a:prstGeom prst="rect">
            <a:avLst/>
          </a:prstGeom>
          <a:solidFill>
            <a:srgbClr val="17365D"/>
          </a:solidFill>
          <a:ln w="12700">
            <a:solidFill>
              <a:srgbClr val="17365D"/>
            </a:solidFill>
            <a:prstDash val="solid"/>
          </a:ln>
        </p:spPr>
      </p:sp>
      <p:sp>
        <p:nvSpPr>
          <p:cNvPr id="3" name="Text 1"/>
          <p:cNvSpPr txBox="1"/>
          <p:nvPr/>
        </p:nvSpPr>
        <p:spPr>
          <a:xfrm>
            <a:off x="594360" y="475488"/>
            <a:ext cx="10607040" cy="438912"/>
          </a:xfrm>
          <a:prstGeom prst="rect">
            <a:avLst/>
          </a:prstGeom>
          <a:noFill/>
          <a:ln/>
        </p:spPr>
        <p:txBody>
          <a:bodyPr wrap="square" lIns="0" tIns="0" rIns="0" bIns="0" rtlCol="0" anchor="ctr"/>
          <a:lstStyle/>
          <a:p>
            <a:pPr marL="0" indent="0" algn="l">
              <a:buNone/>
            </a:pPr>
            <a:r>
              <a:rPr lang="en-US" sz="2400" b="1" dirty="0">
                <a:solidFill>
                  <a:srgbClr val="17365D"/>
                </a:solidFill>
                <a:latin typeface="Calibri" pitchFamily="34" charset="0"/>
                <a:ea typeface="Calibri" pitchFamily="34" charset="-122"/>
                <a:cs typeface="Calibri" pitchFamily="34" charset="-120"/>
              </a:rPr>
              <a:t>6. Anomaly Detection</a:t>
            </a:r>
            <a:endParaRPr lang="en-US" sz="2400" dirty="0"/>
          </a:p>
        </p:txBody>
      </p:sp>
      <p:sp>
        <p:nvSpPr>
          <p:cNvPr id="4" name="Shape 2"/>
          <p:cNvSpPr/>
          <p:nvPr/>
        </p:nvSpPr>
        <p:spPr>
          <a:xfrm>
            <a:off x="594360" y="1005840"/>
            <a:ext cx="1097280" cy="0"/>
          </a:xfrm>
          <a:prstGeom prst="line">
            <a:avLst/>
          </a:prstGeom>
          <a:noFill/>
          <a:ln w="38100">
            <a:solidFill>
              <a:srgbClr val="8A1C1C"/>
            </a:solidFill>
            <a:prstDash val="solid"/>
          </a:ln>
        </p:spPr>
      </p:sp>
      <p:sp>
        <p:nvSpPr>
          <p:cNvPr id="5" name="Text 3"/>
          <p:cNvSpPr txBox="1"/>
          <p:nvPr/>
        </p:nvSpPr>
        <p:spPr>
          <a:xfrm>
            <a:off x="1920240" y="877824"/>
            <a:ext cx="8961120" cy="274320"/>
          </a:xfrm>
          <a:prstGeom prst="rect">
            <a:avLst/>
          </a:prstGeom>
          <a:noFill/>
          <a:ln/>
        </p:spPr>
        <p:txBody>
          <a:bodyPr wrap="square" lIns="0" tIns="0" rIns="0" bIns="0" rtlCol="0" anchor="ctr"/>
          <a:lstStyle/>
          <a:p>
            <a:pPr marL="0" indent="0" algn="l">
              <a:buNone/>
            </a:pPr>
            <a:r>
              <a:rPr lang="en-US" sz="1200" dirty="0">
                <a:solidFill>
                  <a:srgbClr val="5D6B7A"/>
                </a:solidFill>
                <a:latin typeface="Calibri" pitchFamily="34" charset="0"/>
                <a:ea typeface="Calibri" pitchFamily="34" charset="-122"/>
                <a:cs typeface="Calibri" pitchFamily="34" charset="-120"/>
              </a:rPr>
              <a:t>Detector design — to be matched to the active code</a:t>
            </a:r>
            <a:endParaRPr lang="en-US" sz="1200" dirty="0"/>
          </a:p>
        </p:txBody>
      </p:sp>
      <p:sp>
        <p:nvSpPr>
          <p:cNvPr id="6" name="Shape 4"/>
          <p:cNvSpPr/>
          <p:nvPr/>
        </p:nvSpPr>
        <p:spPr>
          <a:xfrm>
            <a:off x="594360" y="6446520"/>
            <a:ext cx="11002975" cy="0"/>
          </a:xfrm>
          <a:prstGeom prst="line">
            <a:avLst/>
          </a:prstGeom>
          <a:noFill/>
          <a:ln w="9525">
            <a:solidFill>
              <a:srgbClr val="CBD5E1"/>
            </a:solidFill>
            <a:prstDash val="solid"/>
          </a:ln>
        </p:spPr>
      </p:sp>
      <p:sp>
        <p:nvSpPr>
          <p:cNvPr id="7" name="Text 5"/>
          <p:cNvSpPr txBox="1"/>
          <p:nvPr/>
        </p:nvSpPr>
        <p:spPr>
          <a:xfrm>
            <a:off x="594360" y="6492240"/>
            <a:ext cx="6858000" cy="219456"/>
          </a:xfrm>
          <a:prstGeom prst="rect">
            <a:avLst/>
          </a:prstGeom>
          <a:noFill/>
          <a:ln/>
        </p:spPr>
        <p:txBody>
          <a:bodyPr wrap="square" lIns="0" tIns="0" rIns="0" bIns="0" rtlCol="0" anchor="ctr"/>
          <a:lstStyle/>
          <a:p>
            <a:pPr marL="0" indent="0" algn="l">
              <a:buNone/>
            </a:pPr>
            <a:r>
              <a:rPr lang="en-US" sz="900" dirty="0">
                <a:solidFill>
                  <a:srgbClr val="5D6B7A"/>
                </a:solidFill>
                <a:latin typeface="Calibri" pitchFamily="34" charset="0"/>
                <a:ea typeface="Calibri" pitchFamily="34" charset="-122"/>
                <a:cs typeface="Calibri" pitchFamily="34" charset="-120"/>
              </a:rPr>
              <a:t>KPR Institute of Engineering and Technology  |  Department of Information Technology</a:t>
            </a:r>
            <a:endParaRPr lang="en-US" sz="900" dirty="0"/>
          </a:p>
        </p:txBody>
      </p:sp>
      <p:sp>
        <p:nvSpPr>
          <p:cNvPr id="8" name="Text 6"/>
          <p:cNvSpPr txBox="1"/>
          <p:nvPr/>
        </p:nvSpPr>
        <p:spPr>
          <a:xfrm>
            <a:off x="7939735" y="6492240"/>
            <a:ext cx="3657600" cy="219456"/>
          </a:xfrm>
          <a:prstGeom prst="rect">
            <a:avLst/>
          </a:prstGeom>
          <a:noFill/>
          <a:ln/>
        </p:spPr>
        <p:txBody>
          <a:bodyPr wrap="square" lIns="0" tIns="0" rIns="0" bIns="0" rtlCol="0" anchor="ctr"/>
          <a:lstStyle/>
          <a:p>
            <a:pPr marL="0" indent="0" algn="r">
              <a:buNone/>
            </a:pPr>
            <a:r>
              <a:rPr lang="en-US" sz="900" b="1" dirty="0">
                <a:solidFill>
                  <a:srgbClr val="8A1C1C"/>
                </a:solidFill>
                <a:latin typeface="Calibri" pitchFamily="34" charset="0"/>
                <a:ea typeface="Calibri" pitchFamily="34" charset="-122"/>
                <a:cs typeface="Calibri" pitchFamily="34" charset="-120"/>
              </a:rPr>
              <a:t> REVIEW  - III  |   6</a:t>
            </a:r>
            <a:endParaRPr lang="en-US" sz="900" dirty="0"/>
          </a:p>
        </p:txBody>
      </p:sp>
      <p:sp>
        <p:nvSpPr>
          <p:cNvPr id="199" name="Text 199"/>
          <p:cNvSpPr txBox="1"/>
          <p:nvPr/>
        </p:nvSpPr>
        <p:spPr>
          <a:xfrm>
            <a:off x="594360" y="3466044"/>
            <a:ext cx="6000000" cy="230000"/>
          </a:xfrm>
          <a:prstGeom prst="rect">
            <a:avLst/>
          </a:prstGeom>
          <a:noFill/>
          <a:ln/>
        </p:spPr>
        <p:txBody>
          <a:bodyPr wrap="square" lIns="0" tIns="0" rIns="0" bIns="0" rtlCol="0" anchor="ctr"/>
          <a:lstStyle/>
          <a:p>
            <a:pPr marL="0" indent="0" algn="l">
              <a:buNone/>
            </a:pPr>
            <a:r>
              <a:rPr lang="en-US" sz="950" b="0" i="1" dirty="0">
                <a:solidFill>
                  <a:srgbClr val="5D6B7A"/>
                </a:solidFill>
                <a:latin typeface="Calibri" pitchFamily="34" charset="0"/>
                <a:ea typeface="Calibri" pitchFamily="34" charset="-122"/>
                <a:cs typeface="Calibri" pitchFamily="34" charset="-120"/>
              </a:rPr>
              <a:t>Proposed thresholds — pending validation against the active code</a:t>
            </a:r>
            <a:endParaRPr lang="en-US" sz="950" dirty="0"/>
          </a:p>
        </p:txBody>
      </p:sp>
      <p:graphicFrame>
        <p:nvGraphicFramePr>
          <p:cNvPr id="9" name="Table 0"/>
          <p:cNvGraphicFramePr>
            <a:graphicFrameLocks noGrp="1"/>
          </p:cNvGraphicFramePr>
          <p:nvPr>
            <p:extLst>
              <p:ext uri="{D42A27DB-BD31-4B8C-83A1-F6EECF244321}">
                <p14:modId xmlns:p14="http://schemas.microsoft.com/office/powerpoint/2010/main" val="4007839204"/>
              </p:ext>
            </p:extLst>
          </p:nvPr>
        </p:nvGraphicFramePr>
        <p:xfrm>
          <a:off x="594360" y="3910848"/>
          <a:ext cx="11002975" cy="1243584"/>
        </p:xfrm>
        <a:graphic>
          <a:graphicData uri="http://schemas.openxmlformats.org/drawingml/2006/table">
            <a:tbl>
              <a:tblPr/>
              <a:tblGrid>
                <a:gridCol w="2011680">
                  <a:extLst>
                    <a:ext uri="{9D8B030D-6E8A-4147-A177-3AD203B41FA5}">
                      <a16:colId xmlns:a16="http://schemas.microsoft.com/office/drawing/2014/main" val="20000"/>
                    </a:ext>
                  </a:extLst>
                </a:gridCol>
                <a:gridCol w="8991295">
                  <a:extLst>
                    <a:ext uri="{9D8B030D-6E8A-4147-A177-3AD203B41FA5}">
                      <a16:colId xmlns:a16="http://schemas.microsoft.com/office/drawing/2014/main" val="20001"/>
                    </a:ext>
                  </a:extLst>
                </a:gridCol>
              </a:tblGrid>
              <a:tr h="310896">
                <a:tc>
                  <a:txBody>
                    <a:bodyPr/>
                    <a:lstStyle/>
                    <a:p>
                      <a:pPr marL="0" indent="0" algn="l">
                        <a:buNone/>
                      </a:pPr>
                      <a:r>
                        <a:rPr lang="en-US" sz="1150" b="1" dirty="0">
                          <a:solidFill>
                            <a:srgbClr val="17365D"/>
                          </a:solidFill>
                          <a:latin typeface="Calibri" pitchFamily="34" charset="0"/>
                          <a:ea typeface="Calibri" pitchFamily="34" charset="-122"/>
                          <a:cs typeface="Calibri" pitchFamily="34" charset="-120"/>
                        </a:rPr>
                        <a:t>Score</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lgn="l">
                        <a:buNone/>
                      </a:pPr>
                      <a:r>
                        <a:rPr lang="en-US" sz="1150" b="1" dirty="0">
                          <a:solidFill>
                            <a:srgbClr val="17365D"/>
                          </a:solidFill>
                          <a:latin typeface="Calibri" pitchFamily="34" charset="0"/>
                          <a:ea typeface="Calibri" pitchFamily="34" charset="-122"/>
                          <a:cs typeface="Calibri" pitchFamily="34" charset="-120"/>
                        </a:rPr>
                        <a:t>Action</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0"/>
                  </a:ext>
                </a:extLst>
              </a:tr>
              <a:tr h="310896">
                <a:tc>
                  <a:txBody>
                    <a:bodyPr/>
                    <a:lstStyle/>
                    <a:p>
                      <a:pPr marL="0" indent="0" algn="l">
                        <a:buNone/>
                      </a:pPr>
                      <a:r>
                        <a:rPr lang="en-US" sz="1100" dirty="0">
                          <a:solidFill>
                            <a:srgbClr val="1F2937"/>
                          </a:solidFill>
                          <a:latin typeface="Calibri" pitchFamily="34" charset="0"/>
                          <a:ea typeface="Calibri" pitchFamily="34" charset="-122"/>
                          <a:cs typeface="Calibri" pitchFamily="34" charset="-120"/>
                        </a:rPr>
                        <a:t>&gt; 0.7</a:t>
                      </a:r>
                      <a:endParaRPr lang="en-US" sz="11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lgn="l">
                        <a:buNone/>
                      </a:pPr>
                      <a:r>
                        <a:rPr lang="en-US" sz="1100" dirty="0">
                          <a:solidFill>
                            <a:srgbClr val="1F2937"/>
                          </a:solidFill>
                          <a:latin typeface="Calibri" pitchFamily="34" charset="0"/>
                          <a:ea typeface="Calibri" pitchFamily="34" charset="-122"/>
                          <a:cs typeface="Calibri" pitchFamily="34" charset="-120"/>
                        </a:rPr>
                        <a:t>Trigger RL decision pipeline</a:t>
                      </a:r>
                      <a:endParaRPr lang="en-US" sz="11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310896">
                <a:tc>
                  <a:txBody>
                    <a:bodyPr/>
                    <a:lstStyle/>
                    <a:p>
                      <a:pPr marL="0" indent="0" algn="l">
                        <a:buNone/>
                      </a:pPr>
                      <a:r>
                        <a:rPr lang="en-US" sz="1100" dirty="0">
                          <a:solidFill>
                            <a:srgbClr val="1F2937"/>
                          </a:solidFill>
                          <a:latin typeface="Calibri" pitchFamily="34" charset="0"/>
                          <a:ea typeface="Calibri" pitchFamily="34" charset="-122"/>
                          <a:cs typeface="Calibri" pitchFamily="34" charset="-120"/>
                        </a:rPr>
                        <a:t>0.5 – 0.7</a:t>
                      </a:r>
                      <a:endParaRPr lang="en-US" sz="11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AFBFD"/>
                    </a:solidFill>
                  </a:tcPr>
                </a:tc>
                <a:tc>
                  <a:txBody>
                    <a:bodyPr/>
                    <a:lstStyle/>
                    <a:p>
                      <a:pPr marL="0" indent="0" algn="l">
                        <a:buNone/>
                      </a:pPr>
                      <a:r>
                        <a:rPr lang="en-US" sz="1100" dirty="0">
                          <a:solidFill>
                            <a:srgbClr val="1F2937"/>
                          </a:solidFill>
                          <a:latin typeface="Calibri" pitchFamily="34" charset="0"/>
                          <a:ea typeface="Calibri" pitchFamily="34" charset="-122"/>
                          <a:cs typeface="Calibri" pitchFamily="34" charset="-120"/>
                        </a:rPr>
                        <a:t>Log only, no action</a:t>
                      </a:r>
                      <a:endParaRPr lang="en-US" sz="11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AFBFD"/>
                    </a:solidFill>
                  </a:tcPr>
                </a:tc>
                <a:extLst>
                  <a:ext uri="{0D108BD9-81ED-4DB2-BD59-A6C34878D82A}">
                    <a16:rowId xmlns:a16="http://schemas.microsoft.com/office/drawing/2014/main" val="10002"/>
                  </a:ext>
                </a:extLst>
              </a:tr>
              <a:tr h="310896">
                <a:tc>
                  <a:txBody>
                    <a:bodyPr/>
                    <a:lstStyle/>
                    <a:p>
                      <a:pPr marL="0" indent="0" algn="l">
                        <a:buNone/>
                      </a:pPr>
                      <a:r>
                        <a:rPr lang="en-US" sz="1100" dirty="0">
                          <a:solidFill>
                            <a:srgbClr val="1F2937"/>
                          </a:solidFill>
                          <a:latin typeface="Calibri" pitchFamily="34" charset="0"/>
                          <a:ea typeface="Calibri" pitchFamily="34" charset="-122"/>
                          <a:cs typeface="Calibri" pitchFamily="34" charset="-120"/>
                        </a:rPr>
                        <a:t>&lt; 0.5</a:t>
                      </a:r>
                      <a:endParaRPr lang="en-US" sz="11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lgn="l">
                        <a:buNone/>
                      </a:pPr>
                      <a:r>
                        <a:rPr lang="en-US" sz="1100" dirty="0">
                          <a:solidFill>
                            <a:srgbClr val="1F2937"/>
                          </a:solidFill>
                          <a:latin typeface="Calibri" pitchFamily="34" charset="0"/>
                          <a:ea typeface="Calibri" pitchFamily="34" charset="-122"/>
                          <a:cs typeface="Calibri" pitchFamily="34" charset="-120"/>
                        </a:rPr>
                        <a:t>Benign — keep monitoring</a:t>
                      </a:r>
                      <a:endParaRPr lang="en-US" sz="11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bl>
          </a:graphicData>
        </a:graphic>
      </p:graphicFrame>
      <p:sp>
        <p:nvSpPr>
          <p:cNvPr id="15" name="Text 12"/>
          <p:cNvSpPr txBox="1"/>
          <p:nvPr/>
        </p:nvSpPr>
        <p:spPr>
          <a:xfrm>
            <a:off x="986181" y="5312576"/>
            <a:ext cx="10088575" cy="457200"/>
          </a:xfrm>
          <a:prstGeom prst="rect">
            <a:avLst/>
          </a:prstGeom>
          <a:noFill/>
          <a:ln/>
        </p:spPr>
        <p:txBody>
          <a:bodyPr wrap="square" lIns="0" tIns="0" rIns="0" bIns="0" rtlCol="0" anchor="ctr"/>
          <a:lstStyle/>
          <a:p>
            <a:pPr marL="0" indent="0" algn="ctr">
              <a:buNone/>
            </a:pPr>
            <a:r>
              <a:rPr lang="en-US" sz="1300" b="1" dirty="0">
                <a:solidFill>
                  <a:srgbClr val="8A1C1C"/>
                </a:solidFill>
                <a:latin typeface="Calibri" pitchFamily="34" charset="0"/>
                <a:ea typeface="Calibri" pitchFamily="34" charset="-122"/>
                <a:cs typeface="Calibri" pitchFamily="34" charset="-120"/>
              </a:rPr>
              <a:t>SHAP attribution: show only if present in the active code</a:t>
            </a:r>
            <a:endParaRPr lang="en-US" sz="1300" dirty="0"/>
          </a:p>
        </p:txBody>
      </p:sp>
      <p:sp>
        <p:nvSpPr>
          <p:cNvPr id="100" name="Text 100"/>
          <p:cNvSpPr txBox="1"/>
          <p:nvPr/>
        </p:nvSpPr>
        <p:spPr>
          <a:xfrm>
            <a:off x="594360" y="1463040"/>
            <a:ext cx="8500000" cy="274320"/>
          </a:xfrm>
          <a:prstGeom prst="rect">
            <a:avLst/>
          </a:prstGeom>
          <a:noFill/>
          <a:ln/>
        </p:spPr>
        <p:txBody>
          <a:bodyPr wrap="square" lIns="0" tIns="0" rIns="0" bIns="0" rtlCol="0" anchor="ctr"/>
          <a:lstStyle/>
          <a:p>
            <a:pPr marL="0" indent="0" algn="l">
              <a:buNone/>
            </a:pPr>
            <a:r>
              <a:rPr lang="en-US" sz="1000" b="1" i="0" dirty="0">
                <a:solidFill>
                  <a:srgbClr val="8A1C1C"/>
                </a:solidFill>
                <a:latin typeface="Calibri" pitchFamily="34" charset="0"/>
                <a:ea typeface="Calibri" pitchFamily="34" charset="-122"/>
                <a:cs typeface="Calibri" pitchFamily="34" charset="-120"/>
              </a:rPr>
              <a:t>PROPOSED WORKFLOW — IMPLEMENTATION IN PROGRESS</a:t>
            </a:r>
            <a:endParaRPr lang="en-US" sz="1000" dirty="0"/>
          </a:p>
        </p:txBody>
      </p:sp>
      <p:sp>
        <p:nvSpPr>
          <p:cNvPr id="101" name="Shape 101"/>
          <p:cNvSpPr/>
          <p:nvPr/>
        </p:nvSpPr>
        <p:spPr>
          <a:xfrm>
            <a:off x="1089508" y="1750000"/>
            <a:ext cx="1783080" cy="1300000"/>
          </a:xfrm>
          <a:prstGeom prst="roundRect">
            <a:avLst>
              <a:gd name="adj" fmla="val 5385"/>
            </a:avLst>
          </a:prstGeom>
          <a:solidFill>
            <a:srgbClr val="EEF3F8"/>
          </a:solidFill>
          <a:ln w="12700">
            <a:solidFill>
              <a:srgbClr val="9FB0C3"/>
            </a:solidFill>
            <a:prstDash val="solid"/>
          </a:ln>
        </p:spPr>
      </p:sp>
      <p:sp>
        <p:nvSpPr>
          <p:cNvPr id="102" name="Text 102"/>
          <p:cNvSpPr txBox="1"/>
          <p:nvPr/>
        </p:nvSpPr>
        <p:spPr>
          <a:xfrm>
            <a:off x="1135228" y="1840000"/>
            <a:ext cx="1691640" cy="640000"/>
          </a:xfrm>
          <a:prstGeom prst="rect">
            <a:avLst/>
          </a:prstGeom>
          <a:noFill/>
          <a:ln/>
        </p:spPr>
        <p:txBody>
          <a:bodyPr wrap="square" lIns="0" tIns="0" rIns="0" bIns="0" rtlCol="0" anchor="ctr"/>
          <a:lstStyle/>
          <a:p>
            <a:pPr marL="0" indent="0" algn="ctr">
              <a:buNone/>
            </a:pPr>
            <a:r>
              <a:rPr lang="en-US" sz="1100" b="1" i="0" dirty="0">
                <a:solidFill>
                  <a:srgbClr val="17365D"/>
                </a:solidFill>
                <a:latin typeface="Calibri" pitchFamily="34" charset="0"/>
                <a:ea typeface="Calibri" pitchFamily="34" charset="-122"/>
                <a:cs typeface="Calibri" pitchFamily="34" charset="-120"/>
              </a:rPr>
              <a:t>Network</a:t>
            </a:r>
            <a:endParaRPr lang="en-US" sz="1100" dirty="0"/>
          </a:p>
          <a:p>
            <a:pPr marL="0" indent="0" algn="ctr">
              <a:buNone/>
            </a:pPr>
            <a:r>
              <a:rPr lang="en-US" sz="1100" b="1" i="0" dirty="0">
                <a:solidFill>
                  <a:srgbClr val="17365D"/>
                </a:solidFill>
                <a:latin typeface="Calibri" pitchFamily="34" charset="0"/>
                <a:ea typeface="Calibri" pitchFamily="34" charset="-122"/>
                <a:cs typeface="Calibri" pitchFamily="34" charset="-120"/>
              </a:rPr>
              <a:t>telemetry</a:t>
            </a:r>
            <a:endParaRPr lang="en-US" sz="1100" dirty="0"/>
          </a:p>
        </p:txBody>
      </p:sp>
      <p:sp>
        <p:nvSpPr>
          <p:cNvPr id="103" name="Text 103"/>
          <p:cNvSpPr txBox="1"/>
          <p:nvPr/>
        </p:nvSpPr>
        <p:spPr>
          <a:xfrm>
            <a:off x="1116940" y="2500000"/>
            <a:ext cx="1728216" cy="490000"/>
          </a:xfrm>
          <a:prstGeom prst="rect">
            <a:avLst/>
          </a:prstGeom>
          <a:noFill/>
          <a:ln/>
        </p:spPr>
        <p:txBody>
          <a:bodyPr wrap="square" lIns="0" tIns="0" rIns="0" bIns="0" rtlCol="0" anchor="t"/>
          <a:lstStyle/>
          <a:p>
            <a:pPr marL="0" indent="0" algn="ctr">
              <a:buNone/>
            </a:pPr>
            <a:r>
              <a:rPr lang="en-US" sz="750" b="0" i="0" dirty="0">
                <a:solidFill>
                  <a:srgbClr val="5D6B7A"/>
                </a:solidFill>
                <a:latin typeface="Calibri" pitchFamily="34" charset="0"/>
                <a:ea typeface="Calibri" pitchFamily="34" charset="-122"/>
                <a:cs typeface="Calibri" pitchFamily="34" charset="-120"/>
              </a:rPr>
              <a:t>Input metrics</a:t>
            </a:r>
            <a:endParaRPr lang="en-US" sz="750" dirty="0"/>
          </a:p>
        </p:txBody>
      </p:sp>
      <p:sp>
        <p:nvSpPr>
          <p:cNvPr id="104" name="Text 104"/>
          <p:cNvSpPr txBox="1"/>
          <p:nvPr/>
        </p:nvSpPr>
        <p:spPr>
          <a:xfrm>
            <a:off x="2881732" y="2244552"/>
            <a:ext cx="256032" cy="310896"/>
          </a:xfrm>
          <a:prstGeom prst="rect">
            <a:avLst/>
          </a:prstGeom>
          <a:noFill/>
          <a:ln/>
        </p:spPr>
        <p:txBody>
          <a:bodyPr wrap="square" lIns="0" tIns="0" rIns="0" bIns="0" rtlCol="0" anchor="ctr"/>
          <a:lstStyle/>
          <a:p>
            <a:pPr marL="0" indent="0" algn="ctr">
              <a:buNone/>
            </a:pPr>
            <a:r>
              <a:rPr lang="en-US" sz="1800" b="1" i="0" dirty="0">
                <a:solidFill>
                  <a:srgbClr val="8A1C1C"/>
                </a:solidFill>
                <a:latin typeface="Calibri" pitchFamily="34" charset="0"/>
                <a:ea typeface="Calibri" pitchFamily="34" charset="-122"/>
                <a:cs typeface="Calibri" pitchFamily="34" charset="-120"/>
              </a:rPr>
              <a:t>→</a:t>
            </a:r>
            <a:endParaRPr lang="en-US" sz="1800" dirty="0"/>
          </a:p>
        </p:txBody>
      </p:sp>
      <p:sp>
        <p:nvSpPr>
          <p:cNvPr id="105" name="Shape 105"/>
          <p:cNvSpPr/>
          <p:nvPr/>
        </p:nvSpPr>
        <p:spPr>
          <a:xfrm>
            <a:off x="3146908" y="1750000"/>
            <a:ext cx="1783080" cy="1300000"/>
          </a:xfrm>
          <a:prstGeom prst="roundRect">
            <a:avLst>
              <a:gd name="adj" fmla="val 5385"/>
            </a:avLst>
          </a:prstGeom>
          <a:solidFill>
            <a:srgbClr val="EEF3F8"/>
          </a:solidFill>
          <a:ln w="12700">
            <a:solidFill>
              <a:srgbClr val="9FB0C3"/>
            </a:solidFill>
            <a:prstDash val="solid"/>
          </a:ln>
        </p:spPr>
      </p:sp>
      <p:sp>
        <p:nvSpPr>
          <p:cNvPr id="106" name="Text 106"/>
          <p:cNvSpPr txBox="1"/>
          <p:nvPr/>
        </p:nvSpPr>
        <p:spPr>
          <a:xfrm>
            <a:off x="3192628" y="1840000"/>
            <a:ext cx="1691640" cy="640000"/>
          </a:xfrm>
          <a:prstGeom prst="rect">
            <a:avLst/>
          </a:prstGeom>
          <a:noFill/>
          <a:ln/>
        </p:spPr>
        <p:txBody>
          <a:bodyPr wrap="square" lIns="0" tIns="0" rIns="0" bIns="0" rtlCol="0" anchor="ctr"/>
          <a:lstStyle/>
          <a:p>
            <a:pPr marL="0" indent="0" algn="ctr">
              <a:buNone/>
            </a:pPr>
            <a:r>
              <a:rPr lang="en-US" sz="1100" b="1" i="0" dirty="0">
                <a:solidFill>
                  <a:srgbClr val="17365D"/>
                </a:solidFill>
                <a:latin typeface="Calibri" pitchFamily="34" charset="0"/>
                <a:ea typeface="Calibri" pitchFamily="34" charset="-122"/>
                <a:cs typeface="Calibri" pitchFamily="34" charset="-120"/>
              </a:rPr>
              <a:t>Pre-</a:t>
            </a:r>
            <a:endParaRPr lang="en-US" sz="1100" dirty="0"/>
          </a:p>
          <a:p>
            <a:pPr marL="0" indent="0" algn="ctr">
              <a:buNone/>
            </a:pPr>
            <a:r>
              <a:rPr lang="en-US" sz="1100" b="1" i="0" dirty="0">
                <a:solidFill>
                  <a:srgbClr val="17365D"/>
                </a:solidFill>
                <a:latin typeface="Calibri" pitchFamily="34" charset="0"/>
                <a:ea typeface="Calibri" pitchFamily="34" charset="-122"/>
                <a:cs typeface="Calibri" pitchFamily="34" charset="-120"/>
              </a:rPr>
              <a:t>processing</a:t>
            </a:r>
            <a:endParaRPr lang="en-US" sz="1100" dirty="0"/>
          </a:p>
        </p:txBody>
      </p:sp>
      <p:sp>
        <p:nvSpPr>
          <p:cNvPr id="107" name="Text 107"/>
          <p:cNvSpPr txBox="1"/>
          <p:nvPr/>
        </p:nvSpPr>
        <p:spPr>
          <a:xfrm>
            <a:off x="3174340" y="2500000"/>
            <a:ext cx="1728216" cy="490000"/>
          </a:xfrm>
          <a:prstGeom prst="rect">
            <a:avLst/>
          </a:prstGeom>
          <a:noFill/>
          <a:ln/>
        </p:spPr>
        <p:txBody>
          <a:bodyPr wrap="square" lIns="0" tIns="0" rIns="0" bIns="0" rtlCol="0" anchor="t"/>
          <a:lstStyle/>
          <a:p>
            <a:pPr marL="0" indent="0" algn="ctr">
              <a:buNone/>
            </a:pPr>
            <a:r>
              <a:rPr lang="en-US" sz="750" b="0" i="0" dirty="0">
                <a:solidFill>
                  <a:srgbClr val="5D6B7A"/>
                </a:solidFill>
                <a:latin typeface="Calibri" pitchFamily="34" charset="0"/>
                <a:ea typeface="Calibri" pitchFamily="34" charset="-122"/>
                <a:cs typeface="Calibri" pitchFamily="34" charset="-120"/>
              </a:rPr>
              <a:t>Prepare and organize input data</a:t>
            </a:r>
            <a:endParaRPr lang="en-US" sz="750" dirty="0"/>
          </a:p>
        </p:txBody>
      </p:sp>
      <p:sp>
        <p:nvSpPr>
          <p:cNvPr id="108" name="Text 108"/>
          <p:cNvSpPr txBox="1"/>
          <p:nvPr/>
        </p:nvSpPr>
        <p:spPr>
          <a:xfrm>
            <a:off x="4939132" y="2244552"/>
            <a:ext cx="256032" cy="310896"/>
          </a:xfrm>
          <a:prstGeom prst="rect">
            <a:avLst/>
          </a:prstGeom>
          <a:noFill/>
          <a:ln/>
        </p:spPr>
        <p:txBody>
          <a:bodyPr wrap="square" lIns="0" tIns="0" rIns="0" bIns="0" rtlCol="0" anchor="ctr"/>
          <a:lstStyle/>
          <a:p>
            <a:pPr marL="0" indent="0" algn="ctr">
              <a:buNone/>
            </a:pPr>
            <a:r>
              <a:rPr lang="en-US" sz="1800" b="1" i="0" dirty="0">
                <a:solidFill>
                  <a:srgbClr val="8A1C1C"/>
                </a:solidFill>
                <a:latin typeface="Calibri" pitchFamily="34" charset="0"/>
                <a:ea typeface="Calibri" pitchFamily="34" charset="-122"/>
                <a:cs typeface="Calibri" pitchFamily="34" charset="-120"/>
              </a:rPr>
              <a:t>→</a:t>
            </a:r>
            <a:endParaRPr lang="en-US" sz="1800" dirty="0"/>
          </a:p>
        </p:txBody>
      </p:sp>
      <p:sp>
        <p:nvSpPr>
          <p:cNvPr id="109" name="Shape 109"/>
          <p:cNvSpPr/>
          <p:nvPr/>
        </p:nvSpPr>
        <p:spPr>
          <a:xfrm>
            <a:off x="5204308" y="1750000"/>
            <a:ext cx="1783080" cy="1300000"/>
          </a:xfrm>
          <a:prstGeom prst="roundRect">
            <a:avLst>
              <a:gd name="adj" fmla="val 5385"/>
            </a:avLst>
          </a:prstGeom>
          <a:solidFill>
            <a:srgbClr val="FCEAEA"/>
          </a:solidFill>
          <a:ln w="19050">
            <a:solidFill>
              <a:srgbClr val="8A1C1C"/>
            </a:solidFill>
            <a:prstDash val="solid"/>
          </a:ln>
        </p:spPr>
      </p:sp>
      <p:sp>
        <p:nvSpPr>
          <p:cNvPr id="110" name="Text 110"/>
          <p:cNvSpPr txBox="1"/>
          <p:nvPr/>
        </p:nvSpPr>
        <p:spPr>
          <a:xfrm>
            <a:off x="5250028" y="1840000"/>
            <a:ext cx="1691640" cy="640000"/>
          </a:xfrm>
          <a:prstGeom prst="rect">
            <a:avLst/>
          </a:prstGeom>
          <a:noFill/>
          <a:ln/>
        </p:spPr>
        <p:txBody>
          <a:bodyPr wrap="square" lIns="0" tIns="0" rIns="0" bIns="0" rtlCol="0" anchor="ctr"/>
          <a:lstStyle/>
          <a:p>
            <a:pPr marL="0" indent="0" algn="ctr">
              <a:buNone/>
            </a:pPr>
            <a:r>
              <a:rPr lang="en-US" sz="1100" b="1" i="0" dirty="0">
                <a:solidFill>
                  <a:srgbClr val="17365D"/>
                </a:solidFill>
                <a:latin typeface="Calibri" pitchFamily="34" charset="0"/>
                <a:ea typeface="Calibri" pitchFamily="34" charset="-122"/>
                <a:cs typeface="Calibri" pitchFamily="34" charset="-120"/>
              </a:rPr>
              <a:t>AI/ML model</a:t>
            </a:r>
            <a:endParaRPr lang="en-US" sz="1100" dirty="0"/>
          </a:p>
          <a:p>
            <a:pPr marL="0" indent="0" algn="ctr">
              <a:buNone/>
            </a:pPr>
            <a:r>
              <a:rPr lang="en-US" sz="1100" b="1" i="0" dirty="0">
                <a:solidFill>
                  <a:srgbClr val="17365D"/>
                </a:solidFill>
                <a:latin typeface="Calibri" pitchFamily="34" charset="0"/>
                <a:ea typeface="Calibri" pitchFamily="34" charset="-122"/>
                <a:cs typeface="Calibri" pitchFamily="34" charset="-120"/>
              </a:rPr>
              <a:t>development</a:t>
            </a:r>
            <a:endParaRPr lang="en-US" sz="1100" dirty="0"/>
          </a:p>
        </p:txBody>
      </p:sp>
      <p:sp>
        <p:nvSpPr>
          <p:cNvPr id="111" name="Text 111"/>
          <p:cNvSpPr txBox="1"/>
          <p:nvPr/>
        </p:nvSpPr>
        <p:spPr>
          <a:xfrm>
            <a:off x="5231740" y="2500000"/>
            <a:ext cx="1728216" cy="490000"/>
          </a:xfrm>
          <a:prstGeom prst="rect">
            <a:avLst/>
          </a:prstGeom>
          <a:noFill/>
          <a:ln/>
        </p:spPr>
        <p:txBody>
          <a:bodyPr wrap="square" lIns="0" tIns="0" rIns="0" bIns="0" rtlCol="0" anchor="t"/>
          <a:lstStyle/>
          <a:p>
            <a:pPr marL="0" indent="0" algn="ctr">
              <a:buNone/>
            </a:pPr>
            <a:r>
              <a:rPr lang="en-US" sz="750" b="0" i="0" dirty="0">
                <a:solidFill>
                  <a:srgbClr val="5D6B7A"/>
                </a:solidFill>
                <a:latin typeface="Calibri" pitchFamily="34" charset="0"/>
                <a:ea typeface="Calibri" pitchFamily="34" charset="-122"/>
                <a:cs typeface="Calibri" pitchFamily="34" charset="-120"/>
              </a:rPr>
              <a:t>Learning and model refinement — in progress</a:t>
            </a:r>
            <a:endParaRPr lang="en-US" sz="750" dirty="0"/>
          </a:p>
        </p:txBody>
      </p:sp>
      <p:sp>
        <p:nvSpPr>
          <p:cNvPr id="112" name="Text 112"/>
          <p:cNvSpPr txBox="1"/>
          <p:nvPr/>
        </p:nvSpPr>
        <p:spPr>
          <a:xfrm>
            <a:off x="6996532" y="2244552"/>
            <a:ext cx="256032" cy="310896"/>
          </a:xfrm>
          <a:prstGeom prst="rect">
            <a:avLst/>
          </a:prstGeom>
          <a:noFill/>
          <a:ln/>
        </p:spPr>
        <p:txBody>
          <a:bodyPr wrap="square" lIns="0" tIns="0" rIns="0" bIns="0" rtlCol="0" anchor="ctr"/>
          <a:lstStyle/>
          <a:p>
            <a:pPr marL="0" indent="0" algn="ctr">
              <a:buNone/>
            </a:pPr>
            <a:r>
              <a:rPr lang="en-US" sz="1800" b="1" i="0" dirty="0">
                <a:solidFill>
                  <a:srgbClr val="8A1C1C"/>
                </a:solidFill>
                <a:latin typeface="Calibri" pitchFamily="34" charset="0"/>
                <a:ea typeface="Calibri" pitchFamily="34" charset="-122"/>
                <a:cs typeface="Calibri" pitchFamily="34" charset="-120"/>
              </a:rPr>
              <a:t>→</a:t>
            </a:r>
            <a:endParaRPr lang="en-US" sz="1800" dirty="0"/>
          </a:p>
        </p:txBody>
      </p:sp>
      <p:sp>
        <p:nvSpPr>
          <p:cNvPr id="113" name="Shape 113"/>
          <p:cNvSpPr/>
          <p:nvPr/>
        </p:nvSpPr>
        <p:spPr>
          <a:xfrm>
            <a:off x="7261708" y="1750000"/>
            <a:ext cx="1783080" cy="1300000"/>
          </a:xfrm>
          <a:prstGeom prst="roundRect">
            <a:avLst>
              <a:gd name="adj" fmla="val 5385"/>
            </a:avLst>
          </a:prstGeom>
          <a:solidFill>
            <a:srgbClr val="EEF3F8"/>
          </a:solidFill>
          <a:ln w="12700">
            <a:solidFill>
              <a:srgbClr val="9FB0C3"/>
            </a:solidFill>
            <a:prstDash val="solid"/>
          </a:ln>
        </p:spPr>
      </p:sp>
      <p:sp>
        <p:nvSpPr>
          <p:cNvPr id="114" name="Text 114"/>
          <p:cNvSpPr txBox="1"/>
          <p:nvPr/>
        </p:nvSpPr>
        <p:spPr>
          <a:xfrm>
            <a:off x="7307428" y="1840000"/>
            <a:ext cx="1691640" cy="640000"/>
          </a:xfrm>
          <a:prstGeom prst="rect">
            <a:avLst/>
          </a:prstGeom>
          <a:noFill/>
          <a:ln/>
        </p:spPr>
        <p:txBody>
          <a:bodyPr wrap="square" lIns="0" tIns="0" rIns="0" bIns="0" rtlCol="0" anchor="ctr"/>
          <a:lstStyle/>
          <a:p>
            <a:pPr marL="0" indent="0" algn="ctr">
              <a:buNone/>
            </a:pPr>
            <a:r>
              <a:rPr lang="en-US" sz="1100" b="1" i="0" dirty="0">
                <a:solidFill>
                  <a:srgbClr val="17365D"/>
                </a:solidFill>
                <a:latin typeface="Calibri" pitchFamily="34" charset="0"/>
                <a:ea typeface="Calibri" pitchFamily="34" charset="-122"/>
                <a:cs typeface="Calibri" pitchFamily="34" charset="-120"/>
              </a:rPr>
              <a:t>Decision</a:t>
            </a:r>
            <a:endParaRPr lang="en-US" sz="1100" dirty="0"/>
          </a:p>
          <a:p>
            <a:pPr marL="0" indent="0" algn="ctr">
              <a:buNone/>
            </a:pPr>
            <a:r>
              <a:rPr lang="en-US" sz="1100" b="1" i="0" dirty="0">
                <a:solidFill>
                  <a:srgbClr val="17365D"/>
                </a:solidFill>
                <a:latin typeface="Calibri" pitchFamily="34" charset="0"/>
                <a:ea typeface="Calibri" pitchFamily="34" charset="-122"/>
                <a:cs typeface="Calibri" pitchFamily="34" charset="-120"/>
              </a:rPr>
              <a:t>output</a:t>
            </a:r>
            <a:endParaRPr lang="en-US" sz="1100" dirty="0"/>
          </a:p>
        </p:txBody>
      </p:sp>
      <p:sp>
        <p:nvSpPr>
          <p:cNvPr id="115" name="Text 115"/>
          <p:cNvSpPr txBox="1"/>
          <p:nvPr/>
        </p:nvSpPr>
        <p:spPr>
          <a:xfrm>
            <a:off x="7289140" y="2500000"/>
            <a:ext cx="1728216" cy="490000"/>
          </a:xfrm>
          <a:prstGeom prst="rect">
            <a:avLst/>
          </a:prstGeom>
          <a:noFill/>
          <a:ln/>
        </p:spPr>
        <p:txBody>
          <a:bodyPr wrap="square" lIns="0" tIns="0" rIns="0" bIns="0" rtlCol="0" anchor="t"/>
          <a:lstStyle/>
          <a:p>
            <a:pPr marL="0" indent="0" algn="ctr">
              <a:buNone/>
            </a:pPr>
            <a:r>
              <a:rPr lang="en-US" sz="750" b="0" i="0" dirty="0">
                <a:solidFill>
                  <a:srgbClr val="5D6B7A"/>
                </a:solidFill>
                <a:latin typeface="Calibri" pitchFamily="34" charset="0"/>
                <a:ea typeface="Calibri" pitchFamily="34" charset="-122"/>
                <a:cs typeface="Calibri" pitchFamily="34" charset="-120"/>
              </a:rPr>
              <a:t>Identify or recommend a response</a:t>
            </a:r>
            <a:endParaRPr lang="en-US" sz="750" dirty="0"/>
          </a:p>
        </p:txBody>
      </p:sp>
      <p:sp>
        <p:nvSpPr>
          <p:cNvPr id="116" name="Text 116"/>
          <p:cNvSpPr txBox="1"/>
          <p:nvPr/>
        </p:nvSpPr>
        <p:spPr>
          <a:xfrm>
            <a:off x="9053932" y="2244552"/>
            <a:ext cx="256032" cy="310896"/>
          </a:xfrm>
          <a:prstGeom prst="rect">
            <a:avLst/>
          </a:prstGeom>
          <a:noFill/>
          <a:ln/>
        </p:spPr>
        <p:txBody>
          <a:bodyPr wrap="square" lIns="0" tIns="0" rIns="0" bIns="0" rtlCol="0" anchor="ctr"/>
          <a:lstStyle/>
          <a:p>
            <a:pPr marL="0" indent="0" algn="ctr">
              <a:buNone/>
            </a:pPr>
            <a:r>
              <a:rPr lang="en-US" sz="1800" b="1" i="0" dirty="0">
                <a:solidFill>
                  <a:srgbClr val="8A1C1C"/>
                </a:solidFill>
                <a:latin typeface="Calibri" pitchFamily="34" charset="0"/>
                <a:ea typeface="Calibri" pitchFamily="34" charset="-122"/>
                <a:cs typeface="Calibri" pitchFamily="34" charset="-120"/>
              </a:rPr>
              <a:t>→</a:t>
            </a:r>
            <a:endParaRPr lang="en-US" sz="1800" dirty="0"/>
          </a:p>
        </p:txBody>
      </p:sp>
      <p:sp>
        <p:nvSpPr>
          <p:cNvPr id="117" name="Shape 117"/>
          <p:cNvSpPr/>
          <p:nvPr/>
        </p:nvSpPr>
        <p:spPr>
          <a:xfrm>
            <a:off x="9319108" y="1750000"/>
            <a:ext cx="1783080" cy="1300000"/>
          </a:xfrm>
          <a:prstGeom prst="roundRect">
            <a:avLst>
              <a:gd name="adj" fmla="val 5385"/>
            </a:avLst>
          </a:prstGeom>
          <a:solidFill>
            <a:srgbClr val="EEF3F8"/>
          </a:solidFill>
          <a:ln w="12700">
            <a:solidFill>
              <a:srgbClr val="9FB0C3"/>
            </a:solidFill>
            <a:prstDash val="solid"/>
          </a:ln>
        </p:spPr>
      </p:sp>
      <p:sp>
        <p:nvSpPr>
          <p:cNvPr id="118" name="Text 118"/>
          <p:cNvSpPr txBox="1"/>
          <p:nvPr/>
        </p:nvSpPr>
        <p:spPr>
          <a:xfrm>
            <a:off x="9364828" y="1840000"/>
            <a:ext cx="1691640" cy="640000"/>
          </a:xfrm>
          <a:prstGeom prst="rect">
            <a:avLst/>
          </a:prstGeom>
          <a:noFill/>
          <a:ln/>
        </p:spPr>
        <p:txBody>
          <a:bodyPr wrap="square" lIns="0" tIns="0" rIns="0" bIns="0" rtlCol="0" anchor="ctr"/>
          <a:lstStyle/>
          <a:p>
            <a:pPr marL="0" indent="0" algn="ctr">
              <a:buNone/>
            </a:pPr>
            <a:r>
              <a:rPr lang="en-US" sz="1100" b="1" i="0" dirty="0">
                <a:solidFill>
                  <a:srgbClr val="17365D"/>
                </a:solidFill>
                <a:latin typeface="Calibri" pitchFamily="34" charset="0"/>
                <a:ea typeface="Calibri" pitchFamily="34" charset="-122"/>
                <a:cs typeface="Calibri" pitchFamily="34" charset="-120"/>
              </a:rPr>
              <a:t>Future</a:t>
            </a:r>
            <a:endParaRPr lang="en-US" sz="1100" dirty="0"/>
          </a:p>
          <a:p>
            <a:pPr marL="0" indent="0" algn="ctr">
              <a:buNone/>
            </a:pPr>
            <a:r>
              <a:rPr lang="en-US" sz="1100" b="1" i="0" dirty="0">
                <a:solidFill>
                  <a:srgbClr val="17365D"/>
                </a:solidFill>
                <a:latin typeface="Calibri" pitchFamily="34" charset="0"/>
                <a:ea typeface="Calibri" pitchFamily="34" charset="-122"/>
                <a:cs typeface="Calibri" pitchFamily="34" charset="-120"/>
              </a:rPr>
              <a:t>validation</a:t>
            </a:r>
            <a:endParaRPr lang="en-US" sz="1100" dirty="0"/>
          </a:p>
        </p:txBody>
      </p:sp>
      <p:sp>
        <p:nvSpPr>
          <p:cNvPr id="119" name="Text 119"/>
          <p:cNvSpPr txBox="1"/>
          <p:nvPr/>
        </p:nvSpPr>
        <p:spPr>
          <a:xfrm>
            <a:off x="9346540" y="2500000"/>
            <a:ext cx="1728216" cy="490000"/>
          </a:xfrm>
          <a:prstGeom prst="rect">
            <a:avLst/>
          </a:prstGeom>
          <a:noFill/>
          <a:ln/>
        </p:spPr>
        <p:txBody>
          <a:bodyPr wrap="square" lIns="0" tIns="0" rIns="0" bIns="0" rtlCol="0" anchor="t"/>
          <a:lstStyle/>
          <a:p>
            <a:pPr marL="0" indent="0" algn="ctr">
              <a:buNone/>
            </a:pPr>
            <a:r>
              <a:rPr lang="en-US" sz="750" b="0" i="0" dirty="0">
                <a:solidFill>
                  <a:srgbClr val="5D6B7A"/>
                </a:solidFill>
                <a:latin typeface="Calibri" pitchFamily="34" charset="0"/>
                <a:ea typeface="Calibri" pitchFamily="34" charset="-122"/>
                <a:cs typeface="Calibri" pitchFamily="34" charset="-120"/>
              </a:rPr>
              <a:t>Evaluate the output against test scenarios</a:t>
            </a:r>
            <a:endParaRPr lang="en-US" sz="7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7F9FC"/>
        </a:solidFill>
        <a:effectLst/>
      </p:bgPr>
    </p:bg>
    <p:spTree>
      <p:nvGrpSpPr>
        <p:cNvPr id="1" name=""/>
        <p:cNvGrpSpPr/>
        <p:nvPr/>
      </p:nvGrpSpPr>
      <p:grpSpPr>
        <a:xfrm>
          <a:off x="0" y="0"/>
          <a:ext cx="0" cy="0"/>
          <a:chOff x="0" y="0"/>
          <a:chExt cx="0" cy="0"/>
        </a:xfrm>
      </p:grpSpPr>
      <p:sp>
        <p:nvSpPr>
          <p:cNvPr id="2" name="Shape 0"/>
          <p:cNvSpPr/>
          <p:nvPr/>
        </p:nvSpPr>
        <p:spPr>
          <a:xfrm>
            <a:off x="0" y="0"/>
            <a:ext cx="12191695" cy="256032"/>
          </a:xfrm>
          <a:prstGeom prst="rect">
            <a:avLst/>
          </a:prstGeom>
          <a:solidFill>
            <a:srgbClr val="17365D"/>
          </a:solidFill>
          <a:ln w="12700">
            <a:solidFill>
              <a:srgbClr val="17365D"/>
            </a:solidFill>
            <a:prstDash val="solid"/>
          </a:ln>
        </p:spPr>
      </p:sp>
      <p:sp>
        <p:nvSpPr>
          <p:cNvPr id="3" name="Text 1"/>
          <p:cNvSpPr txBox="1"/>
          <p:nvPr/>
        </p:nvSpPr>
        <p:spPr>
          <a:xfrm>
            <a:off x="594360" y="475488"/>
            <a:ext cx="10607040" cy="438912"/>
          </a:xfrm>
          <a:prstGeom prst="rect">
            <a:avLst/>
          </a:prstGeom>
          <a:noFill/>
          <a:ln/>
        </p:spPr>
        <p:txBody>
          <a:bodyPr wrap="square" lIns="0" tIns="0" rIns="0" bIns="0" rtlCol="0" anchor="ctr"/>
          <a:lstStyle/>
          <a:p>
            <a:pPr marL="0" indent="0" algn="l">
              <a:buNone/>
            </a:pPr>
            <a:r>
              <a:rPr lang="en-US" sz="2400" b="1" dirty="0">
                <a:solidFill>
                  <a:srgbClr val="17365D"/>
                </a:solidFill>
                <a:latin typeface="Calibri" pitchFamily="34" charset="0"/>
                <a:ea typeface="Calibri" pitchFamily="34" charset="-122"/>
                <a:cs typeface="Calibri" pitchFamily="34" charset="-120"/>
              </a:rPr>
              <a:t>7. Reinforcement Learning Engine</a:t>
            </a:r>
            <a:endParaRPr lang="en-US" sz="2400" dirty="0"/>
          </a:p>
        </p:txBody>
      </p:sp>
      <p:sp>
        <p:nvSpPr>
          <p:cNvPr id="4" name="Shape 2"/>
          <p:cNvSpPr/>
          <p:nvPr/>
        </p:nvSpPr>
        <p:spPr>
          <a:xfrm>
            <a:off x="594360" y="1005840"/>
            <a:ext cx="1097280" cy="0"/>
          </a:xfrm>
          <a:prstGeom prst="line">
            <a:avLst/>
          </a:prstGeom>
          <a:noFill/>
          <a:ln w="38100">
            <a:solidFill>
              <a:srgbClr val="8A1C1C"/>
            </a:solidFill>
            <a:prstDash val="solid"/>
          </a:ln>
        </p:spPr>
      </p:sp>
      <p:sp>
        <p:nvSpPr>
          <p:cNvPr id="5" name="Text 3"/>
          <p:cNvSpPr txBox="1"/>
          <p:nvPr/>
        </p:nvSpPr>
        <p:spPr>
          <a:xfrm>
            <a:off x="1920240" y="877824"/>
            <a:ext cx="8961120" cy="274320"/>
          </a:xfrm>
          <a:prstGeom prst="rect">
            <a:avLst/>
          </a:prstGeom>
          <a:noFill/>
          <a:ln/>
        </p:spPr>
        <p:txBody>
          <a:bodyPr wrap="square" lIns="0" tIns="0" rIns="0" bIns="0" rtlCol="0" anchor="ctr"/>
          <a:lstStyle/>
          <a:p>
            <a:pPr marL="0" indent="0" algn="l">
              <a:buNone/>
            </a:pPr>
            <a:r>
              <a:rPr lang="en-US" sz="1200" dirty="0">
                <a:solidFill>
                  <a:srgbClr val="5D6B7A"/>
                </a:solidFill>
                <a:latin typeface="Calibri" pitchFamily="34" charset="0"/>
                <a:ea typeface="Calibri" pitchFamily="34" charset="-122"/>
                <a:cs typeface="Calibri" pitchFamily="34" charset="-120"/>
              </a:rPr>
              <a:t>Dueling DQN: state, actions and reward</a:t>
            </a:r>
            <a:endParaRPr lang="en-US" sz="1200" dirty="0"/>
          </a:p>
        </p:txBody>
      </p:sp>
      <p:sp>
        <p:nvSpPr>
          <p:cNvPr id="6" name="Shape 4"/>
          <p:cNvSpPr/>
          <p:nvPr/>
        </p:nvSpPr>
        <p:spPr>
          <a:xfrm>
            <a:off x="594360" y="6446520"/>
            <a:ext cx="11002975" cy="0"/>
          </a:xfrm>
          <a:prstGeom prst="line">
            <a:avLst/>
          </a:prstGeom>
          <a:noFill/>
          <a:ln w="9525">
            <a:solidFill>
              <a:srgbClr val="CBD5E1"/>
            </a:solidFill>
            <a:prstDash val="solid"/>
          </a:ln>
        </p:spPr>
      </p:sp>
      <p:sp>
        <p:nvSpPr>
          <p:cNvPr id="7" name="Text 5"/>
          <p:cNvSpPr txBox="1"/>
          <p:nvPr/>
        </p:nvSpPr>
        <p:spPr>
          <a:xfrm>
            <a:off x="594360" y="6492240"/>
            <a:ext cx="6858000" cy="219456"/>
          </a:xfrm>
          <a:prstGeom prst="rect">
            <a:avLst/>
          </a:prstGeom>
          <a:noFill/>
          <a:ln/>
        </p:spPr>
        <p:txBody>
          <a:bodyPr wrap="square" lIns="0" tIns="0" rIns="0" bIns="0" rtlCol="0" anchor="ctr"/>
          <a:lstStyle/>
          <a:p>
            <a:pPr marL="0" indent="0" algn="l">
              <a:buNone/>
            </a:pPr>
            <a:r>
              <a:rPr lang="en-US" sz="900" dirty="0">
                <a:solidFill>
                  <a:srgbClr val="5D6B7A"/>
                </a:solidFill>
                <a:latin typeface="Calibri" pitchFamily="34" charset="0"/>
                <a:ea typeface="Calibri" pitchFamily="34" charset="-122"/>
                <a:cs typeface="Calibri" pitchFamily="34" charset="-120"/>
              </a:rPr>
              <a:t>KPR Institute of Engineering and Technology  |  Department of Information Technology</a:t>
            </a:r>
            <a:endParaRPr lang="en-US" sz="900" dirty="0"/>
          </a:p>
        </p:txBody>
      </p:sp>
      <p:sp>
        <p:nvSpPr>
          <p:cNvPr id="8" name="Text 6"/>
          <p:cNvSpPr txBox="1"/>
          <p:nvPr/>
        </p:nvSpPr>
        <p:spPr>
          <a:xfrm>
            <a:off x="7939735" y="6492240"/>
            <a:ext cx="3657600" cy="219456"/>
          </a:xfrm>
          <a:prstGeom prst="rect">
            <a:avLst/>
          </a:prstGeom>
          <a:noFill/>
          <a:ln/>
        </p:spPr>
        <p:txBody>
          <a:bodyPr wrap="square" lIns="0" tIns="0" rIns="0" bIns="0" rtlCol="0" anchor="ctr"/>
          <a:lstStyle/>
          <a:p>
            <a:pPr marL="0" indent="0" algn="r">
              <a:buNone/>
            </a:pPr>
            <a:r>
              <a:rPr lang="en-US" sz="900" b="1" dirty="0">
                <a:solidFill>
                  <a:srgbClr val="8A1C1C"/>
                </a:solidFill>
                <a:latin typeface="Calibri" pitchFamily="34" charset="0"/>
                <a:ea typeface="Calibri" pitchFamily="34" charset="-122"/>
                <a:cs typeface="Calibri" pitchFamily="34" charset="-120"/>
              </a:rPr>
              <a:t> REVIEW  - III  |   7</a:t>
            </a:r>
            <a:endParaRPr lang="en-US" sz="900" dirty="0"/>
          </a:p>
        </p:txBody>
      </p:sp>
      <p:graphicFrame>
        <p:nvGraphicFramePr>
          <p:cNvPr id="9" name="Table 0"/>
          <p:cNvGraphicFramePr>
            <a:graphicFrameLocks noGrp="1"/>
          </p:cNvGraphicFramePr>
          <p:nvPr>
            <p:extLst>
              <p:ext uri="{D42A27DB-BD31-4B8C-83A1-F6EECF244321}">
                <p14:modId xmlns:p14="http://schemas.microsoft.com/office/powerpoint/2010/main" val="1579011935"/>
              </p:ext>
            </p:extLst>
          </p:nvPr>
        </p:nvGraphicFramePr>
        <p:xfrm>
          <a:off x="594360" y="1463040"/>
          <a:ext cx="3840480" cy="2756916"/>
        </p:xfrm>
        <a:graphic>
          <a:graphicData uri="http://schemas.openxmlformats.org/drawingml/2006/table">
            <a:tbl>
              <a:tblPr/>
              <a:tblGrid>
                <a:gridCol w="640080">
                  <a:extLst>
                    <a:ext uri="{9D8B030D-6E8A-4147-A177-3AD203B41FA5}">
                      <a16:colId xmlns:a16="http://schemas.microsoft.com/office/drawing/2014/main" val="20000"/>
                    </a:ext>
                  </a:extLst>
                </a:gridCol>
                <a:gridCol w="3200400">
                  <a:extLst>
                    <a:ext uri="{9D8B030D-6E8A-4147-A177-3AD203B41FA5}">
                      <a16:colId xmlns:a16="http://schemas.microsoft.com/office/drawing/2014/main" val="20001"/>
                    </a:ext>
                  </a:extLst>
                </a:gridCol>
              </a:tblGrid>
              <a:tr h="306324">
                <a:tc>
                  <a:txBody>
                    <a:bodyPr/>
                    <a:lstStyle/>
                    <a:p>
                      <a:pPr marL="0" indent="0" algn="l">
                        <a:buNone/>
                      </a:pPr>
                      <a:r>
                        <a:rPr lang="en-US" sz="1000" b="1" dirty="0">
                          <a:solidFill>
                            <a:srgbClr val="17365D"/>
                          </a:solidFill>
                          <a:latin typeface="Calibri" pitchFamily="34" charset="0"/>
                          <a:ea typeface="Calibri" pitchFamily="34" charset="-122"/>
                          <a:cs typeface="Calibri" pitchFamily="34" charset="-120"/>
                        </a:rPr>
                        <a:t>ID</a:t>
                      </a:r>
                      <a:endParaRPr lang="en-US" sz="10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lgn="l">
                        <a:buNone/>
                      </a:pPr>
                      <a:r>
                        <a:rPr lang="en-US" sz="1000" b="1" dirty="0">
                          <a:solidFill>
                            <a:srgbClr val="17365D"/>
                          </a:solidFill>
                          <a:latin typeface="Calibri" pitchFamily="34" charset="0"/>
                          <a:ea typeface="Calibri" pitchFamily="34" charset="-122"/>
                          <a:cs typeface="Calibri" pitchFamily="34" charset="-120"/>
                        </a:rPr>
                        <a:t>Action</a:t>
                      </a:r>
                      <a:endParaRPr lang="en-US" sz="10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0"/>
                  </a:ext>
                </a:extLst>
              </a:tr>
              <a:tr h="306324">
                <a:tc>
                  <a:txBody>
                    <a:bodyPr/>
                    <a:lstStyle/>
                    <a:p>
                      <a:pPr marL="0" indent="0" algn="l">
                        <a:buNone/>
                      </a:pPr>
                      <a:r>
                        <a:rPr lang="en-US" sz="950" dirty="0">
                          <a:solidFill>
                            <a:srgbClr val="1F2937"/>
                          </a:solidFill>
                          <a:latin typeface="Calibri" pitchFamily="34" charset="0"/>
                          <a:ea typeface="Calibri" pitchFamily="34" charset="-122"/>
                          <a:cs typeface="Calibri" pitchFamily="34" charset="-120"/>
                        </a:rPr>
                        <a:t>0</a:t>
                      </a:r>
                      <a:endParaRPr lang="en-US" sz="9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lgn="l">
                        <a:buNone/>
                      </a:pPr>
                      <a:r>
                        <a:rPr lang="en-US" sz="950" dirty="0">
                          <a:solidFill>
                            <a:srgbClr val="1F2937"/>
                          </a:solidFill>
                          <a:latin typeface="Calibri" pitchFamily="34" charset="0"/>
                          <a:ea typeface="Calibri" pitchFamily="34" charset="-122"/>
                          <a:cs typeface="Calibri" pitchFamily="34" charset="-120"/>
                        </a:rPr>
                        <a:t>Reroute (ECMP)</a:t>
                      </a:r>
                      <a:endParaRPr lang="en-US" sz="9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306324">
                <a:tc>
                  <a:txBody>
                    <a:bodyPr/>
                    <a:lstStyle/>
                    <a:p>
                      <a:pPr marL="0" indent="0" algn="l">
                        <a:buNone/>
                      </a:pPr>
                      <a:r>
                        <a:rPr lang="en-US" sz="950" dirty="0">
                          <a:solidFill>
                            <a:srgbClr val="1F2937"/>
                          </a:solidFill>
                          <a:latin typeface="Calibri" pitchFamily="34" charset="0"/>
                          <a:ea typeface="Calibri" pitchFamily="34" charset="-122"/>
                          <a:cs typeface="Calibri" pitchFamily="34" charset="-120"/>
                        </a:rPr>
                        <a:t>1</a:t>
                      </a:r>
                      <a:endParaRPr lang="en-US" sz="9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AFBFD"/>
                    </a:solidFill>
                  </a:tcPr>
                </a:tc>
                <a:tc>
                  <a:txBody>
                    <a:bodyPr/>
                    <a:lstStyle/>
                    <a:p>
                      <a:pPr marL="0" indent="0" algn="l">
                        <a:buNone/>
                      </a:pPr>
                      <a:r>
                        <a:rPr lang="en-US" sz="950" dirty="0">
                          <a:solidFill>
                            <a:srgbClr val="1F2937"/>
                          </a:solidFill>
                          <a:latin typeface="Calibri" pitchFamily="34" charset="0"/>
                          <a:ea typeface="Calibri" pitchFamily="34" charset="-122"/>
                          <a:cs typeface="Calibri" pitchFamily="34" charset="-120"/>
                        </a:rPr>
                        <a:t>Raise QoS priority</a:t>
                      </a:r>
                      <a:endParaRPr lang="en-US" sz="9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AFBFD"/>
                    </a:solidFill>
                  </a:tcPr>
                </a:tc>
                <a:extLst>
                  <a:ext uri="{0D108BD9-81ED-4DB2-BD59-A6C34878D82A}">
                    <a16:rowId xmlns:a16="http://schemas.microsoft.com/office/drawing/2014/main" val="10002"/>
                  </a:ext>
                </a:extLst>
              </a:tr>
              <a:tr h="306324">
                <a:tc>
                  <a:txBody>
                    <a:bodyPr/>
                    <a:lstStyle/>
                    <a:p>
                      <a:pPr marL="0" indent="0" algn="l">
                        <a:buNone/>
                      </a:pPr>
                      <a:r>
                        <a:rPr lang="en-US" sz="950" dirty="0">
                          <a:solidFill>
                            <a:srgbClr val="1F2937"/>
                          </a:solidFill>
                          <a:latin typeface="Calibri" pitchFamily="34" charset="0"/>
                          <a:ea typeface="Calibri" pitchFamily="34" charset="-122"/>
                          <a:cs typeface="Calibri" pitchFamily="34" charset="-120"/>
                        </a:rPr>
                        <a:t>2</a:t>
                      </a:r>
                      <a:endParaRPr lang="en-US" sz="9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lgn="l">
                        <a:buNone/>
                      </a:pPr>
                      <a:r>
                        <a:rPr lang="en-US" sz="950" dirty="0">
                          <a:solidFill>
                            <a:srgbClr val="1F2937"/>
                          </a:solidFill>
                          <a:latin typeface="Calibri" pitchFamily="34" charset="0"/>
                          <a:ea typeface="Calibri" pitchFamily="34" charset="-122"/>
                          <a:cs typeface="Calibri" pitchFamily="34" charset="-120"/>
                        </a:rPr>
                        <a:t>Scale up 5G slice</a:t>
                      </a:r>
                      <a:endParaRPr lang="en-US" sz="9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306324">
                <a:tc>
                  <a:txBody>
                    <a:bodyPr/>
                    <a:lstStyle/>
                    <a:p>
                      <a:pPr marL="0" indent="0" algn="l">
                        <a:buNone/>
                      </a:pPr>
                      <a:r>
                        <a:rPr lang="en-US" sz="950" dirty="0">
                          <a:solidFill>
                            <a:srgbClr val="1F2937"/>
                          </a:solidFill>
                          <a:latin typeface="Calibri" pitchFamily="34" charset="0"/>
                          <a:ea typeface="Calibri" pitchFamily="34" charset="-122"/>
                          <a:cs typeface="Calibri" pitchFamily="34" charset="-120"/>
                        </a:rPr>
                        <a:t>3</a:t>
                      </a:r>
                      <a:endParaRPr lang="en-US" sz="9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AFBFD"/>
                    </a:solidFill>
                  </a:tcPr>
                </a:tc>
                <a:tc>
                  <a:txBody>
                    <a:bodyPr/>
                    <a:lstStyle/>
                    <a:p>
                      <a:pPr marL="0" indent="0" algn="l">
                        <a:buNone/>
                      </a:pPr>
                      <a:r>
                        <a:rPr lang="en-US" sz="950" dirty="0">
                          <a:solidFill>
                            <a:srgbClr val="1F2937"/>
                          </a:solidFill>
                          <a:latin typeface="Calibri" pitchFamily="34" charset="0"/>
                          <a:ea typeface="Calibri" pitchFamily="34" charset="-122"/>
                          <a:cs typeface="Calibri" pitchFamily="34" charset="-120"/>
                        </a:rPr>
                        <a:t>Reduce slice interference</a:t>
                      </a:r>
                      <a:endParaRPr lang="en-US" sz="9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AFBFD"/>
                    </a:solidFill>
                  </a:tcPr>
                </a:tc>
                <a:extLst>
                  <a:ext uri="{0D108BD9-81ED-4DB2-BD59-A6C34878D82A}">
                    <a16:rowId xmlns:a16="http://schemas.microsoft.com/office/drawing/2014/main" val="10004"/>
                  </a:ext>
                </a:extLst>
              </a:tr>
              <a:tr h="306324">
                <a:tc>
                  <a:txBody>
                    <a:bodyPr/>
                    <a:lstStyle/>
                    <a:p>
                      <a:pPr marL="0" indent="0" algn="l">
                        <a:buNone/>
                      </a:pPr>
                      <a:r>
                        <a:rPr lang="en-US" sz="950" dirty="0">
                          <a:solidFill>
                            <a:srgbClr val="1F2937"/>
                          </a:solidFill>
                          <a:latin typeface="Calibri" pitchFamily="34" charset="0"/>
                          <a:ea typeface="Calibri" pitchFamily="34" charset="-122"/>
                          <a:cs typeface="Calibri" pitchFamily="34" charset="-120"/>
                        </a:rPr>
                        <a:t>4</a:t>
                      </a:r>
                      <a:endParaRPr lang="en-US" sz="9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lgn="l">
                        <a:buNone/>
                      </a:pPr>
                      <a:r>
                        <a:rPr lang="en-US" sz="950" dirty="0">
                          <a:solidFill>
                            <a:srgbClr val="1F2937"/>
                          </a:solidFill>
                          <a:latin typeface="Calibri" pitchFamily="34" charset="0"/>
                          <a:ea typeface="Calibri" pitchFamily="34" charset="-122"/>
                          <a:cs typeface="Calibri" pitchFamily="34" charset="-120"/>
                        </a:rPr>
                        <a:t>Traffic shaping</a:t>
                      </a:r>
                      <a:endParaRPr lang="en-US" sz="9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306324">
                <a:tc>
                  <a:txBody>
                    <a:bodyPr/>
                    <a:lstStyle/>
                    <a:p>
                      <a:pPr marL="0" indent="0" algn="l">
                        <a:buNone/>
                      </a:pPr>
                      <a:r>
                        <a:rPr lang="en-US" sz="950" dirty="0">
                          <a:solidFill>
                            <a:srgbClr val="1F2937"/>
                          </a:solidFill>
                          <a:latin typeface="Calibri" pitchFamily="34" charset="0"/>
                          <a:ea typeface="Calibri" pitchFamily="34" charset="-122"/>
                          <a:cs typeface="Calibri" pitchFamily="34" charset="-120"/>
                        </a:rPr>
                        <a:t>5</a:t>
                      </a:r>
                      <a:endParaRPr lang="en-US" sz="9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AFBFD"/>
                    </a:solidFill>
                  </a:tcPr>
                </a:tc>
                <a:tc>
                  <a:txBody>
                    <a:bodyPr/>
                    <a:lstStyle/>
                    <a:p>
                      <a:pPr marL="0" indent="0" algn="l">
                        <a:buNone/>
                      </a:pPr>
                      <a:r>
                        <a:rPr lang="en-US" sz="950" dirty="0">
                          <a:solidFill>
                            <a:srgbClr val="1F2937"/>
                          </a:solidFill>
                          <a:latin typeface="Calibri" pitchFamily="34" charset="0"/>
                          <a:ea typeface="Calibri" pitchFamily="34" charset="-122"/>
                          <a:cs typeface="Calibri" pitchFamily="34" charset="-120"/>
                        </a:rPr>
                        <a:t>Local failover</a:t>
                      </a:r>
                      <a:endParaRPr lang="en-US" sz="9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AFBFD"/>
                    </a:solidFill>
                  </a:tcPr>
                </a:tc>
                <a:extLst>
                  <a:ext uri="{0D108BD9-81ED-4DB2-BD59-A6C34878D82A}">
                    <a16:rowId xmlns:a16="http://schemas.microsoft.com/office/drawing/2014/main" val="10006"/>
                  </a:ext>
                </a:extLst>
              </a:tr>
              <a:tr h="306324">
                <a:tc>
                  <a:txBody>
                    <a:bodyPr/>
                    <a:lstStyle/>
                    <a:p>
                      <a:pPr marL="0" indent="0" algn="l">
                        <a:buNone/>
                      </a:pPr>
                      <a:r>
                        <a:rPr lang="en-US" sz="950" dirty="0">
                          <a:solidFill>
                            <a:srgbClr val="1F2937"/>
                          </a:solidFill>
                          <a:latin typeface="Calibri" pitchFamily="34" charset="0"/>
                          <a:ea typeface="Calibri" pitchFamily="34" charset="-122"/>
                          <a:cs typeface="Calibri" pitchFamily="34" charset="-120"/>
                        </a:rPr>
                        <a:t>6</a:t>
                      </a:r>
                      <a:endParaRPr lang="en-US" sz="9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lgn="l">
                        <a:buNone/>
                      </a:pPr>
                      <a:r>
                        <a:rPr lang="en-US" sz="950" dirty="0">
                          <a:solidFill>
                            <a:srgbClr val="1F2937"/>
                          </a:solidFill>
                          <a:latin typeface="Calibri" pitchFamily="34" charset="0"/>
                          <a:ea typeface="Calibri" pitchFamily="34" charset="-122"/>
                          <a:cs typeface="Calibri" pitchFamily="34" charset="-120"/>
                        </a:rPr>
                        <a:t>Escalate to NOC</a:t>
                      </a:r>
                      <a:endParaRPr lang="en-US" sz="9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7"/>
                  </a:ext>
                </a:extLst>
              </a:tr>
              <a:tr h="306324">
                <a:tc>
                  <a:txBody>
                    <a:bodyPr/>
                    <a:lstStyle/>
                    <a:p>
                      <a:pPr marL="0" indent="0" algn="l">
                        <a:buNone/>
                      </a:pPr>
                      <a:r>
                        <a:rPr lang="en-US" sz="950" dirty="0">
                          <a:solidFill>
                            <a:srgbClr val="1F2937"/>
                          </a:solidFill>
                          <a:latin typeface="Calibri" pitchFamily="34" charset="0"/>
                          <a:ea typeface="Calibri" pitchFamily="34" charset="-122"/>
                          <a:cs typeface="Calibri" pitchFamily="34" charset="-120"/>
                        </a:rPr>
                        <a:t>7</a:t>
                      </a:r>
                      <a:endParaRPr lang="en-US" sz="9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AFBFD"/>
                    </a:solidFill>
                  </a:tcPr>
                </a:tc>
                <a:tc>
                  <a:txBody>
                    <a:bodyPr/>
                    <a:lstStyle/>
                    <a:p>
                      <a:pPr marL="0" indent="0" algn="l">
                        <a:buNone/>
                      </a:pPr>
                      <a:r>
                        <a:rPr lang="en-US" sz="950" dirty="0">
                          <a:solidFill>
                            <a:srgbClr val="1F2937"/>
                          </a:solidFill>
                          <a:latin typeface="Calibri" pitchFamily="34" charset="0"/>
                          <a:ea typeface="Calibri" pitchFamily="34" charset="-122"/>
                          <a:cs typeface="Calibri" pitchFamily="34" charset="-120"/>
                        </a:rPr>
                        <a:t>No action / monitor</a:t>
                      </a:r>
                      <a:endParaRPr lang="en-US" sz="9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AFBFD"/>
                    </a:solidFill>
                  </a:tcPr>
                </a:tc>
                <a:extLst>
                  <a:ext uri="{0D108BD9-81ED-4DB2-BD59-A6C34878D82A}">
                    <a16:rowId xmlns:a16="http://schemas.microsoft.com/office/drawing/2014/main" val="10008"/>
                  </a:ext>
                </a:extLst>
              </a:tr>
            </a:tbl>
          </a:graphicData>
        </a:graphic>
      </p:graphicFrame>
      <p:sp>
        <p:nvSpPr>
          <p:cNvPr id="10" name="Shape 7"/>
          <p:cNvSpPr/>
          <p:nvPr/>
        </p:nvSpPr>
        <p:spPr>
          <a:xfrm>
            <a:off x="4800600" y="1463040"/>
            <a:ext cx="3261208" cy="2743200"/>
          </a:xfrm>
          <a:prstGeom prst="rect">
            <a:avLst/>
          </a:prstGeom>
          <a:solidFill>
            <a:srgbClr val="FFFFFF"/>
          </a:solidFill>
          <a:ln w="12700">
            <a:solidFill>
              <a:srgbClr val="AEB9C7"/>
            </a:solidFill>
            <a:prstDash val="solid"/>
          </a:ln>
        </p:spPr>
      </p:sp>
      <p:sp>
        <p:nvSpPr>
          <p:cNvPr id="11" name="Text 8"/>
          <p:cNvSpPr txBox="1"/>
          <p:nvPr/>
        </p:nvSpPr>
        <p:spPr>
          <a:xfrm>
            <a:off x="4965192" y="1572768"/>
            <a:ext cx="2932024" cy="292608"/>
          </a:xfrm>
          <a:prstGeom prst="rect">
            <a:avLst/>
          </a:prstGeom>
          <a:noFill/>
          <a:ln/>
        </p:spPr>
        <p:txBody>
          <a:bodyPr wrap="square" lIns="0" tIns="0" rIns="0" bIns="0" rtlCol="0" anchor="ctr"/>
          <a:lstStyle/>
          <a:p>
            <a:pPr marL="0" indent="0">
              <a:buNone/>
            </a:pPr>
            <a:r>
              <a:rPr lang="en-US" sz="1350" b="1" dirty="0">
                <a:solidFill>
                  <a:srgbClr val="17365D"/>
                </a:solidFill>
                <a:latin typeface="Calibri" pitchFamily="34" charset="0"/>
                <a:ea typeface="Calibri" pitchFamily="34" charset="-122"/>
                <a:cs typeface="Calibri" pitchFamily="34" charset="-120"/>
              </a:rPr>
              <a:t>State &amp; Network</a:t>
            </a:r>
            <a:endParaRPr lang="en-US" sz="1350" dirty="0"/>
          </a:p>
        </p:txBody>
      </p:sp>
      <p:sp>
        <p:nvSpPr>
          <p:cNvPr id="12" name="Text 9"/>
          <p:cNvSpPr txBox="1"/>
          <p:nvPr/>
        </p:nvSpPr>
        <p:spPr>
          <a:xfrm>
            <a:off x="4965192" y="1874520"/>
            <a:ext cx="2932024" cy="2194560"/>
          </a:xfrm>
          <a:prstGeom prst="rect">
            <a:avLst/>
          </a:prstGeom>
          <a:noFill/>
          <a:ln/>
        </p:spPr>
        <p:txBody>
          <a:bodyPr wrap="square" lIns="0" tIns="0" rIns="0" bIns="0" rtlCol="0" anchor="t"/>
          <a:lstStyle/>
          <a:p>
            <a:pPr marL="177800" indent="-177800">
              <a:spcAft>
                <a:spcPts val="700"/>
              </a:spcAft>
              <a:buSzPct val="100000"/>
              <a:buChar char="•"/>
            </a:pPr>
            <a:r>
              <a:rPr lang="en-US" sz="1030" dirty="0">
                <a:solidFill>
                  <a:srgbClr val="1F2937"/>
                </a:solidFill>
                <a:latin typeface="Calibri" pitchFamily="34" charset="0"/>
                <a:ea typeface="Calibri" pitchFamily="34" charset="-122"/>
                <a:cs typeface="Calibri" pitchFamily="34" charset="-120"/>
              </a:rPr>
              <a:t>State: anomaly deltas, SHAP attribution, node, affected flows, time, recent actions</a:t>
            </a:r>
            <a:endParaRPr lang="en-US" sz="1030" dirty="0"/>
          </a:p>
          <a:p>
            <a:pPr marL="177800" indent="-177800">
              <a:spcAft>
                <a:spcPts val="700"/>
              </a:spcAft>
              <a:buSzPct val="100000"/>
              <a:buChar char="•"/>
            </a:pPr>
            <a:r>
              <a:rPr lang="en-US" sz="1030" dirty="0">
                <a:solidFill>
                  <a:srgbClr val="1F2937"/>
                </a:solidFill>
                <a:latin typeface="Calibri" pitchFamily="34" charset="0"/>
                <a:ea typeface="Calibri" pitchFamily="34" charset="-122"/>
                <a:cs typeface="Calibri" pitchFamily="34" charset="-120"/>
              </a:rPr>
              <a:t>Shared dense layers → Value stream + Advantage stream</a:t>
            </a:r>
            <a:endParaRPr lang="en-US" sz="1030" dirty="0"/>
          </a:p>
          <a:p>
            <a:pPr marL="177800" indent="-177800">
              <a:spcAft>
                <a:spcPts val="700"/>
              </a:spcAft>
              <a:buSzPct val="100000"/>
              <a:buChar char="•"/>
            </a:pPr>
            <a:r>
              <a:rPr lang="en-US" sz="1030" dirty="0">
                <a:solidFill>
                  <a:srgbClr val="1F2937"/>
                </a:solidFill>
                <a:latin typeface="Calibri" pitchFamily="34" charset="0"/>
                <a:ea typeface="Calibri" pitchFamily="34" charset="-122"/>
                <a:cs typeface="Calibri" pitchFamily="34" charset="-120"/>
              </a:rPr>
              <a:t>Q(s,a) = V(s) + (A(s,a) − mean A)</a:t>
            </a:r>
            <a:endParaRPr lang="en-US" sz="1030" dirty="0"/>
          </a:p>
          <a:p>
            <a:pPr marL="177800" indent="-177800">
              <a:spcAft>
                <a:spcPts val="700"/>
              </a:spcAft>
              <a:buSzPct val="100000"/>
              <a:buChar char="•"/>
            </a:pPr>
            <a:r>
              <a:rPr lang="en-US" sz="1030" dirty="0">
                <a:solidFill>
                  <a:srgbClr val="1F2937"/>
                </a:solidFill>
                <a:latin typeface="Calibri" pitchFamily="34" charset="0"/>
                <a:ea typeface="Calibri" pitchFamily="34" charset="-122"/>
                <a:cs typeface="Calibri" pitchFamily="34" charset="-120"/>
              </a:rPr>
              <a:t>Training episodes and environment: confirm from logs</a:t>
            </a:r>
            <a:endParaRPr lang="en-US" sz="1030" dirty="0"/>
          </a:p>
        </p:txBody>
      </p:sp>
      <p:sp>
        <p:nvSpPr>
          <p:cNvPr id="13" name="Shape 10"/>
          <p:cNvSpPr/>
          <p:nvPr/>
        </p:nvSpPr>
        <p:spPr>
          <a:xfrm>
            <a:off x="8336128" y="1463040"/>
            <a:ext cx="3261208" cy="2743200"/>
          </a:xfrm>
          <a:prstGeom prst="rect">
            <a:avLst/>
          </a:prstGeom>
          <a:solidFill>
            <a:srgbClr val="FFFFFF"/>
          </a:solidFill>
          <a:ln w="12700">
            <a:solidFill>
              <a:srgbClr val="AEB9C7"/>
            </a:solidFill>
            <a:prstDash val="solid"/>
          </a:ln>
        </p:spPr>
      </p:sp>
      <p:sp>
        <p:nvSpPr>
          <p:cNvPr id="14" name="Text 11"/>
          <p:cNvSpPr txBox="1"/>
          <p:nvPr/>
        </p:nvSpPr>
        <p:spPr>
          <a:xfrm>
            <a:off x="8500720" y="1572768"/>
            <a:ext cx="2932024" cy="292608"/>
          </a:xfrm>
          <a:prstGeom prst="rect">
            <a:avLst/>
          </a:prstGeom>
          <a:noFill/>
          <a:ln/>
        </p:spPr>
        <p:txBody>
          <a:bodyPr wrap="square" lIns="0" tIns="0" rIns="0" bIns="0" rtlCol="0" anchor="ctr"/>
          <a:lstStyle/>
          <a:p>
            <a:pPr marL="0" indent="0">
              <a:buNone/>
            </a:pPr>
            <a:r>
              <a:rPr lang="en-US" sz="1350" b="1" dirty="0">
                <a:solidFill>
                  <a:srgbClr val="17365D"/>
                </a:solidFill>
                <a:latin typeface="Calibri" pitchFamily="34" charset="0"/>
                <a:ea typeface="Calibri" pitchFamily="34" charset="-122"/>
                <a:cs typeface="Calibri" pitchFamily="34" charset="-120"/>
              </a:rPr>
              <a:t>Reward balances</a:t>
            </a:r>
            <a:endParaRPr lang="en-US" sz="1350" dirty="0"/>
          </a:p>
        </p:txBody>
      </p:sp>
      <p:sp>
        <p:nvSpPr>
          <p:cNvPr id="15" name="Text 12"/>
          <p:cNvSpPr txBox="1"/>
          <p:nvPr/>
        </p:nvSpPr>
        <p:spPr>
          <a:xfrm>
            <a:off x="8500720" y="1874520"/>
            <a:ext cx="2932024" cy="2194560"/>
          </a:xfrm>
          <a:prstGeom prst="rect">
            <a:avLst/>
          </a:prstGeom>
          <a:noFill/>
          <a:ln/>
        </p:spPr>
        <p:txBody>
          <a:bodyPr wrap="square" lIns="0" tIns="0" rIns="0" bIns="0" rtlCol="0" anchor="t"/>
          <a:lstStyle/>
          <a:p>
            <a:pPr marL="177800" indent="-177800">
              <a:spcAft>
                <a:spcPts val="600"/>
              </a:spcAft>
              <a:buSzPct val="100000"/>
              <a:buChar char="•"/>
            </a:pPr>
            <a:r>
              <a:rPr lang="en-US" sz="1030" dirty="0">
                <a:solidFill>
                  <a:srgbClr val="1F2937"/>
                </a:solidFill>
                <a:latin typeface="Calibri" pitchFamily="34" charset="0"/>
                <a:ea typeface="Calibri" pitchFamily="34" charset="-122"/>
                <a:cs typeface="Calibri" pitchFamily="34" charset="-120"/>
              </a:rPr>
              <a:t>+ Lower latency (capped)</a:t>
            </a:r>
            <a:endParaRPr lang="en-US" sz="1030" dirty="0"/>
          </a:p>
          <a:p>
            <a:pPr marL="177800" indent="-177800">
              <a:spcAft>
                <a:spcPts val="600"/>
              </a:spcAft>
              <a:buSzPct val="100000"/>
              <a:buChar char="•"/>
            </a:pPr>
            <a:r>
              <a:rPr lang="en-US" sz="1030" dirty="0">
                <a:solidFill>
                  <a:srgbClr val="1F2937"/>
                </a:solidFill>
                <a:latin typeface="Calibri" pitchFamily="34" charset="0"/>
                <a:ea typeface="Calibri" pitchFamily="34" charset="-122"/>
                <a:cs typeface="Calibri" pitchFamily="34" charset="-120"/>
              </a:rPr>
              <a:t>+ Higher throughput (capped)</a:t>
            </a:r>
            <a:endParaRPr lang="en-US" sz="1030" dirty="0"/>
          </a:p>
          <a:p>
            <a:pPr marL="177800" indent="-177800">
              <a:spcAft>
                <a:spcPts val="600"/>
              </a:spcAft>
              <a:buSzPct val="100000"/>
              <a:buChar char="•"/>
            </a:pPr>
            <a:r>
              <a:rPr lang="en-US" sz="1030" dirty="0">
                <a:solidFill>
                  <a:srgbClr val="1F2937"/>
                </a:solidFill>
                <a:latin typeface="Calibri" pitchFamily="34" charset="0"/>
                <a:ea typeface="Calibri" pitchFamily="34" charset="-122"/>
                <a:cs typeface="Calibri" pitchFamily="34" charset="-120"/>
              </a:rPr>
              <a:t>+ Less packet loss / congestion</a:t>
            </a:r>
            <a:endParaRPr lang="en-US" sz="1030" dirty="0"/>
          </a:p>
          <a:p>
            <a:pPr marL="177800" indent="-177800">
              <a:spcAft>
                <a:spcPts val="600"/>
              </a:spcAft>
              <a:buSzPct val="100000"/>
              <a:buChar char="•"/>
            </a:pPr>
            <a:r>
              <a:rPr lang="en-US" sz="1030" dirty="0">
                <a:solidFill>
                  <a:srgbClr val="1F2937"/>
                </a:solidFill>
                <a:latin typeface="Calibri" pitchFamily="34" charset="0"/>
                <a:ea typeface="Calibri" pitchFamily="34" charset="-122"/>
                <a:cs typeface="Calibri" pitchFamily="34" charset="-120"/>
              </a:rPr>
              <a:t>− SLA breach penalty</a:t>
            </a:r>
            <a:endParaRPr lang="en-US" sz="1030" dirty="0"/>
          </a:p>
          <a:p>
            <a:pPr marL="177800" indent="-177800">
              <a:spcAft>
                <a:spcPts val="600"/>
              </a:spcAft>
              <a:buSzPct val="100000"/>
              <a:buChar char="•"/>
            </a:pPr>
            <a:r>
              <a:rPr lang="en-US" sz="1030" dirty="0">
                <a:solidFill>
                  <a:srgbClr val="1F2937"/>
                </a:solidFill>
                <a:latin typeface="Calibri" pitchFamily="34" charset="0"/>
                <a:ea typeface="Calibri" pitchFamily="34" charset="-122"/>
                <a:cs typeface="Calibri" pitchFamily="34" charset="-120"/>
              </a:rPr>
              <a:t>− Action cost</a:t>
            </a:r>
            <a:endParaRPr lang="en-US" sz="1030" dirty="0"/>
          </a:p>
          <a:p>
            <a:pPr marL="177800" indent="-177800">
              <a:spcAft>
                <a:spcPts val="600"/>
              </a:spcAft>
              <a:buSzPct val="100000"/>
              <a:buChar char="•"/>
            </a:pPr>
            <a:r>
              <a:rPr lang="en-US" sz="1030" dirty="0">
                <a:solidFill>
                  <a:srgbClr val="1F2937"/>
                </a:solidFill>
                <a:latin typeface="Calibri" pitchFamily="34" charset="0"/>
                <a:ea typeface="Calibri" pitchFamily="34" charset="-122"/>
                <a:cs typeface="Calibri" pitchFamily="34" charset="-120"/>
              </a:rPr>
              <a:t>− Repeating the same action</a:t>
            </a:r>
            <a:endParaRPr lang="en-US" sz="1030" dirty="0"/>
          </a:p>
        </p:txBody>
      </p:sp>
      <p:sp>
        <p:nvSpPr>
          <p:cNvPr id="16" name="Text 13"/>
          <p:cNvSpPr txBox="1"/>
          <p:nvPr/>
        </p:nvSpPr>
        <p:spPr>
          <a:xfrm>
            <a:off x="1051560" y="4526280"/>
            <a:ext cx="10088575" cy="457200"/>
          </a:xfrm>
          <a:prstGeom prst="rect">
            <a:avLst/>
          </a:prstGeom>
          <a:noFill/>
          <a:ln/>
        </p:spPr>
        <p:txBody>
          <a:bodyPr wrap="square" lIns="0" tIns="0" rIns="0" bIns="0" rtlCol="0" anchor="ctr"/>
          <a:lstStyle/>
          <a:p>
            <a:pPr marL="0" indent="0" algn="ctr">
              <a:buNone/>
            </a:pPr>
            <a:r>
              <a:rPr lang="en-US" sz="1300" b="1" dirty="0">
                <a:solidFill>
                  <a:srgbClr val="8A1C1C"/>
                </a:solidFill>
                <a:latin typeface="Calibri" pitchFamily="34" charset="0"/>
                <a:ea typeface="Calibri" pitchFamily="34" charset="-122"/>
                <a:cs typeface="Calibri" pitchFamily="34" charset="-120"/>
              </a:rPr>
              <a:t>Reward weights are configurable per SLA profile (e.g. real-time video vs. batch data)</a:t>
            </a:r>
            <a:endParaRPr lang="en-US" sz="13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7F9FC"/>
        </a:solidFill>
        <a:effectLst/>
      </p:bgPr>
    </p:bg>
    <p:spTree>
      <p:nvGrpSpPr>
        <p:cNvPr id="1" name=""/>
        <p:cNvGrpSpPr/>
        <p:nvPr/>
      </p:nvGrpSpPr>
      <p:grpSpPr>
        <a:xfrm>
          <a:off x="0" y="0"/>
          <a:ext cx="0" cy="0"/>
          <a:chOff x="0" y="0"/>
          <a:chExt cx="0" cy="0"/>
        </a:xfrm>
      </p:grpSpPr>
      <p:sp>
        <p:nvSpPr>
          <p:cNvPr id="2" name="Shape 0"/>
          <p:cNvSpPr/>
          <p:nvPr/>
        </p:nvSpPr>
        <p:spPr>
          <a:xfrm>
            <a:off x="0" y="0"/>
            <a:ext cx="12191695" cy="256032"/>
          </a:xfrm>
          <a:prstGeom prst="rect">
            <a:avLst/>
          </a:prstGeom>
          <a:solidFill>
            <a:srgbClr val="17365D"/>
          </a:solidFill>
          <a:ln w="12700">
            <a:solidFill>
              <a:srgbClr val="17365D"/>
            </a:solidFill>
            <a:prstDash val="solid"/>
          </a:ln>
        </p:spPr>
      </p:sp>
      <p:sp>
        <p:nvSpPr>
          <p:cNvPr id="3" name="Text 1"/>
          <p:cNvSpPr txBox="1"/>
          <p:nvPr/>
        </p:nvSpPr>
        <p:spPr>
          <a:xfrm>
            <a:off x="594360" y="475488"/>
            <a:ext cx="10607040" cy="438912"/>
          </a:xfrm>
          <a:prstGeom prst="rect">
            <a:avLst/>
          </a:prstGeom>
          <a:noFill/>
          <a:ln/>
        </p:spPr>
        <p:txBody>
          <a:bodyPr wrap="square" lIns="0" tIns="0" rIns="0" bIns="0" rtlCol="0" anchor="ctr"/>
          <a:lstStyle/>
          <a:p>
            <a:pPr marL="0" indent="0" algn="l">
              <a:buNone/>
            </a:pPr>
            <a:r>
              <a:rPr lang="en-US" sz="2400" b="1" dirty="0">
                <a:solidFill>
                  <a:srgbClr val="17365D"/>
                </a:solidFill>
                <a:latin typeface="Calibri" pitchFamily="34" charset="0"/>
                <a:ea typeface="Calibri" pitchFamily="34" charset="-122"/>
                <a:cs typeface="Calibri" pitchFamily="34" charset="-120"/>
              </a:rPr>
              <a:t>8. Explainability &amp; Safety</a:t>
            </a:r>
            <a:endParaRPr lang="en-US" sz="2400" dirty="0"/>
          </a:p>
        </p:txBody>
      </p:sp>
      <p:sp>
        <p:nvSpPr>
          <p:cNvPr id="4" name="Shape 2"/>
          <p:cNvSpPr/>
          <p:nvPr/>
        </p:nvSpPr>
        <p:spPr>
          <a:xfrm>
            <a:off x="594360" y="1005840"/>
            <a:ext cx="1097280" cy="0"/>
          </a:xfrm>
          <a:prstGeom prst="line">
            <a:avLst/>
          </a:prstGeom>
          <a:noFill/>
          <a:ln w="38100">
            <a:solidFill>
              <a:srgbClr val="8A1C1C"/>
            </a:solidFill>
            <a:prstDash val="solid"/>
          </a:ln>
        </p:spPr>
      </p:sp>
      <p:sp>
        <p:nvSpPr>
          <p:cNvPr id="5" name="Text 3"/>
          <p:cNvSpPr txBox="1"/>
          <p:nvPr/>
        </p:nvSpPr>
        <p:spPr>
          <a:xfrm>
            <a:off x="1920240" y="877824"/>
            <a:ext cx="8961120" cy="274320"/>
          </a:xfrm>
          <a:prstGeom prst="rect">
            <a:avLst/>
          </a:prstGeom>
          <a:noFill/>
          <a:ln/>
        </p:spPr>
        <p:txBody>
          <a:bodyPr wrap="square" lIns="0" tIns="0" rIns="0" bIns="0" rtlCol="0" anchor="ctr"/>
          <a:lstStyle/>
          <a:p>
            <a:pPr marL="0" indent="0" algn="l">
              <a:buNone/>
            </a:pPr>
            <a:r>
              <a:rPr lang="en-US" sz="1200" dirty="0">
                <a:solidFill>
                  <a:srgbClr val="5D6B7A"/>
                </a:solidFill>
                <a:latin typeface="Calibri" pitchFamily="34" charset="0"/>
                <a:ea typeface="Calibri" pitchFamily="34" charset="-122"/>
                <a:cs typeface="Calibri" pitchFamily="34" charset="-120"/>
              </a:rPr>
              <a:t>Confidence-gated execution — two illustrative scenarios</a:t>
            </a:r>
            <a:endParaRPr lang="en-US" sz="1200" dirty="0"/>
          </a:p>
        </p:txBody>
      </p:sp>
      <p:sp>
        <p:nvSpPr>
          <p:cNvPr id="6" name="Shape 4"/>
          <p:cNvSpPr/>
          <p:nvPr/>
        </p:nvSpPr>
        <p:spPr>
          <a:xfrm>
            <a:off x="594360" y="6446520"/>
            <a:ext cx="11002975" cy="0"/>
          </a:xfrm>
          <a:prstGeom prst="line">
            <a:avLst/>
          </a:prstGeom>
          <a:noFill/>
          <a:ln w="9525">
            <a:solidFill>
              <a:srgbClr val="CBD5E1"/>
            </a:solidFill>
            <a:prstDash val="solid"/>
          </a:ln>
        </p:spPr>
      </p:sp>
      <p:sp>
        <p:nvSpPr>
          <p:cNvPr id="7" name="Text 5"/>
          <p:cNvSpPr txBox="1"/>
          <p:nvPr/>
        </p:nvSpPr>
        <p:spPr>
          <a:xfrm>
            <a:off x="594360" y="6492240"/>
            <a:ext cx="6858000" cy="219456"/>
          </a:xfrm>
          <a:prstGeom prst="rect">
            <a:avLst/>
          </a:prstGeom>
          <a:noFill/>
          <a:ln/>
        </p:spPr>
        <p:txBody>
          <a:bodyPr wrap="square" lIns="0" tIns="0" rIns="0" bIns="0" rtlCol="0" anchor="ctr"/>
          <a:lstStyle/>
          <a:p>
            <a:pPr marL="0" indent="0" algn="l">
              <a:buNone/>
            </a:pPr>
            <a:r>
              <a:rPr lang="en-US" sz="900" dirty="0">
                <a:solidFill>
                  <a:srgbClr val="5D6B7A"/>
                </a:solidFill>
                <a:latin typeface="Calibri" pitchFamily="34" charset="0"/>
                <a:ea typeface="Calibri" pitchFamily="34" charset="-122"/>
                <a:cs typeface="Calibri" pitchFamily="34" charset="-120"/>
              </a:rPr>
              <a:t>KPR Institute of Engineering and Technology  |  Department of Information Technology</a:t>
            </a:r>
            <a:endParaRPr lang="en-US" sz="900" dirty="0"/>
          </a:p>
        </p:txBody>
      </p:sp>
      <p:sp>
        <p:nvSpPr>
          <p:cNvPr id="8" name="Text 6"/>
          <p:cNvSpPr txBox="1"/>
          <p:nvPr/>
        </p:nvSpPr>
        <p:spPr>
          <a:xfrm>
            <a:off x="7939735" y="6492240"/>
            <a:ext cx="3657600" cy="219456"/>
          </a:xfrm>
          <a:prstGeom prst="rect">
            <a:avLst/>
          </a:prstGeom>
          <a:noFill/>
          <a:ln/>
        </p:spPr>
        <p:txBody>
          <a:bodyPr wrap="square" lIns="0" tIns="0" rIns="0" bIns="0" rtlCol="0" anchor="ctr"/>
          <a:lstStyle/>
          <a:p>
            <a:pPr marL="0" indent="0" algn="r">
              <a:buNone/>
            </a:pPr>
            <a:r>
              <a:rPr lang="en-US" sz="900" b="1" dirty="0">
                <a:solidFill>
                  <a:srgbClr val="8A1C1C"/>
                </a:solidFill>
                <a:latin typeface="Calibri" pitchFamily="34" charset="0"/>
                <a:ea typeface="Calibri" pitchFamily="34" charset="-122"/>
                <a:cs typeface="Calibri" pitchFamily="34" charset="-120"/>
              </a:rPr>
              <a:t> REVIEW  -  III  |   8</a:t>
            </a:r>
            <a:endParaRPr lang="en-US" sz="900" dirty="0"/>
          </a:p>
        </p:txBody>
      </p:sp>
      <p:sp>
        <p:nvSpPr>
          <p:cNvPr id="9" name="Shape 7"/>
          <p:cNvSpPr/>
          <p:nvPr/>
        </p:nvSpPr>
        <p:spPr>
          <a:xfrm>
            <a:off x="594360" y="1463040"/>
            <a:ext cx="5364328" cy="1691640"/>
          </a:xfrm>
          <a:prstGeom prst="rect">
            <a:avLst/>
          </a:prstGeom>
          <a:solidFill>
            <a:srgbClr val="FFFFFF"/>
          </a:solidFill>
          <a:ln w="12700">
            <a:solidFill>
              <a:srgbClr val="AEB9C7"/>
            </a:solidFill>
            <a:prstDash val="solid"/>
          </a:ln>
        </p:spPr>
      </p:sp>
      <p:sp>
        <p:nvSpPr>
          <p:cNvPr id="10" name="Text 8"/>
          <p:cNvSpPr txBox="1"/>
          <p:nvPr/>
        </p:nvSpPr>
        <p:spPr>
          <a:xfrm>
            <a:off x="758952" y="1572768"/>
            <a:ext cx="5035144" cy="292608"/>
          </a:xfrm>
          <a:prstGeom prst="rect">
            <a:avLst/>
          </a:prstGeom>
          <a:noFill/>
          <a:ln/>
        </p:spPr>
        <p:txBody>
          <a:bodyPr wrap="square" lIns="0" tIns="0" rIns="0" bIns="0" rtlCol="0" anchor="ctr"/>
          <a:lstStyle/>
          <a:p>
            <a:pPr marL="0" indent="0">
              <a:buNone/>
            </a:pPr>
            <a:r>
              <a:rPr lang="en-US" sz="1350" b="1" dirty="0">
                <a:solidFill>
                  <a:srgbClr val="17365D"/>
                </a:solidFill>
                <a:latin typeface="Calibri" pitchFamily="34" charset="0"/>
                <a:ea typeface="Calibri" pitchFamily="34" charset="-122"/>
                <a:cs typeface="Calibri" pitchFamily="34" charset="-120"/>
              </a:rPr>
              <a:t>Example 1 — High Confidence (≥ 75%)</a:t>
            </a:r>
            <a:endParaRPr lang="en-US" sz="1350" dirty="0"/>
          </a:p>
        </p:txBody>
      </p:sp>
      <p:sp>
        <p:nvSpPr>
          <p:cNvPr id="11" name="Text 9"/>
          <p:cNvSpPr txBox="1"/>
          <p:nvPr/>
        </p:nvSpPr>
        <p:spPr>
          <a:xfrm>
            <a:off x="758952" y="1965960"/>
            <a:ext cx="5035144" cy="1097280"/>
          </a:xfrm>
          <a:prstGeom prst="rect">
            <a:avLst/>
          </a:prstGeom>
          <a:noFill/>
          <a:ln/>
        </p:spPr>
        <p:txBody>
          <a:bodyPr wrap="square" lIns="0" tIns="0" rIns="0" bIns="0" rtlCol="0" anchor="t"/>
          <a:lstStyle/>
          <a:p>
            <a:pPr marL="177800" indent="-177800">
              <a:spcAft>
                <a:spcPts val="600"/>
              </a:spcAft>
              <a:buSzPct val="100000"/>
              <a:buChar char="•"/>
            </a:pPr>
            <a:r>
              <a:rPr lang="en-US" sz="1030" dirty="0">
                <a:solidFill>
                  <a:srgbClr val="1F2937"/>
                </a:solidFill>
                <a:latin typeface="Calibri" pitchFamily="34" charset="0"/>
                <a:ea typeface="Calibri" pitchFamily="34" charset="-122"/>
                <a:cs typeface="Calibri" pitchFamily="34" charset="-120"/>
              </a:rPr>
              <a:t>Congestion detected, anomaly score 0.80</a:t>
            </a:r>
            <a:endParaRPr lang="en-US" sz="1030" dirty="0"/>
          </a:p>
          <a:p>
            <a:pPr marL="177800" indent="-177800">
              <a:spcAft>
                <a:spcPts val="600"/>
              </a:spcAft>
              <a:buSzPct val="100000"/>
              <a:buChar char="•"/>
            </a:pPr>
            <a:r>
              <a:rPr lang="en-US" sz="1030" dirty="0">
                <a:solidFill>
                  <a:srgbClr val="1F2937"/>
                </a:solidFill>
                <a:latin typeface="Calibri" pitchFamily="34" charset="0"/>
                <a:ea typeface="Calibri" pitchFamily="34" charset="-122"/>
                <a:cs typeface="Calibri" pitchFamily="34" charset="-120"/>
              </a:rPr>
              <a:t>Agent proposes reroute with confidence 0.82</a:t>
            </a:r>
            <a:endParaRPr lang="en-US" sz="1030" dirty="0"/>
          </a:p>
          <a:p>
            <a:pPr marL="177800" indent="-177800">
              <a:spcAft>
                <a:spcPts val="600"/>
              </a:spcAft>
              <a:buSzPct val="100000"/>
              <a:buChar char="•"/>
            </a:pPr>
            <a:r>
              <a:rPr lang="en-US" sz="1030" dirty="0">
                <a:solidFill>
                  <a:srgbClr val="1F2937"/>
                </a:solidFill>
                <a:latin typeface="Calibri" pitchFamily="34" charset="0"/>
                <a:ea typeface="Calibri" pitchFamily="34" charset="-122"/>
                <a:cs typeface="Calibri" pitchFamily="34" charset="-120"/>
              </a:rPr>
              <a:t>Executes automatically — logged to audit trail</a:t>
            </a:r>
            <a:endParaRPr lang="en-US" sz="1030" dirty="0"/>
          </a:p>
          <a:p>
            <a:pPr marL="177800" indent="-177800">
              <a:spcAft>
                <a:spcPts val="600"/>
              </a:spcAft>
              <a:buSzPct val="100000"/>
              <a:buChar char="•"/>
            </a:pPr>
            <a:r>
              <a:rPr lang="en-US" sz="1030" dirty="0">
                <a:solidFill>
                  <a:srgbClr val="1F2937"/>
                </a:solidFill>
                <a:latin typeface="Calibri" pitchFamily="34" charset="0"/>
                <a:ea typeface="Calibri" pitchFamily="34" charset="-122"/>
                <a:cs typeface="Calibri" pitchFamily="34" charset="-120"/>
              </a:rPr>
              <a:t>No human step in the path</a:t>
            </a:r>
            <a:endParaRPr lang="en-US" sz="1030" dirty="0"/>
          </a:p>
        </p:txBody>
      </p:sp>
      <p:sp>
        <p:nvSpPr>
          <p:cNvPr id="12" name="Shape 10"/>
          <p:cNvSpPr/>
          <p:nvPr/>
        </p:nvSpPr>
        <p:spPr>
          <a:xfrm>
            <a:off x="6233008" y="1463040"/>
            <a:ext cx="5364328" cy="1691640"/>
          </a:xfrm>
          <a:prstGeom prst="rect">
            <a:avLst/>
          </a:prstGeom>
          <a:solidFill>
            <a:srgbClr val="FFFFFF"/>
          </a:solidFill>
          <a:ln w="12700">
            <a:solidFill>
              <a:srgbClr val="AEB9C7"/>
            </a:solidFill>
            <a:prstDash val="solid"/>
          </a:ln>
        </p:spPr>
      </p:sp>
      <p:sp>
        <p:nvSpPr>
          <p:cNvPr id="13" name="Text 11"/>
          <p:cNvSpPr txBox="1"/>
          <p:nvPr/>
        </p:nvSpPr>
        <p:spPr>
          <a:xfrm>
            <a:off x="6397600" y="1572768"/>
            <a:ext cx="5035144" cy="292608"/>
          </a:xfrm>
          <a:prstGeom prst="rect">
            <a:avLst/>
          </a:prstGeom>
          <a:noFill/>
          <a:ln/>
        </p:spPr>
        <p:txBody>
          <a:bodyPr wrap="square" lIns="0" tIns="0" rIns="0" bIns="0" rtlCol="0" anchor="ctr"/>
          <a:lstStyle/>
          <a:p>
            <a:pPr marL="0" indent="0">
              <a:buNone/>
            </a:pPr>
            <a:r>
              <a:rPr lang="en-US" sz="1350" b="1" dirty="0">
                <a:solidFill>
                  <a:srgbClr val="17365D"/>
                </a:solidFill>
                <a:latin typeface="Calibri" pitchFamily="34" charset="0"/>
                <a:ea typeface="Calibri" pitchFamily="34" charset="-122"/>
                <a:cs typeface="Calibri" pitchFamily="34" charset="-120"/>
              </a:rPr>
              <a:t>Example 2 — Uncertain (50–75%)</a:t>
            </a:r>
            <a:endParaRPr lang="en-US" sz="1350" dirty="0"/>
          </a:p>
        </p:txBody>
      </p:sp>
      <p:sp>
        <p:nvSpPr>
          <p:cNvPr id="14" name="Text 12"/>
          <p:cNvSpPr txBox="1"/>
          <p:nvPr/>
        </p:nvSpPr>
        <p:spPr>
          <a:xfrm>
            <a:off x="6397600" y="1965960"/>
            <a:ext cx="5035144" cy="1097280"/>
          </a:xfrm>
          <a:prstGeom prst="rect">
            <a:avLst/>
          </a:prstGeom>
          <a:noFill/>
          <a:ln/>
        </p:spPr>
        <p:txBody>
          <a:bodyPr wrap="square" lIns="0" tIns="0" rIns="0" bIns="0" rtlCol="0" anchor="t"/>
          <a:lstStyle/>
          <a:p>
            <a:pPr marL="177800" indent="-177800">
              <a:spcAft>
                <a:spcPts val="600"/>
              </a:spcAft>
              <a:buSzPct val="100000"/>
              <a:buChar char="•"/>
            </a:pPr>
            <a:r>
              <a:rPr lang="en-US" sz="1030" dirty="0">
                <a:solidFill>
                  <a:srgbClr val="1F2937"/>
                </a:solidFill>
                <a:latin typeface="Calibri" pitchFamily="34" charset="0"/>
                <a:ea typeface="Calibri" pitchFamily="34" charset="-122"/>
                <a:cs typeface="Calibri" pitchFamily="34" charset="-120"/>
              </a:rPr>
              <a:t>Routing instability detected, mixed signals</a:t>
            </a:r>
            <a:endParaRPr lang="en-US" sz="1030" dirty="0"/>
          </a:p>
          <a:p>
            <a:pPr marL="177800" indent="-177800">
              <a:spcAft>
                <a:spcPts val="600"/>
              </a:spcAft>
              <a:buSzPct val="100000"/>
              <a:buChar char="•"/>
            </a:pPr>
            <a:r>
              <a:rPr lang="en-US" sz="1030" dirty="0">
                <a:solidFill>
                  <a:srgbClr val="1F2937"/>
                </a:solidFill>
                <a:latin typeface="Calibri" pitchFamily="34" charset="0"/>
                <a:ea typeface="Calibri" pitchFamily="34" charset="-122"/>
                <a:cs typeface="Calibri" pitchFamily="34" charset="-120"/>
              </a:rPr>
              <a:t>Agent's confidence is only 0.61</a:t>
            </a:r>
            <a:endParaRPr lang="en-US" sz="1030" dirty="0"/>
          </a:p>
          <a:p>
            <a:pPr marL="177800" indent="-177800">
              <a:spcAft>
                <a:spcPts val="600"/>
              </a:spcAft>
              <a:buSzPct val="100000"/>
              <a:buChar char="•"/>
            </a:pPr>
            <a:r>
              <a:rPr lang="en-US" sz="1030" dirty="0">
                <a:solidFill>
                  <a:srgbClr val="1F2937"/>
                </a:solidFill>
                <a:latin typeface="Calibri" pitchFamily="34" charset="0"/>
                <a:ea typeface="Calibri" pitchFamily="34" charset="-122"/>
                <a:cs typeface="Calibri" pitchFamily="34" charset="-120"/>
              </a:rPr>
              <a:t>Recommendation is sent to the NOC for approval</a:t>
            </a:r>
            <a:endParaRPr lang="en-US" sz="1030" dirty="0"/>
          </a:p>
          <a:p>
            <a:pPr marL="177800" indent="-177800">
              <a:spcAft>
                <a:spcPts val="600"/>
              </a:spcAft>
              <a:buSzPct val="100000"/>
              <a:buChar char="•"/>
            </a:pPr>
            <a:r>
              <a:rPr lang="en-US" sz="1030" dirty="0">
                <a:solidFill>
                  <a:srgbClr val="1F2937"/>
                </a:solidFill>
                <a:latin typeface="Calibri" pitchFamily="34" charset="0"/>
                <a:ea typeface="Calibri" pitchFamily="34" charset="-122"/>
                <a:cs typeface="Calibri" pitchFamily="34" charset="-120"/>
              </a:rPr>
              <a:t>Action waits until a human confirms</a:t>
            </a:r>
            <a:endParaRPr lang="en-US" sz="1030" dirty="0"/>
          </a:p>
        </p:txBody>
      </p:sp>
      <p:sp>
        <p:nvSpPr>
          <p:cNvPr id="15" name="Shape 13"/>
          <p:cNvSpPr/>
          <p:nvPr/>
        </p:nvSpPr>
        <p:spPr>
          <a:xfrm>
            <a:off x="594360" y="4048179"/>
            <a:ext cx="2545004" cy="621792"/>
          </a:xfrm>
          <a:prstGeom prst="rect">
            <a:avLst/>
          </a:prstGeom>
          <a:solidFill>
            <a:srgbClr val="EEF3F8"/>
          </a:solidFill>
          <a:ln w="12700">
            <a:solidFill>
              <a:srgbClr val="AEB9C7"/>
            </a:solidFill>
            <a:prstDash val="solid"/>
          </a:ln>
        </p:spPr>
      </p:sp>
      <p:sp>
        <p:nvSpPr>
          <p:cNvPr id="16" name="Text 14"/>
          <p:cNvSpPr txBox="1"/>
          <p:nvPr/>
        </p:nvSpPr>
        <p:spPr>
          <a:xfrm>
            <a:off x="685800" y="4033484"/>
            <a:ext cx="2362124" cy="256032"/>
          </a:xfrm>
          <a:prstGeom prst="rect">
            <a:avLst/>
          </a:prstGeom>
          <a:noFill/>
          <a:ln/>
        </p:spPr>
        <p:txBody>
          <a:bodyPr wrap="square" lIns="0" tIns="0" rIns="0" bIns="0" rtlCol="0" anchor="ctr"/>
          <a:lstStyle/>
          <a:p>
            <a:pPr marL="0" indent="0">
              <a:buNone/>
            </a:pPr>
            <a:r>
              <a:rPr lang="en-US" sz="1100" b="1" dirty="0">
                <a:solidFill>
                  <a:srgbClr val="17365D"/>
                </a:solidFill>
                <a:latin typeface="Calibri" pitchFamily="34" charset="0"/>
                <a:ea typeface="Calibri" pitchFamily="34" charset="-122"/>
                <a:cs typeface="Calibri" pitchFamily="34" charset="-120"/>
              </a:rPr>
              <a:t>Confidence gate</a:t>
            </a:r>
            <a:endParaRPr lang="en-US" sz="1100" dirty="0"/>
          </a:p>
        </p:txBody>
      </p:sp>
      <p:sp>
        <p:nvSpPr>
          <p:cNvPr id="17" name="Text 15"/>
          <p:cNvSpPr txBox="1"/>
          <p:nvPr/>
        </p:nvSpPr>
        <p:spPr>
          <a:xfrm>
            <a:off x="683934" y="4274820"/>
            <a:ext cx="2362124" cy="274320"/>
          </a:xfrm>
          <a:prstGeom prst="rect">
            <a:avLst/>
          </a:prstGeom>
          <a:noFill/>
          <a:ln/>
        </p:spPr>
        <p:txBody>
          <a:bodyPr wrap="square" lIns="0" tIns="0" rIns="0" bIns="0" rtlCol="0" anchor="ctr"/>
          <a:lstStyle/>
          <a:p>
            <a:pPr marL="0" indent="0">
              <a:buNone/>
            </a:pPr>
            <a:r>
              <a:rPr lang="en-US" sz="900" dirty="0">
                <a:solidFill>
                  <a:srgbClr val="5D6B7A"/>
                </a:solidFill>
                <a:latin typeface="Calibri" pitchFamily="34" charset="0"/>
                <a:ea typeface="Calibri" pitchFamily="34" charset="-122"/>
                <a:cs typeface="Calibri" pitchFamily="34" charset="-120"/>
              </a:rPr>
              <a:t>Acts alone only ≥ 75%</a:t>
            </a:r>
            <a:endParaRPr lang="en-US" sz="900" dirty="0"/>
          </a:p>
        </p:txBody>
      </p:sp>
      <p:sp>
        <p:nvSpPr>
          <p:cNvPr id="18" name="Shape 16"/>
          <p:cNvSpPr/>
          <p:nvPr/>
        </p:nvSpPr>
        <p:spPr>
          <a:xfrm>
            <a:off x="3413684" y="3995928"/>
            <a:ext cx="2545004" cy="621792"/>
          </a:xfrm>
          <a:prstGeom prst="rect">
            <a:avLst/>
          </a:prstGeom>
          <a:solidFill>
            <a:srgbClr val="EEF3F8"/>
          </a:solidFill>
          <a:ln w="12700">
            <a:solidFill>
              <a:srgbClr val="AEB9C7"/>
            </a:solidFill>
            <a:prstDash val="solid"/>
          </a:ln>
        </p:spPr>
        <p:txBody>
          <a:bodyPr/>
          <a:lstStyle/>
          <a:p>
            <a:endParaRPr lang="en-IN" dirty="0"/>
          </a:p>
        </p:txBody>
      </p:sp>
      <p:sp>
        <p:nvSpPr>
          <p:cNvPr id="19" name="Text 17"/>
          <p:cNvSpPr txBox="1"/>
          <p:nvPr/>
        </p:nvSpPr>
        <p:spPr>
          <a:xfrm>
            <a:off x="3505124" y="4033997"/>
            <a:ext cx="2362124" cy="256032"/>
          </a:xfrm>
          <a:prstGeom prst="rect">
            <a:avLst/>
          </a:prstGeom>
          <a:noFill/>
          <a:ln/>
        </p:spPr>
        <p:txBody>
          <a:bodyPr wrap="square" lIns="0" tIns="0" rIns="0" bIns="0" rtlCol="0" anchor="ctr"/>
          <a:lstStyle/>
          <a:p>
            <a:pPr marL="0" indent="0">
              <a:buNone/>
            </a:pPr>
            <a:r>
              <a:rPr lang="en-US" sz="1100" b="1" dirty="0">
                <a:solidFill>
                  <a:srgbClr val="17365D"/>
                </a:solidFill>
                <a:latin typeface="Calibri" pitchFamily="34" charset="0"/>
                <a:ea typeface="Calibri" pitchFamily="34" charset="-122"/>
                <a:cs typeface="Calibri" pitchFamily="34" charset="-120"/>
              </a:rPr>
              <a:t>SHAP attribution</a:t>
            </a:r>
            <a:endParaRPr lang="en-US" sz="1100" dirty="0"/>
          </a:p>
        </p:txBody>
      </p:sp>
      <p:sp>
        <p:nvSpPr>
          <p:cNvPr id="20" name="Text 18"/>
          <p:cNvSpPr txBox="1"/>
          <p:nvPr/>
        </p:nvSpPr>
        <p:spPr>
          <a:xfrm>
            <a:off x="3505124" y="4280605"/>
            <a:ext cx="2362124" cy="274320"/>
          </a:xfrm>
          <a:prstGeom prst="rect">
            <a:avLst/>
          </a:prstGeom>
          <a:noFill/>
          <a:ln/>
        </p:spPr>
        <p:txBody>
          <a:bodyPr wrap="square" lIns="0" tIns="0" rIns="0" bIns="0" rtlCol="0" anchor="ctr"/>
          <a:lstStyle/>
          <a:p>
            <a:pPr marL="0" indent="0">
              <a:buNone/>
            </a:pPr>
            <a:r>
              <a:rPr lang="en-US" sz="900" dirty="0">
                <a:solidFill>
                  <a:srgbClr val="5D6B7A"/>
                </a:solidFill>
                <a:latin typeface="Calibri" pitchFamily="34" charset="0"/>
                <a:ea typeface="Calibri" pitchFamily="34" charset="-122"/>
                <a:cs typeface="Calibri" pitchFamily="34" charset="-120"/>
              </a:rPr>
              <a:t>Explains every decision</a:t>
            </a:r>
            <a:endParaRPr lang="en-US" sz="900" dirty="0"/>
          </a:p>
        </p:txBody>
      </p:sp>
      <p:sp>
        <p:nvSpPr>
          <p:cNvPr id="21" name="Shape 19"/>
          <p:cNvSpPr/>
          <p:nvPr/>
        </p:nvSpPr>
        <p:spPr>
          <a:xfrm>
            <a:off x="6233008" y="4005072"/>
            <a:ext cx="2545004" cy="621792"/>
          </a:xfrm>
          <a:prstGeom prst="rect">
            <a:avLst/>
          </a:prstGeom>
          <a:solidFill>
            <a:srgbClr val="EEF3F8"/>
          </a:solidFill>
          <a:ln w="12700">
            <a:solidFill>
              <a:srgbClr val="AEB9C7"/>
            </a:solidFill>
            <a:prstDash val="solid"/>
          </a:ln>
        </p:spPr>
      </p:sp>
      <p:sp>
        <p:nvSpPr>
          <p:cNvPr id="22" name="Text 20"/>
          <p:cNvSpPr txBox="1"/>
          <p:nvPr/>
        </p:nvSpPr>
        <p:spPr>
          <a:xfrm>
            <a:off x="6233008" y="4046220"/>
            <a:ext cx="2362124" cy="256032"/>
          </a:xfrm>
          <a:prstGeom prst="rect">
            <a:avLst/>
          </a:prstGeom>
          <a:noFill/>
          <a:ln/>
        </p:spPr>
        <p:txBody>
          <a:bodyPr wrap="square" lIns="0" tIns="0" rIns="0" bIns="0" rtlCol="0" anchor="ctr"/>
          <a:lstStyle/>
          <a:p>
            <a:pPr marL="0" indent="0">
              <a:buNone/>
            </a:pPr>
            <a:r>
              <a:rPr lang="en-US" sz="1100" b="1" dirty="0">
                <a:solidFill>
                  <a:srgbClr val="17365D"/>
                </a:solidFill>
                <a:latin typeface="Calibri" pitchFamily="34" charset="0"/>
                <a:ea typeface="Calibri" pitchFamily="34" charset="-122"/>
                <a:cs typeface="Calibri" pitchFamily="34" charset="-120"/>
              </a:rPr>
              <a:t>   Rollback</a:t>
            </a:r>
            <a:endParaRPr lang="en-US" sz="1100" dirty="0"/>
          </a:p>
        </p:txBody>
      </p:sp>
      <p:sp>
        <p:nvSpPr>
          <p:cNvPr id="23" name="Text 21"/>
          <p:cNvSpPr txBox="1"/>
          <p:nvPr/>
        </p:nvSpPr>
        <p:spPr>
          <a:xfrm>
            <a:off x="6233008" y="4286250"/>
            <a:ext cx="2362124" cy="274320"/>
          </a:xfrm>
          <a:prstGeom prst="rect">
            <a:avLst/>
          </a:prstGeom>
          <a:noFill/>
          <a:ln/>
        </p:spPr>
        <p:txBody>
          <a:bodyPr wrap="square" lIns="0" tIns="0" rIns="0" bIns="0" rtlCol="0" anchor="ctr"/>
          <a:lstStyle/>
          <a:p>
            <a:pPr marL="0" indent="0">
              <a:buNone/>
            </a:pPr>
            <a:r>
              <a:rPr lang="en-US" sz="900" dirty="0">
                <a:solidFill>
                  <a:srgbClr val="5D6B7A"/>
                </a:solidFill>
                <a:latin typeface="Calibri" pitchFamily="34" charset="0"/>
                <a:ea typeface="Calibri" pitchFamily="34" charset="-122"/>
                <a:cs typeface="Calibri" pitchFamily="34" charset="-120"/>
              </a:rPr>
              <a:t>    Planned — not implemented</a:t>
            </a:r>
            <a:endParaRPr lang="en-US" sz="900" dirty="0"/>
          </a:p>
        </p:txBody>
      </p:sp>
      <p:sp>
        <p:nvSpPr>
          <p:cNvPr id="24" name="Shape 22"/>
          <p:cNvSpPr/>
          <p:nvPr/>
        </p:nvSpPr>
        <p:spPr>
          <a:xfrm>
            <a:off x="9143771" y="3995928"/>
            <a:ext cx="2545004" cy="621792"/>
          </a:xfrm>
          <a:prstGeom prst="rect">
            <a:avLst/>
          </a:prstGeom>
          <a:solidFill>
            <a:srgbClr val="EEF3F8"/>
          </a:solidFill>
          <a:ln w="12700">
            <a:solidFill>
              <a:srgbClr val="AEB9C7"/>
            </a:solidFill>
            <a:prstDash val="solid"/>
          </a:ln>
        </p:spPr>
      </p:sp>
      <p:sp>
        <p:nvSpPr>
          <p:cNvPr id="25" name="Text 23"/>
          <p:cNvSpPr txBox="1"/>
          <p:nvPr/>
        </p:nvSpPr>
        <p:spPr>
          <a:xfrm>
            <a:off x="9235211" y="4005072"/>
            <a:ext cx="2362124" cy="256032"/>
          </a:xfrm>
          <a:prstGeom prst="rect">
            <a:avLst/>
          </a:prstGeom>
          <a:noFill/>
          <a:ln/>
        </p:spPr>
        <p:txBody>
          <a:bodyPr wrap="square" lIns="0" tIns="0" rIns="0" bIns="0" rtlCol="0" anchor="ctr"/>
          <a:lstStyle/>
          <a:p>
            <a:pPr marL="0" indent="0">
              <a:buNone/>
            </a:pPr>
            <a:r>
              <a:rPr lang="en-US" sz="1100" b="1" dirty="0">
                <a:solidFill>
                  <a:srgbClr val="17365D"/>
                </a:solidFill>
                <a:latin typeface="Calibri" pitchFamily="34" charset="0"/>
                <a:ea typeface="Calibri" pitchFamily="34" charset="-122"/>
                <a:cs typeface="Calibri" pitchFamily="34" charset="-120"/>
              </a:rPr>
              <a:t>Audit log</a:t>
            </a:r>
            <a:endParaRPr lang="en-US" sz="1100" dirty="0"/>
          </a:p>
        </p:txBody>
      </p:sp>
      <p:sp>
        <p:nvSpPr>
          <p:cNvPr id="26" name="Text 24"/>
          <p:cNvSpPr txBox="1"/>
          <p:nvPr/>
        </p:nvSpPr>
        <p:spPr>
          <a:xfrm>
            <a:off x="9227747" y="4234791"/>
            <a:ext cx="2362124" cy="274320"/>
          </a:xfrm>
          <a:prstGeom prst="rect">
            <a:avLst/>
          </a:prstGeom>
          <a:noFill/>
          <a:ln/>
        </p:spPr>
        <p:txBody>
          <a:bodyPr wrap="square" lIns="0" tIns="0" rIns="0" bIns="0" rtlCol="0" anchor="ctr"/>
          <a:lstStyle/>
          <a:p>
            <a:pPr marL="0" indent="0">
              <a:buNone/>
            </a:pPr>
            <a:r>
              <a:rPr lang="en-US" sz="900" dirty="0">
                <a:solidFill>
                  <a:srgbClr val="5D6B7A"/>
                </a:solidFill>
                <a:latin typeface="Calibri" pitchFamily="34" charset="0"/>
                <a:ea typeface="Calibri" pitchFamily="34" charset="-122"/>
                <a:cs typeface="Calibri" pitchFamily="34" charset="-120"/>
              </a:rPr>
              <a:t>Local log; ElasticSearch planned</a:t>
            </a:r>
            <a:endParaRPr lang="en-US" sz="900" dirty="0"/>
          </a:p>
        </p:txBody>
      </p:sp>
      <p:sp>
        <p:nvSpPr>
          <p:cNvPr id="27" name="Text 25"/>
          <p:cNvSpPr txBox="1"/>
          <p:nvPr/>
        </p:nvSpPr>
        <p:spPr>
          <a:xfrm>
            <a:off x="1051560" y="5093208"/>
            <a:ext cx="10088575" cy="457200"/>
          </a:xfrm>
          <a:prstGeom prst="rect">
            <a:avLst/>
          </a:prstGeom>
          <a:noFill/>
          <a:ln/>
        </p:spPr>
        <p:txBody>
          <a:bodyPr wrap="square" lIns="0" tIns="0" rIns="0" bIns="0" rtlCol="0" anchor="ctr"/>
          <a:lstStyle/>
          <a:p>
            <a:pPr marL="0" indent="0" algn="ctr">
              <a:buNone/>
            </a:pPr>
            <a:r>
              <a:rPr lang="en-US" sz="1300" b="1" dirty="0">
                <a:solidFill>
                  <a:srgbClr val="8A1C1C"/>
                </a:solidFill>
                <a:latin typeface="Calibri" pitchFamily="34" charset="0"/>
                <a:ea typeface="Calibri" pitchFamily="34" charset="-122"/>
                <a:cs typeface="Calibri" pitchFamily="34" charset="-120"/>
              </a:rPr>
              <a:t>Example values are illustrative — replace with real decision_log entries</a:t>
            </a:r>
            <a:endParaRPr lang="en-US" sz="13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7F9FC"/>
        </a:solidFill>
        <a:effectLst/>
      </p:bgPr>
    </p:bg>
    <p:spTree>
      <p:nvGrpSpPr>
        <p:cNvPr id="1" name=""/>
        <p:cNvGrpSpPr/>
        <p:nvPr/>
      </p:nvGrpSpPr>
      <p:grpSpPr>
        <a:xfrm>
          <a:off x="0" y="0"/>
          <a:ext cx="0" cy="0"/>
          <a:chOff x="0" y="0"/>
          <a:chExt cx="0" cy="0"/>
        </a:xfrm>
      </p:grpSpPr>
      <p:sp>
        <p:nvSpPr>
          <p:cNvPr id="2" name="Shape 0"/>
          <p:cNvSpPr/>
          <p:nvPr/>
        </p:nvSpPr>
        <p:spPr>
          <a:xfrm>
            <a:off x="0" y="0"/>
            <a:ext cx="12191695" cy="256032"/>
          </a:xfrm>
          <a:prstGeom prst="rect">
            <a:avLst/>
          </a:prstGeom>
          <a:solidFill>
            <a:srgbClr val="17365D"/>
          </a:solidFill>
          <a:ln w="12700">
            <a:solidFill>
              <a:srgbClr val="17365D"/>
            </a:solidFill>
            <a:prstDash val="solid"/>
          </a:ln>
        </p:spPr>
      </p:sp>
      <p:sp>
        <p:nvSpPr>
          <p:cNvPr id="3" name="Text 1"/>
          <p:cNvSpPr txBox="1"/>
          <p:nvPr/>
        </p:nvSpPr>
        <p:spPr>
          <a:xfrm>
            <a:off x="594360" y="475488"/>
            <a:ext cx="10607040" cy="438912"/>
          </a:xfrm>
          <a:prstGeom prst="rect">
            <a:avLst/>
          </a:prstGeom>
          <a:noFill/>
          <a:ln/>
        </p:spPr>
        <p:txBody>
          <a:bodyPr wrap="square" lIns="0" tIns="0" rIns="0" bIns="0" rtlCol="0" anchor="ctr"/>
          <a:lstStyle/>
          <a:p>
            <a:pPr marL="0" indent="0" algn="l">
              <a:buNone/>
            </a:pPr>
            <a:r>
              <a:rPr lang="en-US" sz="2400" b="1" dirty="0">
                <a:solidFill>
                  <a:srgbClr val="17365D"/>
                </a:solidFill>
                <a:latin typeface="Calibri" pitchFamily="34" charset="0"/>
                <a:ea typeface="Calibri" pitchFamily="34" charset="-122"/>
                <a:cs typeface="Calibri" pitchFamily="34" charset="-120"/>
              </a:rPr>
              <a:t>9. Current Project Progress</a:t>
            </a:r>
            <a:endParaRPr lang="en-US" sz="2400" dirty="0"/>
          </a:p>
        </p:txBody>
      </p:sp>
      <p:sp>
        <p:nvSpPr>
          <p:cNvPr id="4" name="Shape 2"/>
          <p:cNvSpPr/>
          <p:nvPr/>
        </p:nvSpPr>
        <p:spPr>
          <a:xfrm>
            <a:off x="594360" y="1005840"/>
            <a:ext cx="1097280" cy="0"/>
          </a:xfrm>
          <a:prstGeom prst="line">
            <a:avLst/>
          </a:prstGeom>
          <a:noFill/>
          <a:ln w="38100">
            <a:solidFill>
              <a:srgbClr val="8A1C1C"/>
            </a:solidFill>
            <a:prstDash val="solid"/>
          </a:ln>
        </p:spPr>
      </p:sp>
      <p:sp>
        <p:nvSpPr>
          <p:cNvPr id="5" name="Text 3"/>
          <p:cNvSpPr txBox="1"/>
          <p:nvPr/>
        </p:nvSpPr>
        <p:spPr>
          <a:xfrm>
            <a:off x="1920240" y="877824"/>
            <a:ext cx="8961120" cy="274320"/>
          </a:xfrm>
          <a:prstGeom prst="rect">
            <a:avLst/>
          </a:prstGeom>
          <a:noFill/>
          <a:ln/>
        </p:spPr>
        <p:txBody>
          <a:bodyPr wrap="square" lIns="0" tIns="0" rIns="0" bIns="0" rtlCol="0" anchor="ctr"/>
          <a:lstStyle/>
          <a:p>
            <a:pPr marL="0" indent="0" algn="l">
              <a:buNone/>
            </a:pPr>
            <a:r>
              <a:rPr lang="en-US" sz="1200" dirty="0">
                <a:solidFill>
                  <a:srgbClr val="5D6B7A"/>
                </a:solidFill>
                <a:latin typeface="Calibri" pitchFamily="34" charset="0"/>
                <a:ea typeface="Calibri" pitchFamily="34" charset="-122"/>
                <a:cs typeface="Calibri" pitchFamily="34" charset="-120"/>
              </a:rPr>
              <a:t>Four active workstreams toward the working prototype</a:t>
            </a:r>
            <a:endParaRPr lang="en-US" sz="1200" dirty="0"/>
          </a:p>
        </p:txBody>
      </p:sp>
      <p:sp>
        <p:nvSpPr>
          <p:cNvPr id="6" name="Shape 4"/>
          <p:cNvSpPr/>
          <p:nvPr/>
        </p:nvSpPr>
        <p:spPr>
          <a:xfrm>
            <a:off x="594360" y="6446520"/>
            <a:ext cx="11002975" cy="0"/>
          </a:xfrm>
          <a:prstGeom prst="line">
            <a:avLst/>
          </a:prstGeom>
          <a:noFill/>
          <a:ln w="9525">
            <a:solidFill>
              <a:srgbClr val="CBD5E1"/>
            </a:solidFill>
            <a:prstDash val="solid"/>
          </a:ln>
        </p:spPr>
      </p:sp>
      <p:sp>
        <p:nvSpPr>
          <p:cNvPr id="7" name="Text 5"/>
          <p:cNvSpPr txBox="1"/>
          <p:nvPr/>
        </p:nvSpPr>
        <p:spPr>
          <a:xfrm>
            <a:off x="594360" y="6492240"/>
            <a:ext cx="6858000" cy="219456"/>
          </a:xfrm>
          <a:prstGeom prst="rect">
            <a:avLst/>
          </a:prstGeom>
          <a:noFill/>
          <a:ln/>
        </p:spPr>
        <p:txBody>
          <a:bodyPr wrap="square" lIns="0" tIns="0" rIns="0" bIns="0" rtlCol="0" anchor="ctr"/>
          <a:lstStyle/>
          <a:p>
            <a:pPr marL="0" indent="0" algn="l">
              <a:buNone/>
            </a:pPr>
            <a:r>
              <a:rPr lang="en-US" sz="900" dirty="0">
                <a:solidFill>
                  <a:srgbClr val="5D6B7A"/>
                </a:solidFill>
                <a:latin typeface="Calibri" pitchFamily="34" charset="0"/>
                <a:ea typeface="Calibri" pitchFamily="34" charset="-122"/>
                <a:cs typeface="Calibri" pitchFamily="34" charset="-120"/>
              </a:rPr>
              <a:t>KPR Institute of Engineering and Technology  |  Department of Information Technology</a:t>
            </a:r>
            <a:endParaRPr lang="en-US" sz="900" dirty="0"/>
          </a:p>
        </p:txBody>
      </p:sp>
      <p:sp>
        <p:nvSpPr>
          <p:cNvPr id="8" name="Text 6"/>
          <p:cNvSpPr txBox="1"/>
          <p:nvPr/>
        </p:nvSpPr>
        <p:spPr>
          <a:xfrm>
            <a:off x="7939735" y="6492240"/>
            <a:ext cx="3657600" cy="219456"/>
          </a:xfrm>
          <a:prstGeom prst="rect">
            <a:avLst/>
          </a:prstGeom>
          <a:noFill/>
          <a:ln/>
        </p:spPr>
        <p:txBody>
          <a:bodyPr wrap="square" lIns="0" tIns="0" rIns="0" bIns="0" rtlCol="0" anchor="ctr"/>
          <a:lstStyle/>
          <a:p>
            <a:pPr marL="0" indent="0" algn="r">
              <a:buNone/>
            </a:pPr>
            <a:r>
              <a:rPr lang="en-US" sz="900" b="1" dirty="0">
                <a:solidFill>
                  <a:srgbClr val="8A1C1C"/>
                </a:solidFill>
                <a:latin typeface="Calibri" pitchFamily="34" charset="0"/>
                <a:ea typeface="Calibri" pitchFamily="34" charset="-122"/>
                <a:cs typeface="Calibri" pitchFamily="34" charset="-120"/>
              </a:rPr>
              <a:t>REVIEW  - III  |   9</a:t>
            </a:r>
            <a:endParaRPr lang="en-US" sz="900" dirty="0"/>
          </a:p>
        </p:txBody>
      </p:sp>
      <p:sp>
        <p:nvSpPr>
          <p:cNvPr id="21" name="Text 19"/>
          <p:cNvSpPr txBox="1"/>
          <p:nvPr/>
        </p:nvSpPr>
        <p:spPr>
          <a:xfrm>
            <a:off x="1051560" y="4782312"/>
            <a:ext cx="10088575" cy="457200"/>
          </a:xfrm>
          <a:prstGeom prst="rect">
            <a:avLst/>
          </a:prstGeom>
          <a:noFill/>
          <a:ln/>
        </p:spPr>
        <p:txBody>
          <a:bodyPr wrap="square" lIns="0" tIns="0" rIns="0" bIns="0" rtlCol="0" anchor="ctr"/>
          <a:lstStyle/>
          <a:p>
            <a:pPr marL="0" indent="0" algn="ctr">
              <a:buNone/>
            </a:pPr>
            <a:r>
              <a:rPr lang="en-US" sz="1300" b="1" dirty="0">
                <a:solidFill>
                  <a:srgbClr val="8A1C1C"/>
                </a:solidFill>
                <a:latin typeface="Calibri" pitchFamily="34" charset="0"/>
                <a:ea typeface="Calibri" pitchFamily="34" charset="-122"/>
                <a:cs typeface="Calibri" pitchFamily="34" charset="-120"/>
              </a:rPr>
              <a:t>Status reflects current progress — not a claim of a finished, working demo</a:t>
            </a:r>
            <a:endParaRPr lang="en-US" sz="1300" dirty="0"/>
          </a:p>
        </p:txBody>
      </p:sp>
      <p:sp>
        <p:nvSpPr>
          <p:cNvPr id="100" name="Shape 100"/>
          <p:cNvSpPr/>
          <p:nvPr/>
        </p:nvSpPr>
        <p:spPr>
          <a:xfrm>
            <a:off x="594360" y="1750000"/>
            <a:ext cx="2545004" cy="2600000"/>
          </a:xfrm>
          <a:prstGeom prst="roundRect">
            <a:avLst>
              <a:gd name="adj" fmla="val 5385"/>
            </a:avLst>
          </a:prstGeom>
          <a:solidFill>
            <a:srgbClr val="FCEAEA"/>
          </a:solidFill>
          <a:ln w="19050">
            <a:solidFill>
              <a:srgbClr val="8A1C1C"/>
            </a:solidFill>
            <a:prstDash val="solid"/>
          </a:ln>
        </p:spPr>
      </p:sp>
      <p:sp>
        <p:nvSpPr>
          <p:cNvPr id="101" name="Text 101"/>
          <p:cNvSpPr txBox="1"/>
          <p:nvPr/>
        </p:nvSpPr>
        <p:spPr>
          <a:xfrm>
            <a:off x="758952" y="1932880"/>
            <a:ext cx="2215820" cy="420000"/>
          </a:xfrm>
          <a:prstGeom prst="rect">
            <a:avLst/>
          </a:prstGeom>
          <a:noFill/>
          <a:ln/>
        </p:spPr>
        <p:txBody>
          <a:bodyPr wrap="square" lIns="0" tIns="0" rIns="0" bIns="0" rtlCol="0" anchor="ctr"/>
          <a:lstStyle/>
          <a:p>
            <a:pPr marL="0" indent="0" algn="l">
              <a:buNone/>
            </a:pPr>
            <a:r>
              <a:rPr lang="en-US" sz="1300" b="1" i="0" dirty="0">
                <a:solidFill>
                  <a:srgbClr val="17365D"/>
                </a:solidFill>
                <a:latin typeface="Calibri" pitchFamily="34" charset="0"/>
                <a:ea typeface="Calibri" pitchFamily="34" charset="-122"/>
                <a:cs typeface="Calibri" pitchFamily="34" charset="-120"/>
              </a:rPr>
              <a:t>AI/ML model</a:t>
            </a:r>
            <a:endParaRPr lang="en-US" sz="1300" dirty="0"/>
          </a:p>
        </p:txBody>
      </p:sp>
      <p:sp>
        <p:nvSpPr>
          <p:cNvPr id="102" name="Text 102"/>
          <p:cNvSpPr txBox="1"/>
          <p:nvPr/>
        </p:nvSpPr>
        <p:spPr>
          <a:xfrm>
            <a:off x="758952" y="2390080"/>
            <a:ext cx="2215820" cy="1300000"/>
          </a:xfrm>
          <a:prstGeom prst="rect">
            <a:avLst/>
          </a:prstGeom>
          <a:noFill/>
          <a:ln/>
        </p:spPr>
        <p:txBody>
          <a:bodyPr wrap="square" lIns="0" tIns="0" rIns="0" bIns="0" rtlCol="0" anchor="t"/>
          <a:lstStyle/>
          <a:p>
            <a:pPr marL="0" indent="0" algn="l">
              <a:buNone/>
            </a:pPr>
            <a:r>
              <a:rPr lang="en-US" sz="1000" b="0" i="0" dirty="0">
                <a:solidFill>
                  <a:srgbClr val="5D6B7A"/>
                </a:solidFill>
                <a:latin typeface="Calibri" pitchFamily="34" charset="0"/>
                <a:ea typeface="Calibri" pitchFamily="34" charset="-122"/>
                <a:cs typeface="Calibri" pitchFamily="34" charset="-120"/>
              </a:rPr>
              <a:t>Building and refining the model to produce useful outputs.</a:t>
            </a:r>
            <a:endParaRPr lang="en-US" sz="1000" dirty="0"/>
          </a:p>
        </p:txBody>
      </p:sp>
      <p:sp>
        <p:nvSpPr>
          <p:cNvPr id="103" name="Shape 103"/>
          <p:cNvSpPr/>
          <p:nvPr/>
        </p:nvSpPr>
        <p:spPr>
          <a:xfrm>
            <a:off x="758952" y="3847080"/>
            <a:ext cx="1097280" cy="320040"/>
          </a:xfrm>
          <a:prstGeom prst="rect">
            <a:avLst/>
          </a:prstGeom>
          <a:solidFill>
            <a:srgbClr val="8A1C1C"/>
          </a:solidFill>
          <a:ln w="0">
            <a:solidFill>
              <a:srgbClr val="8A1C1C"/>
            </a:solidFill>
            <a:prstDash val="solid"/>
          </a:ln>
        </p:spPr>
      </p:sp>
      <p:sp>
        <p:nvSpPr>
          <p:cNvPr id="104" name="Text 104"/>
          <p:cNvSpPr txBox="1"/>
          <p:nvPr/>
        </p:nvSpPr>
        <p:spPr>
          <a:xfrm>
            <a:off x="758952" y="3847080"/>
            <a:ext cx="1097280" cy="320040"/>
          </a:xfrm>
          <a:prstGeom prst="rect">
            <a:avLst/>
          </a:prstGeom>
          <a:noFill/>
          <a:ln/>
        </p:spPr>
        <p:txBody>
          <a:bodyPr wrap="square" lIns="0" tIns="0" rIns="0" bIns="0" rtlCol="0" anchor="ctr"/>
          <a:lstStyle/>
          <a:p>
            <a:pPr marL="0" indent="0" algn="ctr">
              <a:buNone/>
            </a:pPr>
            <a:r>
              <a:rPr lang="en-US" sz="950" b="1" i="0" dirty="0">
                <a:solidFill>
                  <a:srgbClr val="FFFFFF"/>
                </a:solidFill>
                <a:latin typeface="Calibri" pitchFamily="34" charset="0"/>
                <a:ea typeface="Calibri" pitchFamily="34" charset="-122"/>
                <a:cs typeface="Calibri" pitchFamily="34" charset="-120"/>
              </a:rPr>
              <a:t>In progress</a:t>
            </a:r>
            <a:endParaRPr lang="en-US" sz="950" dirty="0"/>
          </a:p>
        </p:txBody>
      </p:sp>
      <p:sp>
        <p:nvSpPr>
          <p:cNvPr id="105" name="Text 105"/>
          <p:cNvSpPr txBox="1"/>
          <p:nvPr/>
        </p:nvSpPr>
        <p:spPr>
          <a:xfrm>
            <a:off x="3148508" y="2894552"/>
            <a:ext cx="256032" cy="310896"/>
          </a:xfrm>
          <a:prstGeom prst="rect">
            <a:avLst/>
          </a:prstGeom>
          <a:noFill/>
          <a:ln/>
        </p:spPr>
        <p:txBody>
          <a:bodyPr wrap="square" lIns="0" tIns="0" rIns="0" bIns="0" rtlCol="0" anchor="ctr"/>
          <a:lstStyle/>
          <a:p>
            <a:pPr marL="0" indent="0" algn="ctr">
              <a:buNone/>
            </a:pPr>
            <a:r>
              <a:rPr lang="en-US" sz="1800" b="1" i="0" dirty="0">
                <a:solidFill>
                  <a:srgbClr val="8A1C1C"/>
                </a:solidFill>
                <a:latin typeface="Calibri" pitchFamily="34" charset="0"/>
                <a:ea typeface="Calibri" pitchFamily="34" charset="-122"/>
                <a:cs typeface="Calibri" pitchFamily="34" charset="-120"/>
              </a:rPr>
              <a:t>→</a:t>
            </a:r>
            <a:endParaRPr lang="en-US" sz="1800" dirty="0"/>
          </a:p>
        </p:txBody>
      </p:sp>
      <p:sp>
        <p:nvSpPr>
          <p:cNvPr id="106" name="Shape 106"/>
          <p:cNvSpPr/>
          <p:nvPr/>
        </p:nvSpPr>
        <p:spPr>
          <a:xfrm>
            <a:off x="3413684" y="1750000"/>
            <a:ext cx="2545004" cy="2600000"/>
          </a:xfrm>
          <a:prstGeom prst="roundRect">
            <a:avLst>
              <a:gd name="adj" fmla="val 5385"/>
            </a:avLst>
          </a:prstGeom>
          <a:solidFill>
            <a:srgbClr val="EEF3F8"/>
          </a:solidFill>
          <a:ln w="12700">
            <a:solidFill>
              <a:srgbClr val="9FB0C3"/>
            </a:solidFill>
            <a:prstDash val="solid"/>
          </a:ln>
        </p:spPr>
      </p:sp>
      <p:sp>
        <p:nvSpPr>
          <p:cNvPr id="107" name="Text 107"/>
          <p:cNvSpPr txBox="1"/>
          <p:nvPr/>
        </p:nvSpPr>
        <p:spPr>
          <a:xfrm>
            <a:off x="3578276" y="1932880"/>
            <a:ext cx="2215820" cy="420000"/>
          </a:xfrm>
          <a:prstGeom prst="rect">
            <a:avLst/>
          </a:prstGeom>
          <a:noFill/>
          <a:ln/>
        </p:spPr>
        <p:txBody>
          <a:bodyPr wrap="square" lIns="0" tIns="0" rIns="0" bIns="0" rtlCol="0" anchor="ctr"/>
          <a:lstStyle/>
          <a:p>
            <a:pPr marL="0" indent="0" algn="l">
              <a:buNone/>
            </a:pPr>
            <a:r>
              <a:rPr lang="en-US" sz="1300" b="1" i="0" dirty="0">
                <a:solidFill>
                  <a:srgbClr val="17365D"/>
                </a:solidFill>
                <a:latin typeface="Calibri" pitchFamily="34" charset="0"/>
                <a:ea typeface="Calibri" pitchFamily="34" charset="-122"/>
                <a:cs typeface="Calibri" pitchFamily="34" charset="-120"/>
              </a:rPr>
              <a:t>NVIDIA CUDA</a:t>
            </a:r>
            <a:endParaRPr lang="en-US" sz="1300" dirty="0"/>
          </a:p>
        </p:txBody>
      </p:sp>
      <p:sp>
        <p:nvSpPr>
          <p:cNvPr id="108" name="Text 108"/>
          <p:cNvSpPr txBox="1"/>
          <p:nvPr/>
        </p:nvSpPr>
        <p:spPr>
          <a:xfrm>
            <a:off x="3578276" y="2390080"/>
            <a:ext cx="2215820" cy="1300000"/>
          </a:xfrm>
          <a:prstGeom prst="rect">
            <a:avLst/>
          </a:prstGeom>
          <a:noFill/>
          <a:ln/>
        </p:spPr>
        <p:txBody>
          <a:bodyPr wrap="square" lIns="0" tIns="0" rIns="0" bIns="0" rtlCol="0" anchor="t"/>
          <a:lstStyle/>
          <a:p>
            <a:pPr marL="0" indent="0" algn="l">
              <a:buNone/>
            </a:pPr>
            <a:r>
              <a:rPr lang="en-US" sz="1000" b="0" i="0" dirty="0">
                <a:solidFill>
                  <a:srgbClr val="5D6B7A"/>
                </a:solidFill>
                <a:latin typeface="Calibri" pitchFamily="34" charset="0"/>
                <a:ea typeface="Calibri" pitchFamily="34" charset="-122"/>
                <a:cs typeface="Calibri" pitchFamily="34" charset="-120"/>
              </a:rPr>
              <a:t>Researching GPU acceleration and implementation requirements.</a:t>
            </a:r>
            <a:endParaRPr lang="en-US" sz="1000" dirty="0"/>
          </a:p>
        </p:txBody>
      </p:sp>
      <p:sp>
        <p:nvSpPr>
          <p:cNvPr id="109" name="Shape 109"/>
          <p:cNvSpPr/>
          <p:nvPr/>
        </p:nvSpPr>
        <p:spPr>
          <a:xfrm>
            <a:off x="3578276" y="3847080"/>
            <a:ext cx="914400" cy="320040"/>
          </a:xfrm>
          <a:prstGeom prst="rect">
            <a:avLst/>
          </a:prstGeom>
          <a:solidFill>
            <a:srgbClr val="DCE6F1"/>
          </a:solidFill>
          <a:ln w="0">
            <a:solidFill>
              <a:srgbClr val="DCE6F1"/>
            </a:solidFill>
            <a:prstDash val="solid"/>
          </a:ln>
        </p:spPr>
      </p:sp>
      <p:sp>
        <p:nvSpPr>
          <p:cNvPr id="110" name="Text 110"/>
          <p:cNvSpPr txBox="1"/>
          <p:nvPr/>
        </p:nvSpPr>
        <p:spPr>
          <a:xfrm>
            <a:off x="3578276" y="3847080"/>
            <a:ext cx="914400" cy="320040"/>
          </a:xfrm>
          <a:prstGeom prst="rect">
            <a:avLst/>
          </a:prstGeom>
          <a:noFill/>
          <a:ln/>
        </p:spPr>
        <p:txBody>
          <a:bodyPr wrap="square" lIns="0" tIns="0" rIns="0" bIns="0" rtlCol="0" anchor="ctr"/>
          <a:lstStyle/>
          <a:p>
            <a:pPr marL="0" indent="0" algn="ctr">
              <a:buNone/>
            </a:pPr>
            <a:r>
              <a:rPr lang="en-US" sz="950" b="1" i="0" dirty="0">
                <a:solidFill>
                  <a:srgbClr val="17365D"/>
                </a:solidFill>
                <a:latin typeface="Calibri" pitchFamily="34" charset="0"/>
                <a:ea typeface="Calibri" pitchFamily="34" charset="-122"/>
                <a:cs typeface="Calibri" pitchFamily="34" charset="-120"/>
              </a:rPr>
              <a:t>Research</a:t>
            </a:r>
            <a:endParaRPr lang="en-US" sz="950" dirty="0"/>
          </a:p>
        </p:txBody>
      </p:sp>
      <p:sp>
        <p:nvSpPr>
          <p:cNvPr id="111" name="Text 111"/>
          <p:cNvSpPr txBox="1"/>
          <p:nvPr/>
        </p:nvSpPr>
        <p:spPr>
          <a:xfrm>
            <a:off x="5967832" y="2894552"/>
            <a:ext cx="256032" cy="310896"/>
          </a:xfrm>
          <a:prstGeom prst="rect">
            <a:avLst/>
          </a:prstGeom>
          <a:noFill/>
          <a:ln/>
        </p:spPr>
        <p:txBody>
          <a:bodyPr wrap="square" lIns="0" tIns="0" rIns="0" bIns="0" rtlCol="0" anchor="ctr"/>
          <a:lstStyle/>
          <a:p>
            <a:pPr marL="0" indent="0" algn="ctr">
              <a:buNone/>
            </a:pPr>
            <a:r>
              <a:rPr lang="en-US" sz="1800" b="1" i="0" dirty="0">
                <a:solidFill>
                  <a:srgbClr val="8A1C1C"/>
                </a:solidFill>
                <a:latin typeface="Calibri" pitchFamily="34" charset="0"/>
                <a:ea typeface="Calibri" pitchFamily="34" charset="-122"/>
                <a:cs typeface="Calibri" pitchFamily="34" charset="-120"/>
              </a:rPr>
              <a:t>→</a:t>
            </a:r>
            <a:endParaRPr lang="en-US" sz="1800" dirty="0"/>
          </a:p>
        </p:txBody>
      </p:sp>
      <p:sp>
        <p:nvSpPr>
          <p:cNvPr id="112" name="Shape 112"/>
          <p:cNvSpPr/>
          <p:nvPr/>
        </p:nvSpPr>
        <p:spPr>
          <a:xfrm>
            <a:off x="6233008" y="1750000"/>
            <a:ext cx="2545004" cy="2600000"/>
          </a:xfrm>
          <a:prstGeom prst="roundRect">
            <a:avLst>
              <a:gd name="adj" fmla="val 5385"/>
            </a:avLst>
          </a:prstGeom>
          <a:solidFill>
            <a:srgbClr val="EEF3F8"/>
          </a:solidFill>
          <a:ln w="12700">
            <a:solidFill>
              <a:srgbClr val="9FB0C3"/>
            </a:solidFill>
            <a:prstDash val="solid"/>
          </a:ln>
        </p:spPr>
      </p:sp>
      <p:sp>
        <p:nvSpPr>
          <p:cNvPr id="113" name="Text 113"/>
          <p:cNvSpPr txBox="1"/>
          <p:nvPr/>
        </p:nvSpPr>
        <p:spPr>
          <a:xfrm>
            <a:off x="6397600" y="1932880"/>
            <a:ext cx="2215820" cy="420000"/>
          </a:xfrm>
          <a:prstGeom prst="rect">
            <a:avLst/>
          </a:prstGeom>
          <a:noFill/>
          <a:ln/>
        </p:spPr>
        <p:txBody>
          <a:bodyPr wrap="square" lIns="0" tIns="0" rIns="0" bIns="0" rtlCol="0" anchor="ctr"/>
          <a:lstStyle/>
          <a:p>
            <a:pPr marL="0" indent="0" algn="l">
              <a:buNone/>
            </a:pPr>
            <a:r>
              <a:rPr lang="en-US" sz="1300" b="1" i="0" dirty="0">
                <a:solidFill>
                  <a:srgbClr val="17365D"/>
                </a:solidFill>
                <a:latin typeface="Calibri" pitchFamily="34" charset="0"/>
                <a:ea typeface="Calibri" pitchFamily="34" charset="-122"/>
                <a:cs typeface="Calibri" pitchFamily="34" charset="-120"/>
              </a:rPr>
              <a:t>Four-way agent</a:t>
            </a:r>
            <a:endParaRPr lang="en-US" sz="1300" dirty="0"/>
          </a:p>
        </p:txBody>
      </p:sp>
      <p:sp>
        <p:nvSpPr>
          <p:cNvPr id="114" name="Text 114"/>
          <p:cNvSpPr txBox="1"/>
          <p:nvPr/>
        </p:nvSpPr>
        <p:spPr>
          <a:xfrm>
            <a:off x="6397600" y="2390080"/>
            <a:ext cx="2215820" cy="1300000"/>
          </a:xfrm>
          <a:prstGeom prst="rect">
            <a:avLst/>
          </a:prstGeom>
          <a:noFill/>
          <a:ln/>
        </p:spPr>
        <p:txBody>
          <a:bodyPr wrap="square" lIns="0" tIns="0" rIns="0" bIns="0" rtlCol="0" anchor="t"/>
          <a:lstStyle/>
          <a:p>
            <a:pPr marL="0" indent="0" algn="l">
              <a:buNone/>
            </a:pPr>
            <a:r>
              <a:rPr lang="en-US" sz="1000" b="0" i="0" dirty="0">
                <a:solidFill>
                  <a:srgbClr val="5D6B7A"/>
                </a:solidFill>
                <a:latin typeface="Calibri" pitchFamily="34" charset="0"/>
                <a:ea typeface="Calibri" pitchFamily="34" charset="-122"/>
                <a:cs typeface="Calibri" pitchFamily="34" charset="-120"/>
              </a:rPr>
              <a:t>Researching workload-specific agent architecture.</a:t>
            </a:r>
            <a:endParaRPr lang="en-US" sz="1000" dirty="0"/>
          </a:p>
        </p:txBody>
      </p:sp>
      <p:sp>
        <p:nvSpPr>
          <p:cNvPr id="115" name="Shape 115"/>
          <p:cNvSpPr/>
          <p:nvPr/>
        </p:nvSpPr>
        <p:spPr>
          <a:xfrm>
            <a:off x="6397600" y="3847080"/>
            <a:ext cx="914400" cy="320040"/>
          </a:xfrm>
          <a:prstGeom prst="rect">
            <a:avLst/>
          </a:prstGeom>
          <a:solidFill>
            <a:srgbClr val="DCE6F1"/>
          </a:solidFill>
          <a:ln w="0">
            <a:solidFill>
              <a:srgbClr val="DCE6F1"/>
            </a:solidFill>
            <a:prstDash val="solid"/>
          </a:ln>
        </p:spPr>
      </p:sp>
      <p:sp>
        <p:nvSpPr>
          <p:cNvPr id="116" name="Text 116"/>
          <p:cNvSpPr txBox="1"/>
          <p:nvPr/>
        </p:nvSpPr>
        <p:spPr>
          <a:xfrm>
            <a:off x="6397600" y="3847080"/>
            <a:ext cx="914400" cy="320040"/>
          </a:xfrm>
          <a:prstGeom prst="rect">
            <a:avLst/>
          </a:prstGeom>
          <a:noFill/>
          <a:ln/>
        </p:spPr>
        <p:txBody>
          <a:bodyPr wrap="square" lIns="0" tIns="0" rIns="0" bIns="0" rtlCol="0" anchor="ctr"/>
          <a:lstStyle/>
          <a:p>
            <a:pPr marL="0" indent="0" algn="ctr">
              <a:buNone/>
            </a:pPr>
            <a:r>
              <a:rPr lang="en-US" sz="950" b="1" i="0" dirty="0">
                <a:solidFill>
                  <a:srgbClr val="17365D"/>
                </a:solidFill>
                <a:latin typeface="Calibri" pitchFamily="34" charset="0"/>
                <a:ea typeface="Calibri" pitchFamily="34" charset="-122"/>
                <a:cs typeface="Calibri" pitchFamily="34" charset="-120"/>
              </a:rPr>
              <a:t>Research</a:t>
            </a:r>
            <a:endParaRPr lang="en-US" sz="950" dirty="0"/>
          </a:p>
        </p:txBody>
      </p:sp>
      <p:sp>
        <p:nvSpPr>
          <p:cNvPr id="117" name="Text 117"/>
          <p:cNvSpPr txBox="1"/>
          <p:nvPr/>
        </p:nvSpPr>
        <p:spPr>
          <a:xfrm>
            <a:off x="8787155" y="2894552"/>
            <a:ext cx="256032" cy="310896"/>
          </a:xfrm>
          <a:prstGeom prst="rect">
            <a:avLst/>
          </a:prstGeom>
          <a:noFill/>
          <a:ln/>
        </p:spPr>
        <p:txBody>
          <a:bodyPr wrap="square" lIns="0" tIns="0" rIns="0" bIns="0" rtlCol="0" anchor="ctr"/>
          <a:lstStyle/>
          <a:p>
            <a:pPr marL="0" indent="0" algn="ctr">
              <a:buNone/>
            </a:pPr>
            <a:r>
              <a:rPr lang="en-US" sz="1800" b="1" i="0" dirty="0">
                <a:solidFill>
                  <a:srgbClr val="8A1C1C"/>
                </a:solidFill>
                <a:latin typeface="Calibri" pitchFamily="34" charset="0"/>
                <a:ea typeface="Calibri" pitchFamily="34" charset="-122"/>
                <a:cs typeface="Calibri" pitchFamily="34" charset="-120"/>
              </a:rPr>
              <a:t>→</a:t>
            </a:r>
            <a:endParaRPr lang="en-US" sz="1800" dirty="0"/>
          </a:p>
        </p:txBody>
      </p:sp>
      <p:sp>
        <p:nvSpPr>
          <p:cNvPr id="118" name="Shape 118"/>
          <p:cNvSpPr/>
          <p:nvPr/>
        </p:nvSpPr>
        <p:spPr>
          <a:xfrm>
            <a:off x="9052331" y="1750000"/>
            <a:ext cx="2545004" cy="2600000"/>
          </a:xfrm>
          <a:prstGeom prst="roundRect">
            <a:avLst>
              <a:gd name="adj" fmla="val 5385"/>
            </a:avLst>
          </a:prstGeom>
          <a:solidFill>
            <a:srgbClr val="EEF3F8"/>
          </a:solidFill>
          <a:ln w="12700">
            <a:solidFill>
              <a:srgbClr val="9FB0C3"/>
            </a:solidFill>
            <a:prstDash val="solid"/>
          </a:ln>
        </p:spPr>
      </p:sp>
      <p:sp>
        <p:nvSpPr>
          <p:cNvPr id="119" name="Text 119"/>
          <p:cNvSpPr txBox="1"/>
          <p:nvPr/>
        </p:nvSpPr>
        <p:spPr>
          <a:xfrm>
            <a:off x="9216923" y="1932880"/>
            <a:ext cx="2215820" cy="420000"/>
          </a:xfrm>
          <a:prstGeom prst="rect">
            <a:avLst/>
          </a:prstGeom>
          <a:noFill/>
          <a:ln/>
        </p:spPr>
        <p:txBody>
          <a:bodyPr wrap="square" lIns="0" tIns="0" rIns="0" bIns="0" rtlCol="0" anchor="ctr"/>
          <a:lstStyle/>
          <a:p>
            <a:pPr marL="0" indent="0" algn="l">
              <a:buNone/>
            </a:pPr>
            <a:r>
              <a:rPr lang="en-US" sz="1300" b="1" i="0" dirty="0">
                <a:solidFill>
                  <a:srgbClr val="17365D"/>
                </a:solidFill>
                <a:latin typeface="Calibri" pitchFamily="34" charset="0"/>
                <a:ea typeface="Calibri" pitchFamily="34" charset="-122"/>
                <a:cs typeface="Calibri" pitchFamily="34" charset="-120"/>
              </a:rPr>
              <a:t>ns-3 integration</a:t>
            </a:r>
            <a:endParaRPr lang="en-US" sz="1300" dirty="0"/>
          </a:p>
        </p:txBody>
      </p:sp>
      <p:sp>
        <p:nvSpPr>
          <p:cNvPr id="120" name="Text 120"/>
          <p:cNvSpPr txBox="1"/>
          <p:nvPr/>
        </p:nvSpPr>
        <p:spPr>
          <a:xfrm>
            <a:off x="9216923" y="2390080"/>
            <a:ext cx="2215820" cy="1300000"/>
          </a:xfrm>
          <a:prstGeom prst="rect">
            <a:avLst/>
          </a:prstGeom>
          <a:noFill/>
          <a:ln/>
        </p:spPr>
        <p:txBody>
          <a:bodyPr wrap="square" lIns="0" tIns="0" rIns="0" bIns="0" rtlCol="0" anchor="t"/>
          <a:lstStyle/>
          <a:p>
            <a:pPr marL="0" indent="0" algn="l">
              <a:buNone/>
            </a:pPr>
            <a:r>
              <a:rPr lang="en-US" sz="1000" b="0" i="0" dirty="0">
                <a:solidFill>
                  <a:srgbClr val="5D6B7A"/>
                </a:solidFill>
                <a:latin typeface="Calibri" pitchFamily="34" charset="0"/>
                <a:ea typeface="Calibri" pitchFamily="34" charset="-122"/>
                <a:cs typeface="Calibri" pitchFamily="34" charset="-120"/>
              </a:rPr>
              <a:t>Researching network simulation and integration options.</a:t>
            </a:r>
            <a:endParaRPr lang="en-US" sz="1000" dirty="0"/>
          </a:p>
        </p:txBody>
      </p:sp>
      <p:sp>
        <p:nvSpPr>
          <p:cNvPr id="121" name="Shape 121"/>
          <p:cNvSpPr/>
          <p:nvPr/>
        </p:nvSpPr>
        <p:spPr>
          <a:xfrm>
            <a:off x="9216923" y="3847080"/>
            <a:ext cx="914400" cy="320040"/>
          </a:xfrm>
          <a:prstGeom prst="rect">
            <a:avLst/>
          </a:prstGeom>
          <a:solidFill>
            <a:srgbClr val="DCE6F1"/>
          </a:solidFill>
          <a:ln w="0">
            <a:solidFill>
              <a:srgbClr val="DCE6F1"/>
            </a:solidFill>
            <a:prstDash val="solid"/>
          </a:ln>
        </p:spPr>
      </p:sp>
      <p:sp>
        <p:nvSpPr>
          <p:cNvPr id="122" name="Text 122"/>
          <p:cNvSpPr txBox="1"/>
          <p:nvPr/>
        </p:nvSpPr>
        <p:spPr>
          <a:xfrm>
            <a:off x="9216923" y="3847080"/>
            <a:ext cx="914400" cy="320040"/>
          </a:xfrm>
          <a:prstGeom prst="rect">
            <a:avLst/>
          </a:prstGeom>
          <a:noFill/>
          <a:ln/>
        </p:spPr>
        <p:txBody>
          <a:bodyPr wrap="square" lIns="0" tIns="0" rIns="0" bIns="0" rtlCol="0" anchor="ctr"/>
          <a:lstStyle/>
          <a:p>
            <a:pPr marL="0" indent="0" algn="ctr">
              <a:buNone/>
            </a:pPr>
            <a:r>
              <a:rPr lang="en-US" sz="950" b="1" i="0" dirty="0">
                <a:solidFill>
                  <a:srgbClr val="17365D"/>
                </a:solidFill>
                <a:latin typeface="Calibri" pitchFamily="34" charset="0"/>
                <a:ea typeface="Calibri" pitchFamily="34" charset="-122"/>
                <a:cs typeface="Calibri" pitchFamily="34" charset="-120"/>
              </a:rPr>
              <a:t>Research</a:t>
            </a:r>
            <a:endParaRPr lang="en-US" sz="9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7F9FC"/>
        </a:solidFill>
        <a:effectLst/>
      </p:bgPr>
    </p:bg>
    <p:spTree>
      <p:nvGrpSpPr>
        <p:cNvPr id="1" name=""/>
        <p:cNvGrpSpPr/>
        <p:nvPr/>
      </p:nvGrpSpPr>
      <p:grpSpPr>
        <a:xfrm>
          <a:off x="0" y="0"/>
          <a:ext cx="0" cy="0"/>
          <a:chOff x="0" y="0"/>
          <a:chExt cx="0" cy="0"/>
        </a:xfrm>
      </p:grpSpPr>
      <p:sp>
        <p:nvSpPr>
          <p:cNvPr id="2" name="Shape 0"/>
          <p:cNvSpPr/>
          <p:nvPr/>
        </p:nvSpPr>
        <p:spPr>
          <a:xfrm>
            <a:off x="0" y="0"/>
            <a:ext cx="12191695" cy="256032"/>
          </a:xfrm>
          <a:prstGeom prst="rect">
            <a:avLst/>
          </a:prstGeom>
          <a:solidFill>
            <a:srgbClr val="17365D"/>
          </a:solidFill>
          <a:ln w="12700">
            <a:solidFill>
              <a:srgbClr val="17365D"/>
            </a:solidFill>
            <a:prstDash val="solid"/>
          </a:ln>
        </p:spPr>
      </p:sp>
      <p:sp>
        <p:nvSpPr>
          <p:cNvPr id="3" name="Text 1"/>
          <p:cNvSpPr txBox="1"/>
          <p:nvPr/>
        </p:nvSpPr>
        <p:spPr>
          <a:xfrm>
            <a:off x="594360" y="475488"/>
            <a:ext cx="10607040" cy="438912"/>
          </a:xfrm>
          <a:prstGeom prst="rect">
            <a:avLst/>
          </a:prstGeom>
          <a:noFill/>
          <a:ln/>
        </p:spPr>
        <p:txBody>
          <a:bodyPr wrap="square" lIns="0" tIns="0" rIns="0" bIns="0" rtlCol="0" anchor="ctr"/>
          <a:lstStyle/>
          <a:p>
            <a:pPr marL="0" indent="0" algn="l">
              <a:buNone/>
            </a:pPr>
            <a:r>
              <a:rPr lang="en-US" sz="2400" b="1" dirty="0">
                <a:solidFill>
                  <a:srgbClr val="17365D"/>
                </a:solidFill>
                <a:latin typeface="Calibri" pitchFamily="34" charset="0"/>
                <a:ea typeface="Calibri" pitchFamily="34" charset="-122"/>
                <a:cs typeface="Calibri" pitchFamily="34" charset="-120"/>
              </a:rPr>
              <a:t>10. Planned Evaluation</a:t>
            </a:r>
            <a:endParaRPr lang="en-US" sz="2400" dirty="0"/>
          </a:p>
        </p:txBody>
      </p:sp>
      <p:sp>
        <p:nvSpPr>
          <p:cNvPr id="4" name="Shape 2"/>
          <p:cNvSpPr/>
          <p:nvPr/>
        </p:nvSpPr>
        <p:spPr>
          <a:xfrm>
            <a:off x="594360" y="1005840"/>
            <a:ext cx="1097280" cy="0"/>
          </a:xfrm>
          <a:prstGeom prst="line">
            <a:avLst/>
          </a:prstGeom>
          <a:noFill/>
          <a:ln w="38100">
            <a:solidFill>
              <a:srgbClr val="8A1C1C"/>
            </a:solidFill>
            <a:prstDash val="solid"/>
          </a:ln>
        </p:spPr>
      </p:sp>
      <p:sp>
        <p:nvSpPr>
          <p:cNvPr id="5" name="Text 3"/>
          <p:cNvSpPr txBox="1"/>
          <p:nvPr/>
        </p:nvSpPr>
        <p:spPr>
          <a:xfrm>
            <a:off x="1920240" y="877824"/>
            <a:ext cx="8961120" cy="274320"/>
          </a:xfrm>
          <a:prstGeom prst="rect">
            <a:avLst/>
          </a:prstGeom>
          <a:noFill/>
          <a:ln/>
        </p:spPr>
        <p:txBody>
          <a:bodyPr wrap="square" lIns="0" tIns="0" rIns="0" bIns="0" rtlCol="0" anchor="ctr"/>
          <a:lstStyle/>
          <a:p>
            <a:pPr marL="0" indent="0" algn="l">
              <a:buNone/>
            </a:pPr>
            <a:r>
              <a:rPr lang="en-US" sz="1200" dirty="0">
                <a:solidFill>
                  <a:srgbClr val="5D6B7A"/>
                </a:solidFill>
                <a:latin typeface="Calibri" pitchFamily="34" charset="0"/>
                <a:ea typeface="Calibri" pitchFamily="34" charset="-122"/>
                <a:cs typeface="Calibri" pitchFamily="34" charset="-120"/>
              </a:rPr>
              <a:t>How results will be generated once runs are logged</a:t>
            </a:r>
            <a:endParaRPr lang="en-US" sz="1200" dirty="0"/>
          </a:p>
        </p:txBody>
      </p:sp>
      <p:sp>
        <p:nvSpPr>
          <p:cNvPr id="6" name="Shape 4"/>
          <p:cNvSpPr/>
          <p:nvPr/>
        </p:nvSpPr>
        <p:spPr>
          <a:xfrm>
            <a:off x="594360" y="6446520"/>
            <a:ext cx="11002975" cy="0"/>
          </a:xfrm>
          <a:prstGeom prst="line">
            <a:avLst/>
          </a:prstGeom>
          <a:noFill/>
          <a:ln w="9525">
            <a:solidFill>
              <a:srgbClr val="CBD5E1"/>
            </a:solidFill>
            <a:prstDash val="solid"/>
          </a:ln>
        </p:spPr>
      </p:sp>
      <p:sp>
        <p:nvSpPr>
          <p:cNvPr id="7" name="Text 5"/>
          <p:cNvSpPr txBox="1"/>
          <p:nvPr/>
        </p:nvSpPr>
        <p:spPr>
          <a:xfrm>
            <a:off x="594360" y="6492240"/>
            <a:ext cx="6858000" cy="219456"/>
          </a:xfrm>
          <a:prstGeom prst="rect">
            <a:avLst/>
          </a:prstGeom>
          <a:noFill/>
          <a:ln/>
        </p:spPr>
        <p:txBody>
          <a:bodyPr wrap="square" lIns="0" tIns="0" rIns="0" bIns="0" rtlCol="0" anchor="ctr"/>
          <a:lstStyle/>
          <a:p>
            <a:pPr marL="0" indent="0" algn="l">
              <a:buNone/>
            </a:pPr>
            <a:r>
              <a:rPr lang="en-US" sz="900" dirty="0">
                <a:solidFill>
                  <a:srgbClr val="5D6B7A"/>
                </a:solidFill>
                <a:latin typeface="Calibri" pitchFamily="34" charset="0"/>
                <a:ea typeface="Calibri" pitchFamily="34" charset="-122"/>
                <a:cs typeface="Calibri" pitchFamily="34" charset="-120"/>
              </a:rPr>
              <a:t>KPR Institute of Engineering and Technology  |  Department of Information Technology</a:t>
            </a:r>
            <a:endParaRPr lang="en-US" sz="900" dirty="0"/>
          </a:p>
        </p:txBody>
      </p:sp>
      <p:sp>
        <p:nvSpPr>
          <p:cNvPr id="8" name="Text 6"/>
          <p:cNvSpPr txBox="1"/>
          <p:nvPr/>
        </p:nvSpPr>
        <p:spPr>
          <a:xfrm>
            <a:off x="7939735" y="6492240"/>
            <a:ext cx="3657600" cy="219456"/>
          </a:xfrm>
          <a:prstGeom prst="rect">
            <a:avLst/>
          </a:prstGeom>
          <a:noFill/>
          <a:ln/>
        </p:spPr>
        <p:txBody>
          <a:bodyPr wrap="square" lIns="0" tIns="0" rIns="0" bIns="0" rtlCol="0" anchor="ctr"/>
          <a:lstStyle/>
          <a:p>
            <a:pPr marL="0" indent="0" algn="r">
              <a:buNone/>
            </a:pPr>
            <a:r>
              <a:rPr lang="en-US" sz="900" b="1" dirty="0">
                <a:solidFill>
                  <a:srgbClr val="8A1C1C"/>
                </a:solidFill>
                <a:latin typeface="Calibri" pitchFamily="34" charset="0"/>
                <a:ea typeface="Calibri" pitchFamily="34" charset="-122"/>
                <a:cs typeface="Calibri" pitchFamily="34" charset="-120"/>
              </a:rPr>
              <a:t> REVIEW  - III  |   10</a:t>
            </a:r>
            <a:endParaRPr lang="en-US" sz="900" dirty="0"/>
          </a:p>
        </p:txBody>
      </p:sp>
      <p:sp>
        <p:nvSpPr>
          <p:cNvPr id="22" name="Text 19"/>
          <p:cNvSpPr txBox="1"/>
          <p:nvPr/>
        </p:nvSpPr>
        <p:spPr>
          <a:xfrm>
            <a:off x="1051560" y="4846320"/>
            <a:ext cx="10088575" cy="457200"/>
          </a:xfrm>
          <a:prstGeom prst="rect">
            <a:avLst/>
          </a:prstGeom>
          <a:noFill/>
          <a:ln/>
        </p:spPr>
        <p:txBody>
          <a:bodyPr wrap="square" lIns="0" tIns="0" rIns="0" bIns="0" rtlCol="0" anchor="ctr"/>
          <a:lstStyle/>
          <a:p>
            <a:pPr marL="0" indent="0" algn="ctr">
              <a:buNone/>
            </a:pPr>
            <a:r>
              <a:rPr lang="en-US" sz="1300" b="1" dirty="0">
                <a:solidFill>
                  <a:srgbClr val="8A1C1C"/>
                </a:solidFill>
                <a:latin typeface="Calibri" pitchFamily="34" charset="0"/>
                <a:ea typeface="Calibri" pitchFamily="34" charset="-122"/>
                <a:cs typeface="Calibri" pitchFamily="34" charset="-120"/>
              </a:rPr>
              <a:t>Evaluation and performance measurements are ongoing</a:t>
            </a:r>
            <a:endParaRPr lang="en-US" sz="1300" dirty="0"/>
          </a:p>
        </p:txBody>
      </p:sp>
      <p:sp>
        <p:nvSpPr>
          <p:cNvPr id="100" name="Shape 100"/>
          <p:cNvSpPr/>
          <p:nvPr/>
        </p:nvSpPr>
        <p:spPr>
          <a:xfrm>
            <a:off x="603624" y="2196520"/>
            <a:ext cx="1783080" cy="1783080"/>
          </a:xfrm>
          <a:prstGeom prst="roundRect">
            <a:avLst>
              <a:gd name="adj" fmla="val 5385"/>
            </a:avLst>
          </a:prstGeom>
          <a:solidFill>
            <a:srgbClr val="EEF3F8"/>
          </a:solidFill>
          <a:ln w="12700">
            <a:solidFill>
              <a:srgbClr val="9FB0C3"/>
            </a:solidFill>
            <a:prstDash val="solid"/>
          </a:ln>
        </p:spPr>
      </p:sp>
      <p:sp>
        <p:nvSpPr>
          <p:cNvPr id="101" name="Text 101"/>
          <p:cNvSpPr txBox="1"/>
          <p:nvPr/>
        </p:nvSpPr>
        <p:spPr>
          <a:xfrm>
            <a:off x="594360" y="2720460"/>
            <a:ext cx="1691640" cy="640000"/>
          </a:xfrm>
          <a:prstGeom prst="rect">
            <a:avLst/>
          </a:prstGeom>
          <a:noFill/>
          <a:ln/>
        </p:spPr>
        <p:txBody>
          <a:bodyPr wrap="square" lIns="0" tIns="0" rIns="0" bIns="0" rtlCol="0" anchor="ctr"/>
          <a:lstStyle/>
          <a:p>
            <a:pPr marL="0" indent="0" algn="ctr">
              <a:buNone/>
            </a:pPr>
            <a:r>
              <a:rPr lang="en-US" sz="1600" b="1" i="0" dirty="0">
                <a:solidFill>
                  <a:srgbClr val="17365D"/>
                </a:solidFill>
                <a:latin typeface="Calibri" pitchFamily="34" charset="0"/>
                <a:ea typeface="Calibri" pitchFamily="34" charset="-122"/>
                <a:cs typeface="Calibri" pitchFamily="34" charset="-120"/>
              </a:rPr>
              <a:t>Test</a:t>
            </a:r>
            <a:endParaRPr lang="en-US" sz="1600" dirty="0"/>
          </a:p>
          <a:p>
            <a:pPr marL="0" indent="0" algn="ctr">
              <a:buNone/>
            </a:pPr>
            <a:r>
              <a:rPr lang="en-US" sz="1600" b="1" i="0" dirty="0">
                <a:solidFill>
                  <a:srgbClr val="17365D"/>
                </a:solidFill>
                <a:latin typeface="Calibri" pitchFamily="34" charset="0"/>
                <a:ea typeface="Calibri" pitchFamily="34" charset="-122"/>
                <a:cs typeface="Calibri" pitchFamily="34" charset="-120"/>
              </a:rPr>
              <a:t>scenarios</a:t>
            </a:r>
            <a:endParaRPr lang="en-US" sz="1600" dirty="0"/>
          </a:p>
        </p:txBody>
      </p:sp>
      <p:sp>
        <p:nvSpPr>
          <p:cNvPr id="102" name="Text 102"/>
          <p:cNvSpPr txBox="1"/>
          <p:nvPr/>
        </p:nvSpPr>
        <p:spPr>
          <a:xfrm>
            <a:off x="2386704" y="2936092"/>
            <a:ext cx="256032" cy="310896"/>
          </a:xfrm>
          <a:prstGeom prst="rect">
            <a:avLst/>
          </a:prstGeom>
          <a:noFill/>
          <a:ln/>
        </p:spPr>
        <p:txBody>
          <a:bodyPr wrap="square" lIns="0" tIns="0" rIns="0" bIns="0" rtlCol="0" anchor="ctr"/>
          <a:lstStyle/>
          <a:p>
            <a:pPr marL="0" indent="0" algn="ctr">
              <a:buNone/>
            </a:pPr>
            <a:r>
              <a:rPr lang="en-US" sz="1800" b="1" i="0" dirty="0">
                <a:solidFill>
                  <a:srgbClr val="8A1C1C"/>
                </a:solidFill>
                <a:latin typeface="Calibri" pitchFamily="34" charset="0"/>
                <a:ea typeface="Calibri" pitchFamily="34" charset="-122"/>
                <a:cs typeface="Calibri" pitchFamily="34" charset="-120"/>
              </a:rPr>
              <a:t>→</a:t>
            </a:r>
            <a:endParaRPr lang="en-US" sz="1800" dirty="0"/>
          </a:p>
        </p:txBody>
      </p:sp>
      <p:sp>
        <p:nvSpPr>
          <p:cNvPr id="103" name="Shape 103"/>
          <p:cNvSpPr/>
          <p:nvPr/>
        </p:nvSpPr>
        <p:spPr>
          <a:xfrm>
            <a:off x="2652000" y="2200000"/>
            <a:ext cx="1783080" cy="1783080"/>
          </a:xfrm>
          <a:prstGeom prst="roundRect">
            <a:avLst>
              <a:gd name="adj" fmla="val 5385"/>
            </a:avLst>
          </a:prstGeom>
          <a:solidFill>
            <a:srgbClr val="EEF3F8"/>
          </a:solidFill>
          <a:ln w="12700">
            <a:solidFill>
              <a:srgbClr val="9FB0C3"/>
            </a:solidFill>
            <a:prstDash val="solid"/>
          </a:ln>
        </p:spPr>
      </p:sp>
      <p:sp>
        <p:nvSpPr>
          <p:cNvPr id="104" name="Text 104"/>
          <p:cNvSpPr txBox="1"/>
          <p:nvPr/>
        </p:nvSpPr>
        <p:spPr>
          <a:xfrm>
            <a:off x="2661264" y="2699521"/>
            <a:ext cx="1691640" cy="640000"/>
          </a:xfrm>
          <a:prstGeom prst="rect">
            <a:avLst/>
          </a:prstGeom>
          <a:noFill/>
          <a:ln/>
        </p:spPr>
        <p:txBody>
          <a:bodyPr wrap="square" lIns="0" tIns="0" rIns="0" bIns="0" rtlCol="0" anchor="ctr"/>
          <a:lstStyle/>
          <a:p>
            <a:pPr marL="0" indent="0" algn="ctr">
              <a:buNone/>
            </a:pPr>
            <a:r>
              <a:rPr lang="en-US" sz="1600" b="1" i="0" dirty="0">
                <a:solidFill>
                  <a:srgbClr val="17365D"/>
                </a:solidFill>
                <a:latin typeface="Calibri" pitchFamily="34" charset="0"/>
                <a:ea typeface="Calibri" pitchFamily="34" charset="-122"/>
                <a:cs typeface="Calibri" pitchFamily="34" charset="-120"/>
              </a:rPr>
              <a:t>Process</a:t>
            </a:r>
            <a:endParaRPr lang="en-US" sz="1600" dirty="0"/>
          </a:p>
          <a:p>
            <a:pPr marL="0" indent="0" algn="ctr">
              <a:buNone/>
            </a:pPr>
            <a:r>
              <a:rPr lang="en-US" sz="1600" b="1" i="0" dirty="0">
                <a:solidFill>
                  <a:srgbClr val="17365D"/>
                </a:solidFill>
                <a:latin typeface="Calibri" pitchFamily="34" charset="0"/>
                <a:ea typeface="Calibri" pitchFamily="34" charset="-122"/>
                <a:cs typeface="Calibri" pitchFamily="34" charset="-120"/>
              </a:rPr>
              <a:t>telemetry</a:t>
            </a:r>
            <a:endParaRPr lang="en-US" sz="1600" dirty="0"/>
          </a:p>
        </p:txBody>
      </p:sp>
      <p:sp>
        <p:nvSpPr>
          <p:cNvPr id="105" name="Text 105"/>
          <p:cNvSpPr txBox="1"/>
          <p:nvPr/>
        </p:nvSpPr>
        <p:spPr>
          <a:xfrm>
            <a:off x="4444344" y="2936092"/>
            <a:ext cx="256032" cy="310896"/>
          </a:xfrm>
          <a:prstGeom prst="rect">
            <a:avLst/>
          </a:prstGeom>
          <a:noFill/>
          <a:ln/>
        </p:spPr>
        <p:txBody>
          <a:bodyPr wrap="square" lIns="0" tIns="0" rIns="0" bIns="0" rtlCol="0" anchor="ctr"/>
          <a:lstStyle/>
          <a:p>
            <a:pPr marL="0" indent="0" algn="ctr">
              <a:buNone/>
            </a:pPr>
            <a:r>
              <a:rPr lang="en-US" sz="1800" b="1" i="0" dirty="0">
                <a:solidFill>
                  <a:srgbClr val="8A1C1C"/>
                </a:solidFill>
                <a:latin typeface="Calibri" pitchFamily="34" charset="0"/>
                <a:ea typeface="Calibri" pitchFamily="34" charset="-122"/>
                <a:cs typeface="Calibri" pitchFamily="34" charset="-120"/>
              </a:rPr>
              <a:t>→</a:t>
            </a:r>
            <a:endParaRPr lang="en-US" sz="1800" dirty="0"/>
          </a:p>
        </p:txBody>
      </p:sp>
      <p:sp>
        <p:nvSpPr>
          <p:cNvPr id="106" name="Shape 106"/>
          <p:cNvSpPr/>
          <p:nvPr/>
        </p:nvSpPr>
        <p:spPr>
          <a:xfrm>
            <a:off x="4709640" y="2200000"/>
            <a:ext cx="1783080" cy="1783080"/>
          </a:xfrm>
          <a:prstGeom prst="roundRect">
            <a:avLst>
              <a:gd name="adj" fmla="val 5385"/>
            </a:avLst>
          </a:prstGeom>
          <a:solidFill>
            <a:srgbClr val="EEF3F8"/>
          </a:solidFill>
          <a:ln w="12700">
            <a:solidFill>
              <a:srgbClr val="9FB0C3"/>
            </a:solidFill>
            <a:prstDash val="solid"/>
          </a:ln>
        </p:spPr>
      </p:sp>
      <p:sp>
        <p:nvSpPr>
          <p:cNvPr id="107" name="Text 107"/>
          <p:cNvSpPr txBox="1"/>
          <p:nvPr/>
        </p:nvSpPr>
        <p:spPr>
          <a:xfrm>
            <a:off x="4709640" y="2699227"/>
            <a:ext cx="1691640" cy="640000"/>
          </a:xfrm>
          <a:prstGeom prst="rect">
            <a:avLst/>
          </a:prstGeom>
          <a:noFill/>
          <a:ln/>
        </p:spPr>
        <p:txBody>
          <a:bodyPr wrap="square" lIns="0" tIns="0" rIns="0" bIns="0" rtlCol="0" anchor="ctr"/>
          <a:lstStyle/>
          <a:p>
            <a:pPr marL="0" indent="0" algn="ctr">
              <a:buNone/>
            </a:pPr>
            <a:r>
              <a:rPr lang="en-US" sz="1600" b="1" i="0" dirty="0">
                <a:solidFill>
                  <a:srgbClr val="17365D"/>
                </a:solidFill>
                <a:latin typeface="Calibri" pitchFamily="34" charset="0"/>
                <a:ea typeface="Calibri" pitchFamily="34" charset="-122"/>
                <a:cs typeface="Calibri" pitchFamily="34" charset="-120"/>
              </a:rPr>
              <a:t>Generate</a:t>
            </a:r>
            <a:endParaRPr lang="en-US" sz="1600" dirty="0"/>
          </a:p>
          <a:p>
            <a:pPr marL="0" indent="0" algn="ctr">
              <a:buNone/>
            </a:pPr>
            <a:r>
              <a:rPr lang="en-US" sz="1600" b="1" i="0" dirty="0">
                <a:solidFill>
                  <a:srgbClr val="17365D"/>
                </a:solidFill>
                <a:latin typeface="Calibri" pitchFamily="34" charset="0"/>
                <a:ea typeface="Calibri" pitchFamily="34" charset="-122"/>
                <a:cs typeface="Calibri" pitchFamily="34" charset="-120"/>
              </a:rPr>
              <a:t>AI/ML output</a:t>
            </a:r>
            <a:endParaRPr lang="en-US" sz="1600" dirty="0"/>
          </a:p>
        </p:txBody>
      </p:sp>
      <p:sp>
        <p:nvSpPr>
          <p:cNvPr id="108" name="Text 108"/>
          <p:cNvSpPr txBox="1"/>
          <p:nvPr/>
        </p:nvSpPr>
        <p:spPr>
          <a:xfrm>
            <a:off x="6501984" y="2936092"/>
            <a:ext cx="256032" cy="310896"/>
          </a:xfrm>
          <a:prstGeom prst="rect">
            <a:avLst/>
          </a:prstGeom>
          <a:noFill/>
          <a:ln/>
        </p:spPr>
        <p:txBody>
          <a:bodyPr wrap="square" lIns="0" tIns="0" rIns="0" bIns="0" rtlCol="0" anchor="ctr"/>
          <a:lstStyle/>
          <a:p>
            <a:pPr marL="0" indent="0" algn="ctr">
              <a:buNone/>
            </a:pPr>
            <a:r>
              <a:rPr lang="en-US" sz="1800" b="1" i="0" dirty="0">
                <a:solidFill>
                  <a:srgbClr val="8A1C1C"/>
                </a:solidFill>
                <a:latin typeface="Calibri" pitchFamily="34" charset="0"/>
                <a:ea typeface="Calibri" pitchFamily="34" charset="-122"/>
                <a:cs typeface="Calibri" pitchFamily="34" charset="-120"/>
              </a:rPr>
              <a:t>→</a:t>
            </a:r>
            <a:endParaRPr lang="en-US" sz="1800" dirty="0"/>
          </a:p>
        </p:txBody>
      </p:sp>
      <p:sp>
        <p:nvSpPr>
          <p:cNvPr id="109" name="Shape 109"/>
          <p:cNvSpPr/>
          <p:nvPr/>
        </p:nvSpPr>
        <p:spPr>
          <a:xfrm>
            <a:off x="6767280" y="2200000"/>
            <a:ext cx="1783080" cy="1783080"/>
          </a:xfrm>
          <a:prstGeom prst="roundRect">
            <a:avLst>
              <a:gd name="adj" fmla="val 5385"/>
            </a:avLst>
          </a:prstGeom>
          <a:solidFill>
            <a:srgbClr val="EEF3F8"/>
          </a:solidFill>
          <a:ln w="12700">
            <a:solidFill>
              <a:srgbClr val="9FB0C3"/>
            </a:solidFill>
            <a:prstDash val="solid"/>
          </a:ln>
        </p:spPr>
      </p:sp>
      <p:sp>
        <p:nvSpPr>
          <p:cNvPr id="110" name="Text 110"/>
          <p:cNvSpPr txBox="1"/>
          <p:nvPr/>
        </p:nvSpPr>
        <p:spPr>
          <a:xfrm>
            <a:off x="6822264" y="2699521"/>
            <a:ext cx="1691640" cy="640000"/>
          </a:xfrm>
          <a:prstGeom prst="rect">
            <a:avLst/>
          </a:prstGeom>
          <a:noFill/>
          <a:ln/>
        </p:spPr>
        <p:txBody>
          <a:bodyPr wrap="square" lIns="0" tIns="0" rIns="0" bIns="0" rtlCol="0" anchor="ctr"/>
          <a:lstStyle/>
          <a:p>
            <a:pPr marL="0" indent="0" algn="ctr">
              <a:buNone/>
            </a:pPr>
            <a:r>
              <a:rPr lang="en-US" sz="1600" b="1" i="0" dirty="0">
                <a:solidFill>
                  <a:srgbClr val="17365D"/>
                </a:solidFill>
                <a:latin typeface="Calibri" pitchFamily="34" charset="0"/>
                <a:ea typeface="Calibri" pitchFamily="34" charset="-122"/>
                <a:cs typeface="Calibri" pitchFamily="34" charset="-120"/>
              </a:rPr>
              <a:t>Evaluate proposed</a:t>
            </a:r>
            <a:endParaRPr lang="en-US" sz="1600" dirty="0"/>
          </a:p>
          <a:p>
            <a:pPr marL="0" indent="0" algn="ctr">
              <a:buNone/>
            </a:pPr>
            <a:r>
              <a:rPr lang="en-US" sz="1600" b="1" i="0" dirty="0">
                <a:solidFill>
                  <a:srgbClr val="17365D"/>
                </a:solidFill>
                <a:latin typeface="Calibri" pitchFamily="34" charset="0"/>
                <a:ea typeface="Calibri" pitchFamily="34" charset="-122"/>
                <a:cs typeface="Calibri" pitchFamily="34" charset="-120"/>
              </a:rPr>
              <a:t>response</a:t>
            </a:r>
            <a:endParaRPr lang="en-US" sz="1600" dirty="0"/>
          </a:p>
        </p:txBody>
      </p:sp>
      <p:sp>
        <p:nvSpPr>
          <p:cNvPr id="111" name="Text 111"/>
          <p:cNvSpPr txBox="1"/>
          <p:nvPr/>
        </p:nvSpPr>
        <p:spPr>
          <a:xfrm>
            <a:off x="8559624" y="2936092"/>
            <a:ext cx="256032" cy="310896"/>
          </a:xfrm>
          <a:prstGeom prst="rect">
            <a:avLst/>
          </a:prstGeom>
          <a:noFill/>
          <a:ln/>
        </p:spPr>
        <p:txBody>
          <a:bodyPr wrap="square" lIns="0" tIns="0" rIns="0" bIns="0" rtlCol="0" anchor="ctr"/>
          <a:lstStyle/>
          <a:p>
            <a:pPr marL="0" indent="0" algn="ctr">
              <a:buNone/>
            </a:pPr>
            <a:r>
              <a:rPr lang="en-US" sz="1800" b="1" i="0" dirty="0">
                <a:solidFill>
                  <a:srgbClr val="8A1C1C"/>
                </a:solidFill>
                <a:latin typeface="Calibri" pitchFamily="34" charset="0"/>
                <a:ea typeface="Calibri" pitchFamily="34" charset="-122"/>
                <a:cs typeface="Calibri" pitchFamily="34" charset="-120"/>
              </a:rPr>
              <a:t>→</a:t>
            </a:r>
            <a:endParaRPr lang="en-US" sz="1800" dirty="0"/>
          </a:p>
        </p:txBody>
      </p:sp>
      <p:sp>
        <p:nvSpPr>
          <p:cNvPr id="112" name="Shape 112"/>
          <p:cNvSpPr/>
          <p:nvPr/>
        </p:nvSpPr>
        <p:spPr>
          <a:xfrm>
            <a:off x="8824920" y="2200000"/>
            <a:ext cx="1783080" cy="1783080"/>
          </a:xfrm>
          <a:prstGeom prst="roundRect">
            <a:avLst>
              <a:gd name="adj" fmla="val 5385"/>
            </a:avLst>
          </a:prstGeom>
          <a:solidFill>
            <a:srgbClr val="EEF3F8"/>
          </a:solidFill>
          <a:ln w="12700">
            <a:solidFill>
              <a:srgbClr val="9FB0C3"/>
            </a:solidFill>
            <a:prstDash val="solid"/>
          </a:ln>
        </p:spPr>
      </p:sp>
      <p:sp>
        <p:nvSpPr>
          <p:cNvPr id="113" name="Text 113"/>
          <p:cNvSpPr txBox="1"/>
          <p:nvPr/>
        </p:nvSpPr>
        <p:spPr>
          <a:xfrm>
            <a:off x="8870640" y="2699521"/>
            <a:ext cx="1691640" cy="640000"/>
          </a:xfrm>
          <a:prstGeom prst="rect">
            <a:avLst/>
          </a:prstGeom>
          <a:noFill/>
          <a:ln/>
        </p:spPr>
        <p:txBody>
          <a:bodyPr wrap="square" lIns="0" tIns="0" rIns="0" bIns="0" rtlCol="0" anchor="ctr"/>
          <a:lstStyle/>
          <a:p>
            <a:pPr marL="0" indent="0" algn="ctr">
              <a:buNone/>
            </a:pPr>
            <a:r>
              <a:rPr lang="en-US" sz="1600" b="1" i="0" dirty="0">
                <a:solidFill>
                  <a:srgbClr val="17365D"/>
                </a:solidFill>
                <a:latin typeface="Calibri" pitchFamily="34" charset="0"/>
                <a:ea typeface="Calibri" pitchFamily="34" charset="-122"/>
                <a:cs typeface="Calibri" pitchFamily="34" charset="-120"/>
              </a:rPr>
              <a:t>Measure &amp;</a:t>
            </a:r>
            <a:endParaRPr lang="en-US" sz="1600" dirty="0"/>
          </a:p>
          <a:p>
            <a:pPr marL="0" indent="0" algn="ctr">
              <a:buNone/>
            </a:pPr>
            <a:r>
              <a:rPr lang="en-US" sz="1600" b="1" i="0" dirty="0">
                <a:solidFill>
                  <a:srgbClr val="17365D"/>
                </a:solidFill>
                <a:latin typeface="Calibri" pitchFamily="34" charset="0"/>
                <a:ea typeface="Calibri" pitchFamily="34" charset="-122"/>
                <a:cs typeface="Calibri" pitchFamily="34" charset="-120"/>
              </a:rPr>
              <a:t>compare results</a:t>
            </a:r>
            <a:endParaRPr lang="en-US" sz="16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7F9FC"/>
        </a:solidFill>
        <a:effectLst/>
      </p:bgPr>
    </p:bg>
    <p:spTree>
      <p:nvGrpSpPr>
        <p:cNvPr id="1" name=""/>
        <p:cNvGrpSpPr/>
        <p:nvPr/>
      </p:nvGrpSpPr>
      <p:grpSpPr>
        <a:xfrm>
          <a:off x="0" y="0"/>
          <a:ext cx="0" cy="0"/>
          <a:chOff x="0" y="0"/>
          <a:chExt cx="0" cy="0"/>
        </a:xfrm>
      </p:grpSpPr>
      <p:sp>
        <p:nvSpPr>
          <p:cNvPr id="2" name="Shape 0"/>
          <p:cNvSpPr/>
          <p:nvPr/>
        </p:nvSpPr>
        <p:spPr>
          <a:xfrm>
            <a:off x="0" y="0"/>
            <a:ext cx="12191695" cy="256032"/>
          </a:xfrm>
          <a:prstGeom prst="rect">
            <a:avLst/>
          </a:prstGeom>
          <a:solidFill>
            <a:srgbClr val="17365D"/>
          </a:solidFill>
          <a:ln w="12700">
            <a:solidFill>
              <a:srgbClr val="17365D"/>
            </a:solidFill>
            <a:prstDash val="solid"/>
          </a:ln>
        </p:spPr>
      </p:sp>
      <p:sp>
        <p:nvSpPr>
          <p:cNvPr id="3" name="Text 1"/>
          <p:cNvSpPr txBox="1"/>
          <p:nvPr/>
        </p:nvSpPr>
        <p:spPr>
          <a:xfrm>
            <a:off x="594360" y="475488"/>
            <a:ext cx="10607040" cy="438912"/>
          </a:xfrm>
          <a:prstGeom prst="rect">
            <a:avLst/>
          </a:prstGeom>
          <a:noFill/>
          <a:ln/>
        </p:spPr>
        <p:txBody>
          <a:bodyPr wrap="square" lIns="0" tIns="0" rIns="0" bIns="0" rtlCol="0" anchor="ctr"/>
          <a:lstStyle/>
          <a:p>
            <a:pPr marL="0" indent="0" algn="l">
              <a:buNone/>
            </a:pPr>
            <a:r>
              <a:rPr lang="en-US" sz="2400" b="1" dirty="0">
                <a:solidFill>
                  <a:srgbClr val="17365D"/>
                </a:solidFill>
                <a:latin typeface="Calibri" pitchFamily="34" charset="0"/>
                <a:ea typeface="Calibri" pitchFamily="34" charset="-122"/>
                <a:cs typeface="Calibri" pitchFamily="34" charset="-120"/>
              </a:rPr>
              <a:t>11. Ablation &amp; Scalability Plan</a:t>
            </a:r>
            <a:endParaRPr lang="en-US" sz="2400" dirty="0"/>
          </a:p>
        </p:txBody>
      </p:sp>
      <p:sp>
        <p:nvSpPr>
          <p:cNvPr id="4" name="Shape 2"/>
          <p:cNvSpPr/>
          <p:nvPr/>
        </p:nvSpPr>
        <p:spPr>
          <a:xfrm>
            <a:off x="594360" y="1005840"/>
            <a:ext cx="1097280" cy="0"/>
          </a:xfrm>
          <a:prstGeom prst="line">
            <a:avLst/>
          </a:prstGeom>
          <a:noFill/>
          <a:ln w="38100">
            <a:solidFill>
              <a:srgbClr val="8A1C1C"/>
            </a:solidFill>
            <a:prstDash val="solid"/>
          </a:ln>
        </p:spPr>
      </p:sp>
      <p:sp>
        <p:nvSpPr>
          <p:cNvPr id="5" name="Text 3"/>
          <p:cNvSpPr txBox="1"/>
          <p:nvPr/>
        </p:nvSpPr>
        <p:spPr>
          <a:xfrm>
            <a:off x="1920240" y="877824"/>
            <a:ext cx="8961120" cy="274320"/>
          </a:xfrm>
          <a:prstGeom prst="rect">
            <a:avLst/>
          </a:prstGeom>
          <a:noFill/>
          <a:ln/>
        </p:spPr>
        <p:txBody>
          <a:bodyPr wrap="square" lIns="0" tIns="0" rIns="0" bIns="0" rtlCol="0" anchor="ctr"/>
          <a:lstStyle/>
          <a:p>
            <a:pPr marL="0" indent="0" algn="l">
              <a:buNone/>
            </a:pPr>
            <a:r>
              <a:rPr lang="en-US" sz="1200" dirty="0">
                <a:solidFill>
                  <a:srgbClr val="5D6B7A"/>
                </a:solidFill>
                <a:latin typeface="Calibri" pitchFamily="34" charset="0"/>
                <a:ea typeface="Calibri" pitchFamily="34" charset="-122"/>
                <a:cs typeface="Calibri" pitchFamily="34" charset="-120"/>
              </a:rPr>
              <a:t>What remains to be measured and run</a:t>
            </a:r>
            <a:endParaRPr lang="en-US" sz="1200" dirty="0"/>
          </a:p>
        </p:txBody>
      </p:sp>
      <p:sp>
        <p:nvSpPr>
          <p:cNvPr id="6" name="Shape 4"/>
          <p:cNvSpPr/>
          <p:nvPr/>
        </p:nvSpPr>
        <p:spPr>
          <a:xfrm>
            <a:off x="594360" y="6446520"/>
            <a:ext cx="11002975" cy="0"/>
          </a:xfrm>
          <a:prstGeom prst="line">
            <a:avLst/>
          </a:prstGeom>
          <a:noFill/>
          <a:ln w="9525">
            <a:solidFill>
              <a:srgbClr val="CBD5E1"/>
            </a:solidFill>
            <a:prstDash val="solid"/>
          </a:ln>
        </p:spPr>
      </p:sp>
      <p:sp>
        <p:nvSpPr>
          <p:cNvPr id="7" name="Text 5"/>
          <p:cNvSpPr txBox="1"/>
          <p:nvPr/>
        </p:nvSpPr>
        <p:spPr>
          <a:xfrm>
            <a:off x="594360" y="6492240"/>
            <a:ext cx="6858000" cy="219456"/>
          </a:xfrm>
          <a:prstGeom prst="rect">
            <a:avLst/>
          </a:prstGeom>
          <a:noFill/>
          <a:ln/>
        </p:spPr>
        <p:txBody>
          <a:bodyPr wrap="square" lIns="0" tIns="0" rIns="0" bIns="0" rtlCol="0" anchor="ctr"/>
          <a:lstStyle/>
          <a:p>
            <a:pPr marL="0" indent="0" algn="l">
              <a:buNone/>
            </a:pPr>
            <a:r>
              <a:rPr lang="en-US" sz="900" dirty="0">
                <a:solidFill>
                  <a:srgbClr val="5D6B7A"/>
                </a:solidFill>
                <a:latin typeface="Calibri" pitchFamily="34" charset="0"/>
                <a:ea typeface="Calibri" pitchFamily="34" charset="-122"/>
                <a:cs typeface="Calibri" pitchFamily="34" charset="-120"/>
              </a:rPr>
              <a:t>KPR Institute of Engineering and Technology  |  Department of Information Technology</a:t>
            </a:r>
            <a:endParaRPr lang="en-US" sz="900" dirty="0"/>
          </a:p>
        </p:txBody>
      </p:sp>
      <p:sp>
        <p:nvSpPr>
          <p:cNvPr id="8" name="Text 6"/>
          <p:cNvSpPr txBox="1"/>
          <p:nvPr/>
        </p:nvSpPr>
        <p:spPr>
          <a:xfrm>
            <a:off x="7939735" y="6492240"/>
            <a:ext cx="3657600" cy="219456"/>
          </a:xfrm>
          <a:prstGeom prst="rect">
            <a:avLst/>
          </a:prstGeom>
          <a:noFill/>
          <a:ln/>
        </p:spPr>
        <p:txBody>
          <a:bodyPr wrap="square" lIns="0" tIns="0" rIns="0" bIns="0" rtlCol="0" anchor="ctr"/>
          <a:lstStyle/>
          <a:p>
            <a:pPr marL="0" indent="0" algn="r">
              <a:buNone/>
            </a:pPr>
            <a:r>
              <a:rPr lang="en-US" sz="900" b="1" dirty="0">
                <a:solidFill>
                  <a:srgbClr val="8A1C1C"/>
                </a:solidFill>
                <a:latin typeface="Calibri" pitchFamily="34" charset="0"/>
                <a:ea typeface="Calibri" pitchFamily="34" charset="-122"/>
                <a:cs typeface="Calibri" pitchFamily="34" charset="-120"/>
              </a:rPr>
              <a:t> REVIEW  - III  |   11</a:t>
            </a:r>
            <a:endParaRPr lang="en-US" sz="900" dirty="0"/>
          </a:p>
        </p:txBody>
      </p:sp>
      <p:sp>
        <p:nvSpPr>
          <p:cNvPr id="9" name="Shape 7"/>
          <p:cNvSpPr/>
          <p:nvPr/>
        </p:nvSpPr>
        <p:spPr>
          <a:xfrm>
            <a:off x="594360" y="1463040"/>
            <a:ext cx="5318608" cy="2606040"/>
          </a:xfrm>
          <a:prstGeom prst="rect">
            <a:avLst/>
          </a:prstGeom>
          <a:solidFill>
            <a:srgbClr val="FFFFFF"/>
          </a:solidFill>
          <a:ln w="12700">
            <a:solidFill>
              <a:srgbClr val="AEB9C7"/>
            </a:solidFill>
            <a:prstDash val="solid"/>
          </a:ln>
        </p:spPr>
      </p:sp>
      <p:sp>
        <p:nvSpPr>
          <p:cNvPr id="10" name="Text 8"/>
          <p:cNvSpPr txBox="1"/>
          <p:nvPr/>
        </p:nvSpPr>
        <p:spPr>
          <a:xfrm>
            <a:off x="758952" y="1572768"/>
            <a:ext cx="4989424" cy="292608"/>
          </a:xfrm>
          <a:prstGeom prst="rect">
            <a:avLst/>
          </a:prstGeom>
          <a:noFill/>
          <a:ln/>
        </p:spPr>
        <p:txBody>
          <a:bodyPr wrap="square" lIns="0" tIns="0" rIns="0" bIns="0" rtlCol="0" anchor="ctr"/>
          <a:lstStyle/>
          <a:p>
            <a:pPr marL="0" indent="0">
              <a:buNone/>
            </a:pPr>
            <a:r>
              <a:rPr lang="en-US" sz="1350" b="1" dirty="0">
                <a:solidFill>
                  <a:srgbClr val="17365D"/>
                </a:solidFill>
                <a:latin typeface="Calibri" pitchFamily="34" charset="0"/>
                <a:ea typeface="Calibri" pitchFamily="34" charset="-122"/>
                <a:cs typeface="Calibri" pitchFamily="34" charset="-120"/>
              </a:rPr>
              <a:t>Planned Ablation Study</a:t>
            </a:r>
            <a:endParaRPr lang="en-US" sz="1350" dirty="0"/>
          </a:p>
        </p:txBody>
      </p:sp>
      <p:sp>
        <p:nvSpPr>
          <p:cNvPr id="11" name="Text 9"/>
          <p:cNvSpPr txBox="1"/>
          <p:nvPr/>
        </p:nvSpPr>
        <p:spPr>
          <a:xfrm>
            <a:off x="758952" y="1965960"/>
            <a:ext cx="4989424" cy="1371600"/>
          </a:xfrm>
          <a:prstGeom prst="rect">
            <a:avLst/>
          </a:prstGeom>
          <a:noFill/>
          <a:ln/>
        </p:spPr>
        <p:txBody>
          <a:bodyPr wrap="square" lIns="0" tIns="0" rIns="0" bIns="0" rtlCol="0" anchor="t"/>
          <a:lstStyle/>
          <a:p>
            <a:pPr marL="177800" indent="-177800">
              <a:spcAft>
                <a:spcPts val="800"/>
              </a:spcAft>
              <a:buSzPct val="100000"/>
              <a:buChar char="•"/>
            </a:pPr>
            <a:r>
              <a:rPr lang="en-US" sz="1100" dirty="0">
                <a:solidFill>
                  <a:srgbClr val="1F2937"/>
                </a:solidFill>
                <a:latin typeface="Calibri" pitchFamily="34" charset="0"/>
                <a:ea typeface="Calibri" pitchFamily="34" charset="-122"/>
                <a:cs typeface="Calibri" pitchFamily="34" charset="-120"/>
              </a:rPr>
              <a:t>Detector-only: anomaly alerts, no automated action</a:t>
            </a:r>
            <a:endParaRPr lang="en-US" sz="1100" dirty="0"/>
          </a:p>
          <a:p>
            <a:pPr marL="177800" indent="-177800">
              <a:spcAft>
                <a:spcPts val="800"/>
              </a:spcAft>
              <a:buSzPct val="100000"/>
              <a:buChar char="•"/>
            </a:pPr>
            <a:r>
              <a:rPr lang="en-US" sz="1100" dirty="0">
                <a:solidFill>
                  <a:srgbClr val="1F2937"/>
                </a:solidFill>
                <a:latin typeface="Calibri" pitchFamily="34" charset="0"/>
                <a:ea typeface="Calibri" pitchFamily="34" charset="-122"/>
                <a:cs typeface="Calibri" pitchFamily="34" charset="-120"/>
              </a:rPr>
              <a:t>RL-enabled: detector + RL agent, no safety gate</a:t>
            </a:r>
            <a:endParaRPr lang="en-US" sz="1100" dirty="0"/>
          </a:p>
          <a:p>
            <a:pPr marL="177800" indent="-177800">
              <a:spcAft>
                <a:spcPts val="800"/>
              </a:spcAft>
              <a:buSzPct val="100000"/>
              <a:buChar char="•"/>
            </a:pPr>
            <a:r>
              <a:rPr lang="en-US" sz="1100" dirty="0">
                <a:solidFill>
                  <a:srgbClr val="1F2937"/>
                </a:solidFill>
                <a:latin typeface="Calibri" pitchFamily="34" charset="0"/>
                <a:ea typeface="Calibri" pitchFamily="34" charset="-122"/>
                <a:cs typeface="Calibri" pitchFamily="34" charset="-120"/>
              </a:rPr>
              <a:t>Safety-gated (full system): detector + RL + confidence gate</a:t>
            </a:r>
            <a:endParaRPr lang="en-US" sz="1100" dirty="0"/>
          </a:p>
          <a:p>
            <a:pPr marL="177800" indent="-177800">
              <a:spcAft>
                <a:spcPts val="800"/>
              </a:spcAft>
              <a:buSzPct val="100000"/>
              <a:buChar char="•"/>
            </a:pPr>
            <a:r>
              <a:rPr lang="en-US" sz="1100" dirty="0">
                <a:solidFill>
                  <a:srgbClr val="1F2937"/>
                </a:solidFill>
                <a:latin typeface="Calibri" pitchFamily="34" charset="0"/>
                <a:ea typeface="Calibri" pitchFamily="34" charset="-122"/>
                <a:cs typeface="Calibri" pitchFamily="34" charset="-120"/>
              </a:rPr>
              <a:t>Compare MTTR, reward and escalation rate across the three</a:t>
            </a:r>
            <a:endParaRPr lang="en-US" sz="1100" dirty="0"/>
          </a:p>
        </p:txBody>
      </p:sp>
      <p:sp>
        <p:nvSpPr>
          <p:cNvPr id="12" name="Shape 10"/>
          <p:cNvSpPr/>
          <p:nvPr/>
        </p:nvSpPr>
        <p:spPr>
          <a:xfrm>
            <a:off x="758952" y="3429000"/>
            <a:ext cx="4989424" cy="457200"/>
          </a:xfrm>
          <a:prstGeom prst="roundRect">
            <a:avLst>
              <a:gd name="adj" fmla="val 10000"/>
            </a:avLst>
          </a:prstGeom>
          <a:solidFill>
            <a:srgbClr val="EEF3F8"/>
          </a:solidFill>
          <a:ln w="12700">
            <a:solidFill>
              <a:srgbClr val="AEB9C7"/>
            </a:solidFill>
            <a:prstDash val="solid"/>
          </a:ln>
        </p:spPr>
      </p:sp>
      <p:sp>
        <p:nvSpPr>
          <p:cNvPr id="13" name="Text 11"/>
          <p:cNvSpPr txBox="1"/>
          <p:nvPr/>
        </p:nvSpPr>
        <p:spPr>
          <a:xfrm>
            <a:off x="868680" y="3429000"/>
            <a:ext cx="4769968" cy="457200"/>
          </a:xfrm>
          <a:prstGeom prst="rect">
            <a:avLst/>
          </a:prstGeom>
          <a:noFill/>
          <a:ln/>
        </p:spPr>
        <p:txBody>
          <a:bodyPr wrap="square" lIns="0" tIns="0" rIns="0" bIns="0" rtlCol="0" anchor="ctr"/>
          <a:lstStyle/>
          <a:p>
            <a:pPr marL="0" indent="0" algn="l">
              <a:buNone/>
            </a:pPr>
            <a:r>
              <a:rPr lang="en-US" sz="1000" i="1" dirty="0">
                <a:solidFill>
                  <a:srgbClr val="5D6B7A"/>
                </a:solidFill>
                <a:latin typeface="Calibri" pitchFamily="34" charset="0"/>
                <a:ea typeface="Calibri" pitchFamily="34" charset="-122"/>
                <a:cs typeface="Calibri" pitchFamily="34" charset="-120"/>
              </a:rPr>
              <a:t>Status: not yet run — scheduled for the next milestone</a:t>
            </a:r>
            <a:endParaRPr lang="en-US" sz="1000" dirty="0"/>
          </a:p>
        </p:txBody>
      </p:sp>
      <p:sp>
        <p:nvSpPr>
          <p:cNvPr id="14" name="Shape 12"/>
          <p:cNvSpPr/>
          <p:nvPr/>
        </p:nvSpPr>
        <p:spPr>
          <a:xfrm>
            <a:off x="6278728" y="1463040"/>
            <a:ext cx="5318608" cy="2606040"/>
          </a:xfrm>
          <a:prstGeom prst="rect">
            <a:avLst/>
          </a:prstGeom>
          <a:solidFill>
            <a:srgbClr val="FFFFFF"/>
          </a:solidFill>
          <a:ln w="12700">
            <a:solidFill>
              <a:srgbClr val="AEB9C7"/>
            </a:solidFill>
            <a:prstDash val="solid"/>
          </a:ln>
        </p:spPr>
      </p:sp>
      <p:sp>
        <p:nvSpPr>
          <p:cNvPr id="15" name="Text 13"/>
          <p:cNvSpPr txBox="1"/>
          <p:nvPr/>
        </p:nvSpPr>
        <p:spPr>
          <a:xfrm>
            <a:off x="6443320" y="1572768"/>
            <a:ext cx="4989424" cy="292608"/>
          </a:xfrm>
          <a:prstGeom prst="rect">
            <a:avLst/>
          </a:prstGeom>
          <a:noFill/>
          <a:ln/>
        </p:spPr>
        <p:txBody>
          <a:bodyPr wrap="square" lIns="0" tIns="0" rIns="0" bIns="0" rtlCol="0" anchor="ctr"/>
          <a:lstStyle/>
          <a:p>
            <a:pPr marL="0" indent="0">
              <a:buNone/>
            </a:pPr>
            <a:r>
              <a:rPr lang="en-US" sz="1350" b="1" dirty="0">
                <a:solidFill>
                  <a:srgbClr val="17365D"/>
                </a:solidFill>
                <a:latin typeface="Calibri" pitchFamily="34" charset="0"/>
                <a:ea typeface="Calibri" pitchFamily="34" charset="-122"/>
                <a:cs typeface="Calibri" pitchFamily="34" charset="-120"/>
              </a:rPr>
              <a:t>Scalability — Pending Measurement</a:t>
            </a:r>
            <a:endParaRPr lang="en-US" sz="1350" dirty="0"/>
          </a:p>
        </p:txBody>
      </p:sp>
      <p:graphicFrame>
        <p:nvGraphicFramePr>
          <p:cNvPr id="16" name="Table 0"/>
          <p:cNvGraphicFramePr>
            <a:graphicFrameLocks noGrp="1"/>
          </p:cNvGraphicFramePr>
          <p:nvPr>
            <p:extLst>
              <p:ext uri="{D42A27DB-BD31-4B8C-83A1-F6EECF244321}">
                <p14:modId xmlns:p14="http://schemas.microsoft.com/office/powerpoint/2010/main" val="1579011935"/>
              </p:ext>
            </p:extLst>
          </p:nvPr>
        </p:nvGraphicFramePr>
        <p:xfrm>
          <a:off x="6443320" y="1965960"/>
          <a:ext cx="4989423" cy="1170432"/>
        </p:xfrm>
        <a:graphic>
          <a:graphicData uri="http://schemas.openxmlformats.org/drawingml/2006/table">
            <a:tbl>
              <a:tblPr/>
              <a:tblGrid>
                <a:gridCol w="1496827">
                  <a:extLst>
                    <a:ext uri="{9D8B030D-6E8A-4147-A177-3AD203B41FA5}">
                      <a16:colId xmlns:a16="http://schemas.microsoft.com/office/drawing/2014/main" val="20000"/>
                    </a:ext>
                  </a:extLst>
                </a:gridCol>
                <a:gridCol w="1147567">
                  <a:extLst>
                    <a:ext uri="{9D8B030D-6E8A-4147-A177-3AD203B41FA5}">
                      <a16:colId xmlns:a16="http://schemas.microsoft.com/office/drawing/2014/main" val="20001"/>
                    </a:ext>
                  </a:extLst>
                </a:gridCol>
                <a:gridCol w="1147567">
                  <a:extLst>
                    <a:ext uri="{9D8B030D-6E8A-4147-A177-3AD203B41FA5}">
                      <a16:colId xmlns:a16="http://schemas.microsoft.com/office/drawing/2014/main" val="20002"/>
                    </a:ext>
                  </a:extLst>
                </a:gridCol>
                <a:gridCol w="1197462">
                  <a:extLst>
                    <a:ext uri="{9D8B030D-6E8A-4147-A177-3AD203B41FA5}">
                      <a16:colId xmlns:a16="http://schemas.microsoft.com/office/drawing/2014/main" val="20003"/>
                    </a:ext>
                  </a:extLst>
                </a:gridCol>
              </a:tblGrid>
              <a:tr h="292608">
                <a:tc>
                  <a:txBody>
                    <a:bodyPr/>
                    <a:lstStyle/>
                    <a:p>
                      <a:pPr marL="0" indent="0" algn="l">
                        <a:buNone/>
                      </a:pPr>
                      <a:r>
                        <a:rPr lang="en-US" sz="1050" b="1" dirty="0">
                          <a:solidFill>
                            <a:srgbClr val="17365D"/>
                          </a:solidFill>
                          <a:latin typeface="Calibri" pitchFamily="34" charset="0"/>
                          <a:ea typeface="Calibri" pitchFamily="34" charset="-122"/>
                          <a:cs typeface="Calibri" pitchFamily="34" charset="-120"/>
                        </a:rPr>
                        <a:t>Nodes</a:t>
                      </a:r>
                      <a:endParaRPr lang="en-US" sz="10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lgn="l">
                        <a:buNone/>
                      </a:pPr>
                      <a:r>
                        <a:rPr lang="en-US" sz="1050" b="1" dirty="0">
                          <a:solidFill>
                            <a:srgbClr val="17365D"/>
                          </a:solidFill>
                          <a:latin typeface="Calibri" pitchFamily="34" charset="0"/>
                          <a:ea typeface="Calibri" pitchFamily="34" charset="-122"/>
                          <a:cs typeface="Calibri" pitchFamily="34" charset="-120"/>
                        </a:rPr>
                        <a:t>p50</a:t>
                      </a:r>
                      <a:endParaRPr lang="en-US" sz="10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lgn="l">
                        <a:buNone/>
                      </a:pPr>
                      <a:r>
                        <a:rPr lang="en-US" sz="1050" b="1" dirty="0">
                          <a:solidFill>
                            <a:srgbClr val="17365D"/>
                          </a:solidFill>
                          <a:latin typeface="Calibri" pitchFamily="34" charset="0"/>
                          <a:ea typeface="Calibri" pitchFamily="34" charset="-122"/>
                          <a:cs typeface="Calibri" pitchFamily="34" charset="-120"/>
                        </a:rPr>
                        <a:t>p95</a:t>
                      </a:r>
                      <a:endParaRPr lang="en-US" sz="10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lgn="l">
                        <a:buNone/>
                      </a:pPr>
                      <a:r>
                        <a:rPr lang="en-US" sz="1050" b="1" dirty="0">
                          <a:solidFill>
                            <a:srgbClr val="17365D"/>
                          </a:solidFill>
                          <a:latin typeface="Calibri" pitchFamily="34" charset="0"/>
                          <a:ea typeface="Calibri" pitchFamily="34" charset="-122"/>
                          <a:cs typeface="Calibri" pitchFamily="34" charset="-120"/>
                        </a:rPr>
                        <a:t>Accuracy</a:t>
                      </a:r>
                      <a:endParaRPr lang="en-US" sz="10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0"/>
                  </a:ext>
                </a:extLst>
              </a:tr>
              <a:tr h="292608">
                <a:tc>
                  <a:txBody>
                    <a:bodyPr/>
                    <a:lstStyle/>
                    <a:p>
                      <a:pPr marL="0" indent="0" algn="l">
                        <a:buNone/>
                      </a:pPr>
                      <a:r>
                        <a:rPr lang="en-US" sz="1000" dirty="0">
                          <a:solidFill>
                            <a:srgbClr val="1F2937"/>
                          </a:solidFill>
                          <a:latin typeface="Calibri" pitchFamily="34" charset="0"/>
                          <a:ea typeface="Calibri" pitchFamily="34" charset="-122"/>
                          <a:cs typeface="Calibri" pitchFamily="34" charset="-120"/>
                        </a:rPr>
                        <a:t>20 (chain)</a:t>
                      </a:r>
                      <a:endParaRPr lang="en-US" sz="10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lgn="l">
                        <a:buNone/>
                      </a:pPr>
                      <a:r>
                        <a:rPr lang="en-US" sz="1000" dirty="0">
                          <a:solidFill>
                            <a:srgbClr val="1F2937"/>
                          </a:solidFill>
                          <a:latin typeface="Calibri" pitchFamily="34" charset="0"/>
                          <a:ea typeface="Calibri" pitchFamily="34" charset="-122"/>
                          <a:cs typeface="Calibri" pitchFamily="34" charset="-120"/>
                        </a:rPr>
                        <a:t>—</a:t>
                      </a:r>
                      <a:endParaRPr lang="en-US" sz="10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lgn="l">
                        <a:buNone/>
                      </a:pPr>
                      <a:r>
                        <a:rPr lang="en-US" sz="1000" dirty="0">
                          <a:solidFill>
                            <a:srgbClr val="1F2937"/>
                          </a:solidFill>
                          <a:latin typeface="Calibri" pitchFamily="34" charset="0"/>
                          <a:ea typeface="Calibri" pitchFamily="34" charset="-122"/>
                          <a:cs typeface="Calibri" pitchFamily="34" charset="-120"/>
                        </a:rPr>
                        <a:t>—</a:t>
                      </a:r>
                      <a:endParaRPr lang="en-US" sz="10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lgn="l">
                        <a:buNone/>
                      </a:pPr>
                      <a:r>
                        <a:rPr lang="en-US" sz="1000" dirty="0">
                          <a:solidFill>
                            <a:srgbClr val="1F2937"/>
                          </a:solidFill>
                          <a:latin typeface="Calibri" pitchFamily="34" charset="0"/>
                          <a:ea typeface="Calibri" pitchFamily="34" charset="-122"/>
                          <a:cs typeface="Calibri" pitchFamily="34" charset="-120"/>
                        </a:rPr>
                        <a:t>—</a:t>
                      </a:r>
                      <a:endParaRPr lang="en-US" sz="10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292608">
                <a:tc>
                  <a:txBody>
                    <a:bodyPr/>
                    <a:lstStyle/>
                    <a:p>
                      <a:pPr marL="0" indent="0" algn="l">
                        <a:buNone/>
                      </a:pPr>
                      <a:r>
                        <a:rPr lang="en-US" sz="1000" dirty="0">
                          <a:solidFill>
                            <a:srgbClr val="1F2937"/>
                          </a:solidFill>
                          <a:latin typeface="Calibri" pitchFamily="34" charset="0"/>
                          <a:ea typeface="Calibri" pitchFamily="34" charset="-122"/>
                          <a:cs typeface="Calibri" pitchFamily="34" charset="-120"/>
                        </a:rPr>
                        <a:t>50 (fat-tree)</a:t>
                      </a:r>
                      <a:endParaRPr lang="en-US" sz="10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AFBFD"/>
                    </a:solidFill>
                  </a:tcPr>
                </a:tc>
                <a:tc>
                  <a:txBody>
                    <a:bodyPr/>
                    <a:lstStyle/>
                    <a:p>
                      <a:pPr marL="0" indent="0" algn="l">
                        <a:buNone/>
                      </a:pPr>
                      <a:r>
                        <a:rPr lang="en-US" sz="1000" dirty="0">
                          <a:solidFill>
                            <a:srgbClr val="1F2937"/>
                          </a:solidFill>
                          <a:latin typeface="Calibri" pitchFamily="34" charset="0"/>
                          <a:ea typeface="Calibri" pitchFamily="34" charset="-122"/>
                          <a:cs typeface="Calibri" pitchFamily="34" charset="-120"/>
                        </a:rPr>
                        <a:t>—</a:t>
                      </a:r>
                      <a:endParaRPr lang="en-US" sz="10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AFBFD"/>
                    </a:solidFill>
                  </a:tcPr>
                </a:tc>
                <a:tc>
                  <a:txBody>
                    <a:bodyPr/>
                    <a:lstStyle/>
                    <a:p>
                      <a:pPr marL="0" indent="0" algn="l">
                        <a:buNone/>
                      </a:pPr>
                      <a:r>
                        <a:rPr lang="en-US" sz="1000" dirty="0">
                          <a:solidFill>
                            <a:srgbClr val="1F2937"/>
                          </a:solidFill>
                          <a:latin typeface="Calibri" pitchFamily="34" charset="0"/>
                          <a:ea typeface="Calibri" pitchFamily="34" charset="-122"/>
                          <a:cs typeface="Calibri" pitchFamily="34" charset="-120"/>
                        </a:rPr>
                        <a:t>—</a:t>
                      </a:r>
                      <a:endParaRPr lang="en-US" sz="10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AFBFD"/>
                    </a:solidFill>
                  </a:tcPr>
                </a:tc>
                <a:tc>
                  <a:txBody>
                    <a:bodyPr/>
                    <a:lstStyle/>
                    <a:p>
                      <a:pPr marL="0" indent="0" algn="l">
                        <a:buNone/>
                      </a:pPr>
                      <a:r>
                        <a:rPr lang="en-US" sz="1000" dirty="0">
                          <a:solidFill>
                            <a:srgbClr val="1F2937"/>
                          </a:solidFill>
                          <a:latin typeface="Calibri" pitchFamily="34" charset="0"/>
                          <a:ea typeface="Calibri" pitchFamily="34" charset="-122"/>
                          <a:cs typeface="Calibri" pitchFamily="34" charset="-120"/>
                        </a:rPr>
                        <a:t>—</a:t>
                      </a:r>
                      <a:endParaRPr lang="en-US" sz="10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AFBFD"/>
                    </a:solidFill>
                  </a:tcPr>
                </a:tc>
                <a:extLst>
                  <a:ext uri="{0D108BD9-81ED-4DB2-BD59-A6C34878D82A}">
                    <a16:rowId xmlns:a16="http://schemas.microsoft.com/office/drawing/2014/main" val="10002"/>
                  </a:ext>
                </a:extLst>
              </a:tr>
              <a:tr h="292608">
                <a:tc>
                  <a:txBody>
                    <a:bodyPr/>
                    <a:lstStyle/>
                    <a:p>
                      <a:pPr marL="0" indent="0" algn="l">
                        <a:buNone/>
                      </a:pPr>
                      <a:r>
                        <a:rPr lang="en-US" sz="1000" dirty="0">
                          <a:solidFill>
                            <a:srgbClr val="1F2937"/>
                          </a:solidFill>
                          <a:latin typeface="Calibri" pitchFamily="34" charset="0"/>
                          <a:ea typeface="Calibri" pitchFamily="34" charset="-122"/>
                          <a:cs typeface="Calibri" pitchFamily="34" charset="-120"/>
                        </a:rPr>
                        <a:t>80 (fat-tree)</a:t>
                      </a:r>
                      <a:endParaRPr lang="en-US" sz="10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lgn="l">
                        <a:buNone/>
                      </a:pPr>
                      <a:r>
                        <a:rPr lang="en-US" sz="1000" dirty="0">
                          <a:solidFill>
                            <a:srgbClr val="1F2937"/>
                          </a:solidFill>
                          <a:latin typeface="Calibri" pitchFamily="34" charset="0"/>
                          <a:ea typeface="Calibri" pitchFamily="34" charset="-122"/>
                          <a:cs typeface="Calibri" pitchFamily="34" charset="-120"/>
                        </a:rPr>
                        <a:t>—</a:t>
                      </a:r>
                      <a:endParaRPr lang="en-US" sz="10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lgn="l">
                        <a:buNone/>
                      </a:pPr>
                      <a:r>
                        <a:rPr lang="en-US" sz="1000" dirty="0">
                          <a:solidFill>
                            <a:srgbClr val="1F2937"/>
                          </a:solidFill>
                          <a:latin typeface="Calibri" pitchFamily="34" charset="0"/>
                          <a:ea typeface="Calibri" pitchFamily="34" charset="-122"/>
                          <a:cs typeface="Calibri" pitchFamily="34" charset="-120"/>
                        </a:rPr>
                        <a:t>—</a:t>
                      </a:r>
                      <a:endParaRPr lang="en-US" sz="10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lgn="l">
                        <a:buNone/>
                      </a:pPr>
                      <a:r>
                        <a:rPr lang="en-US" sz="1000" dirty="0">
                          <a:solidFill>
                            <a:srgbClr val="1F2937"/>
                          </a:solidFill>
                          <a:latin typeface="Calibri" pitchFamily="34" charset="0"/>
                          <a:ea typeface="Calibri" pitchFamily="34" charset="-122"/>
                          <a:cs typeface="Calibri" pitchFamily="34" charset="-120"/>
                        </a:rPr>
                        <a:t>—</a:t>
                      </a:r>
                      <a:endParaRPr lang="en-US" sz="10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bl>
          </a:graphicData>
        </a:graphic>
      </p:graphicFrame>
      <p:sp>
        <p:nvSpPr>
          <p:cNvPr id="17" name="Text 14"/>
          <p:cNvSpPr txBox="1"/>
          <p:nvPr/>
        </p:nvSpPr>
        <p:spPr>
          <a:xfrm>
            <a:off x="6443320" y="3383280"/>
            <a:ext cx="4989424" cy="457200"/>
          </a:xfrm>
          <a:prstGeom prst="rect">
            <a:avLst/>
          </a:prstGeom>
          <a:noFill/>
          <a:ln/>
        </p:spPr>
        <p:txBody>
          <a:bodyPr wrap="square" lIns="0" tIns="0" rIns="0" bIns="0" rtlCol="0" anchor="ctr"/>
          <a:lstStyle/>
          <a:p>
            <a:pPr marL="0" indent="0">
              <a:buNone/>
            </a:pPr>
            <a:r>
              <a:rPr lang="en-US" sz="1000" i="1" dirty="0">
                <a:solidFill>
                  <a:srgbClr val="17365D"/>
                </a:solidFill>
                <a:latin typeface="Calibri" pitchFamily="34" charset="0"/>
                <a:ea typeface="Calibri" pitchFamily="34" charset="-122"/>
                <a:cs typeface="Calibri" pitchFamily="34" charset="-120"/>
              </a:rPr>
              <a:t>Earlier scalability figures withdrawn until experiment logs exist.</a:t>
            </a:r>
            <a:endParaRPr lang="en-US" sz="1000" dirty="0"/>
          </a:p>
        </p:txBody>
      </p:sp>
      <p:sp>
        <p:nvSpPr>
          <p:cNvPr id="18" name="Text 15"/>
          <p:cNvSpPr txBox="1"/>
          <p:nvPr/>
        </p:nvSpPr>
        <p:spPr>
          <a:xfrm>
            <a:off x="1051560" y="4251960"/>
            <a:ext cx="10088575" cy="457200"/>
          </a:xfrm>
          <a:prstGeom prst="rect">
            <a:avLst/>
          </a:prstGeom>
          <a:noFill/>
          <a:ln/>
        </p:spPr>
        <p:txBody>
          <a:bodyPr wrap="square" lIns="0" tIns="0" rIns="0" bIns="0" rtlCol="0" anchor="ctr"/>
          <a:lstStyle/>
          <a:p>
            <a:pPr marL="0" indent="0" algn="ctr">
              <a:buNone/>
            </a:pPr>
            <a:r>
              <a:rPr lang="en-US" sz="1300" b="1" dirty="0">
                <a:solidFill>
                  <a:srgbClr val="8A1C1C"/>
                </a:solidFill>
                <a:latin typeface="Calibri" pitchFamily="34" charset="0"/>
                <a:ea typeface="Calibri" pitchFamily="34" charset="-122"/>
                <a:cs typeface="Calibri" pitchFamily="34" charset="-120"/>
              </a:rPr>
              <a:t>Neither ablation nor scalability has verified results yet — both are next steps</a:t>
            </a:r>
            <a:endParaRPr lang="en-US" sz="13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7F9FC"/>
        </a:solidFill>
        <a:effectLst/>
      </p:bgPr>
    </p:bg>
    <p:spTree>
      <p:nvGrpSpPr>
        <p:cNvPr id="1" name=""/>
        <p:cNvGrpSpPr/>
        <p:nvPr/>
      </p:nvGrpSpPr>
      <p:grpSpPr>
        <a:xfrm>
          <a:off x="0" y="0"/>
          <a:ext cx="0" cy="0"/>
          <a:chOff x="0" y="0"/>
          <a:chExt cx="0" cy="0"/>
        </a:xfrm>
      </p:grpSpPr>
      <p:sp>
        <p:nvSpPr>
          <p:cNvPr id="2" name="Shape 0"/>
          <p:cNvSpPr/>
          <p:nvPr/>
        </p:nvSpPr>
        <p:spPr>
          <a:xfrm>
            <a:off x="0" y="0"/>
            <a:ext cx="12191695" cy="256032"/>
          </a:xfrm>
          <a:prstGeom prst="rect">
            <a:avLst/>
          </a:prstGeom>
          <a:solidFill>
            <a:srgbClr val="17365D"/>
          </a:solidFill>
          <a:ln w="12700">
            <a:solidFill>
              <a:srgbClr val="17365D"/>
            </a:solidFill>
            <a:prstDash val="solid"/>
          </a:ln>
        </p:spPr>
      </p:sp>
      <p:sp>
        <p:nvSpPr>
          <p:cNvPr id="3" name="Text 1"/>
          <p:cNvSpPr txBox="1"/>
          <p:nvPr/>
        </p:nvSpPr>
        <p:spPr>
          <a:xfrm>
            <a:off x="594360" y="475488"/>
            <a:ext cx="10607040" cy="438912"/>
          </a:xfrm>
          <a:prstGeom prst="rect">
            <a:avLst/>
          </a:prstGeom>
          <a:noFill/>
          <a:ln/>
        </p:spPr>
        <p:txBody>
          <a:bodyPr wrap="square" lIns="0" tIns="0" rIns="0" bIns="0" rtlCol="0" anchor="ctr"/>
          <a:lstStyle/>
          <a:p>
            <a:pPr marL="0" indent="0" algn="l">
              <a:buNone/>
            </a:pPr>
            <a:r>
              <a:rPr lang="en-US" sz="2400" b="1" dirty="0">
                <a:solidFill>
                  <a:srgbClr val="17365D"/>
                </a:solidFill>
                <a:latin typeface="Calibri" pitchFamily="34" charset="0"/>
                <a:ea typeface="Calibri" pitchFamily="34" charset="-122"/>
                <a:cs typeface="Calibri" pitchFamily="34" charset="-120"/>
              </a:rPr>
              <a:t>12. Implementation Status &amp; Roadmap</a:t>
            </a:r>
            <a:endParaRPr lang="en-US" sz="2400" dirty="0"/>
          </a:p>
        </p:txBody>
      </p:sp>
      <p:sp>
        <p:nvSpPr>
          <p:cNvPr id="4" name="Shape 2"/>
          <p:cNvSpPr/>
          <p:nvPr/>
        </p:nvSpPr>
        <p:spPr>
          <a:xfrm>
            <a:off x="594360" y="1005840"/>
            <a:ext cx="1097280" cy="0"/>
          </a:xfrm>
          <a:prstGeom prst="line">
            <a:avLst/>
          </a:prstGeom>
          <a:noFill/>
          <a:ln w="38100">
            <a:solidFill>
              <a:srgbClr val="8A1C1C"/>
            </a:solidFill>
            <a:prstDash val="solid"/>
          </a:ln>
        </p:spPr>
      </p:sp>
      <p:sp>
        <p:nvSpPr>
          <p:cNvPr id="5" name="Text 3"/>
          <p:cNvSpPr txBox="1"/>
          <p:nvPr/>
        </p:nvSpPr>
        <p:spPr>
          <a:xfrm>
            <a:off x="1920240" y="877824"/>
            <a:ext cx="8961120" cy="274320"/>
          </a:xfrm>
          <a:prstGeom prst="rect">
            <a:avLst/>
          </a:prstGeom>
          <a:noFill/>
          <a:ln/>
        </p:spPr>
        <p:txBody>
          <a:bodyPr wrap="square" lIns="0" tIns="0" rIns="0" bIns="0" rtlCol="0" anchor="ctr"/>
          <a:lstStyle/>
          <a:p>
            <a:pPr marL="0" indent="0" algn="l">
              <a:buNone/>
            </a:pPr>
            <a:r>
              <a:rPr lang="en-US" sz="1200" dirty="0">
                <a:solidFill>
                  <a:srgbClr val="5D6B7A"/>
                </a:solidFill>
                <a:latin typeface="Calibri" pitchFamily="34" charset="0"/>
                <a:ea typeface="Calibri" pitchFamily="34" charset="-122"/>
                <a:cs typeface="Calibri" pitchFamily="34" charset="-120"/>
              </a:rPr>
              <a:t>Current Development Status and Next Milestones</a:t>
            </a:r>
            <a:endParaRPr lang="en-US" sz="1200" dirty="0"/>
          </a:p>
        </p:txBody>
      </p:sp>
      <p:sp>
        <p:nvSpPr>
          <p:cNvPr id="6" name="Shape 4"/>
          <p:cNvSpPr/>
          <p:nvPr/>
        </p:nvSpPr>
        <p:spPr>
          <a:xfrm>
            <a:off x="594360" y="6446520"/>
            <a:ext cx="11002975" cy="0"/>
          </a:xfrm>
          <a:prstGeom prst="line">
            <a:avLst/>
          </a:prstGeom>
          <a:noFill/>
          <a:ln w="9525">
            <a:solidFill>
              <a:srgbClr val="CBD5E1"/>
            </a:solidFill>
            <a:prstDash val="solid"/>
          </a:ln>
        </p:spPr>
      </p:sp>
      <p:sp>
        <p:nvSpPr>
          <p:cNvPr id="7" name="Text 5"/>
          <p:cNvSpPr txBox="1"/>
          <p:nvPr/>
        </p:nvSpPr>
        <p:spPr>
          <a:xfrm>
            <a:off x="594360" y="6492240"/>
            <a:ext cx="6858000" cy="219456"/>
          </a:xfrm>
          <a:prstGeom prst="rect">
            <a:avLst/>
          </a:prstGeom>
          <a:noFill/>
          <a:ln/>
        </p:spPr>
        <p:txBody>
          <a:bodyPr wrap="square" lIns="0" tIns="0" rIns="0" bIns="0" rtlCol="0" anchor="ctr"/>
          <a:lstStyle/>
          <a:p>
            <a:pPr marL="0" indent="0" algn="l">
              <a:buNone/>
            </a:pPr>
            <a:r>
              <a:rPr lang="en-US" sz="900" dirty="0">
                <a:solidFill>
                  <a:srgbClr val="5D6B7A"/>
                </a:solidFill>
                <a:latin typeface="Calibri" pitchFamily="34" charset="0"/>
                <a:ea typeface="Calibri" pitchFamily="34" charset="-122"/>
                <a:cs typeface="Calibri" pitchFamily="34" charset="-120"/>
              </a:rPr>
              <a:t>KPR Institute of Engineering and Technology  |  Department of Information Technology</a:t>
            </a:r>
            <a:endParaRPr lang="en-US" sz="900" dirty="0"/>
          </a:p>
        </p:txBody>
      </p:sp>
      <p:sp>
        <p:nvSpPr>
          <p:cNvPr id="8" name="Text 6"/>
          <p:cNvSpPr txBox="1"/>
          <p:nvPr/>
        </p:nvSpPr>
        <p:spPr>
          <a:xfrm>
            <a:off x="7939735" y="6492240"/>
            <a:ext cx="3657600" cy="219456"/>
          </a:xfrm>
          <a:prstGeom prst="rect">
            <a:avLst/>
          </a:prstGeom>
          <a:noFill/>
          <a:ln/>
        </p:spPr>
        <p:txBody>
          <a:bodyPr wrap="square" lIns="0" tIns="0" rIns="0" bIns="0" rtlCol="0" anchor="ctr"/>
          <a:lstStyle/>
          <a:p>
            <a:pPr marL="0" indent="0" algn="r">
              <a:buNone/>
            </a:pPr>
            <a:r>
              <a:rPr lang="en-US" sz="900" b="1" dirty="0">
                <a:solidFill>
                  <a:srgbClr val="8A1C1C"/>
                </a:solidFill>
                <a:latin typeface="Calibri" pitchFamily="34" charset="0"/>
                <a:ea typeface="Calibri" pitchFamily="34" charset="-122"/>
                <a:cs typeface="Calibri" pitchFamily="34" charset="-120"/>
              </a:rPr>
              <a:t> REVIEW  - III  |   12</a:t>
            </a:r>
            <a:endParaRPr lang="en-US" sz="900" dirty="0"/>
          </a:p>
        </p:txBody>
      </p:sp>
      <p:graphicFrame>
        <p:nvGraphicFramePr>
          <p:cNvPr id="13" name="Table 0"/>
          <p:cNvGraphicFramePr>
            <a:graphicFrameLocks noGrp="1"/>
          </p:cNvGraphicFramePr>
          <p:nvPr>
            <p:extLst>
              <p:ext uri="{D42A27DB-BD31-4B8C-83A1-F6EECF244321}">
                <p14:modId xmlns:p14="http://schemas.microsoft.com/office/powerpoint/2010/main" val="1579011935"/>
              </p:ext>
            </p:extLst>
          </p:nvPr>
        </p:nvGraphicFramePr>
        <p:xfrm>
          <a:off x="594360" y="1463040"/>
          <a:ext cx="5943600" cy="2839212"/>
        </p:xfrm>
        <a:graphic>
          <a:graphicData uri="http://schemas.openxmlformats.org/drawingml/2006/table">
            <a:tbl>
              <a:tblPr/>
              <a:tblGrid>
                <a:gridCol w="4480560">
                  <a:extLst>
                    <a:ext uri="{9D8B030D-6E8A-4147-A177-3AD203B41FA5}">
                      <a16:colId xmlns:a16="http://schemas.microsoft.com/office/drawing/2014/main" val="20000"/>
                    </a:ext>
                  </a:extLst>
                </a:gridCol>
                <a:gridCol w="1463040">
                  <a:extLst>
                    <a:ext uri="{9D8B030D-6E8A-4147-A177-3AD203B41FA5}">
                      <a16:colId xmlns:a16="http://schemas.microsoft.com/office/drawing/2014/main" val="20001"/>
                    </a:ext>
                  </a:extLst>
                </a:gridCol>
              </a:tblGrid>
              <a:tr h="315468">
                <a:tc>
                  <a:txBody>
                    <a:bodyPr/>
                    <a:lstStyle/>
                    <a:p>
                      <a:pPr marL="0" indent="0" algn="l">
                        <a:buNone/>
                      </a:pPr>
                      <a:r>
                        <a:rPr lang="en-US" sz="1000" b="1" dirty="0">
                          <a:solidFill>
                            <a:srgbClr val="17365D"/>
                          </a:solidFill>
                          <a:latin typeface="Calibri" pitchFamily="34" charset="0"/>
                          <a:ea typeface="Calibri" pitchFamily="34" charset="-122"/>
                          <a:cs typeface="Calibri" pitchFamily="34" charset="-120"/>
                        </a:rPr>
                        <a:t>Module</a:t>
                      </a:r>
                      <a:endParaRPr lang="en-US" sz="10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lgn="l">
                        <a:buNone/>
                      </a:pPr>
                      <a:r>
                        <a:rPr lang="en-US" sz="1000" b="1" dirty="0">
                          <a:solidFill>
                            <a:srgbClr val="17365D"/>
                          </a:solidFill>
                          <a:latin typeface="Calibri" pitchFamily="34" charset="0"/>
                          <a:ea typeface="Calibri" pitchFamily="34" charset="-122"/>
                          <a:cs typeface="Calibri" pitchFamily="34" charset="-120"/>
                        </a:rPr>
                        <a:t>Status</a:t>
                      </a:r>
                      <a:endParaRPr lang="en-US" sz="10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0"/>
                  </a:ext>
                </a:extLst>
              </a:tr>
              <a:tr h="315468">
                <a:tc>
                  <a:txBody>
                    <a:bodyPr/>
                    <a:lstStyle/>
                    <a:p>
                      <a:pPr marL="0" indent="0" algn="l">
                        <a:buNone/>
                      </a:pPr>
                      <a:r>
                        <a:rPr lang="en-US" sz="950" dirty="0">
                          <a:solidFill>
                            <a:srgbClr val="1F2937"/>
                          </a:solidFill>
                          <a:latin typeface="Calibri" pitchFamily="34" charset="0"/>
                          <a:ea typeface="Calibri" pitchFamily="34" charset="-122"/>
                          <a:cs typeface="Calibri" pitchFamily="34" charset="-120"/>
                        </a:rPr>
                        <a:t>Literature survey &amp; requirements</a:t>
                      </a:r>
                      <a:endParaRPr lang="en-US" sz="9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lgn="l">
                        <a:buNone/>
                      </a:pPr>
                      <a:r>
                        <a:rPr lang="en-US" sz="950" dirty="0">
                          <a:solidFill>
                            <a:srgbClr val="1F2937"/>
                          </a:solidFill>
                          <a:latin typeface="Calibri" pitchFamily="34" charset="0"/>
                          <a:ea typeface="Calibri" pitchFamily="34" charset="-122"/>
                          <a:cs typeface="Calibri" pitchFamily="34" charset="-120"/>
                        </a:rPr>
                        <a:t>Completed</a:t>
                      </a:r>
                      <a:endParaRPr lang="en-US" sz="9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315468">
                <a:tc>
                  <a:txBody>
                    <a:bodyPr/>
                    <a:lstStyle/>
                    <a:p>
                      <a:pPr marL="0" indent="0" algn="l">
                        <a:buNone/>
                      </a:pPr>
                      <a:r>
                        <a:rPr lang="en-US" sz="950" dirty="0">
                          <a:solidFill>
                            <a:srgbClr val="1F2937"/>
                          </a:solidFill>
                          <a:latin typeface="Calibri" pitchFamily="34" charset="0"/>
                          <a:ea typeface="Calibri" pitchFamily="34" charset="-122"/>
                          <a:cs typeface="Calibri" pitchFamily="34" charset="-120"/>
                        </a:rPr>
                        <a:t>Architecture design</a:t>
                      </a:r>
                      <a:endParaRPr lang="en-US" sz="9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AFBFD"/>
                    </a:solidFill>
                  </a:tcPr>
                </a:tc>
                <a:tc>
                  <a:txBody>
                    <a:bodyPr/>
                    <a:lstStyle/>
                    <a:p>
                      <a:pPr marL="0" indent="0" algn="l">
                        <a:buNone/>
                      </a:pPr>
                      <a:r>
                        <a:rPr lang="en-US" sz="950" dirty="0">
                          <a:solidFill>
                            <a:srgbClr val="1F2937"/>
                          </a:solidFill>
                          <a:latin typeface="Calibri" pitchFamily="34" charset="0"/>
                          <a:ea typeface="Calibri" pitchFamily="34" charset="-122"/>
                          <a:cs typeface="Calibri" pitchFamily="34" charset="-120"/>
                        </a:rPr>
                        <a:t>Completed</a:t>
                      </a:r>
                      <a:endParaRPr lang="en-US" sz="9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AFBFD"/>
                    </a:solidFill>
                  </a:tcPr>
                </a:tc>
                <a:extLst>
                  <a:ext uri="{0D108BD9-81ED-4DB2-BD59-A6C34878D82A}">
                    <a16:rowId xmlns:a16="http://schemas.microsoft.com/office/drawing/2014/main" val="10002"/>
                  </a:ext>
                </a:extLst>
              </a:tr>
              <a:tr h="315468">
                <a:tc>
                  <a:txBody>
                    <a:bodyPr/>
                    <a:lstStyle/>
                    <a:p>
                      <a:pPr marL="0" indent="0" algn="l">
                        <a:buNone/>
                      </a:pPr>
                      <a:r>
                        <a:rPr lang="en-US" sz="950" dirty="0">
                          <a:solidFill>
                            <a:srgbClr val="1F2937"/>
                          </a:solidFill>
                          <a:latin typeface="Calibri" pitchFamily="34" charset="0"/>
                          <a:ea typeface="Calibri" pitchFamily="34" charset="-122"/>
                          <a:cs typeface="Calibri" pitchFamily="34" charset="-120"/>
                        </a:rPr>
                        <a:t>AI/ML model (anomaly detection + RL decision)</a:t>
                      </a:r>
                      <a:endParaRPr lang="en-US" sz="9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lgn="l">
                        <a:buNone/>
                      </a:pPr>
                      <a:r>
                        <a:rPr lang="en-US" sz="950" dirty="0">
                          <a:solidFill>
                            <a:srgbClr val="1F2937"/>
                          </a:solidFill>
                          <a:latin typeface="Calibri" pitchFamily="34" charset="0"/>
                          <a:ea typeface="Calibri" pitchFamily="34" charset="-122"/>
                          <a:cs typeface="Calibri" pitchFamily="34" charset="-120"/>
                        </a:rPr>
                        <a:t>In development</a:t>
                      </a:r>
                      <a:endParaRPr lang="en-US" sz="9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315468">
                <a:tc>
                  <a:txBody>
                    <a:bodyPr/>
                    <a:lstStyle/>
                    <a:p>
                      <a:pPr marL="0" indent="0" algn="l">
                        <a:buNone/>
                      </a:pPr>
                      <a:r>
                        <a:rPr lang="en-US" sz="950" dirty="0">
                          <a:solidFill>
                            <a:srgbClr val="1F2937"/>
                          </a:solidFill>
                          <a:latin typeface="Calibri" pitchFamily="34" charset="0"/>
                          <a:ea typeface="Calibri" pitchFamily="34" charset="-122"/>
                          <a:cs typeface="Calibri" pitchFamily="34" charset="-120"/>
                        </a:rPr>
                        <a:t>GPU acceleration (NVIDIA CUDA)</a:t>
                      </a:r>
                      <a:endParaRPr lang="en-US" sz="9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AFBFD"/>
                    </a:solidFill>
                  </a:tcPr>
                </a:tc>
                <a:tc>
                  <a:txBody>
                    <a:bodyPr/>
                    <a:lstStyle/>
                    <a:p>
                      <a:pPr marL="0" indent="0" algn="l">
                        <a:buNone/>
                      </a:pPr>
                      <a:r>
                        <a:rPr lang="en-US" sz="950" dirty="0">
                          <a:solidFill>
                            <a:srgbClr val="1F2937"/>
                          </a:solidFill>
                          <a:latin typeface="Calibri" pitchFamily="34" charset="0"/>
                          <a:ea typeface="Calibri" pitchFamily="34" charset="-122"/>
                          <a:cs typeface="Calibri" pitchFamily="34" charset="-120"/>
                        </a:rPr>
                        <a:t>Research</a:t>
                      </a:r>
                      <a:endParaRPr lang="en-US" sz="9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AFBFD"/>
                    </a:solidFill>
                  </a:tcPr>
                </a:tc>
                <a:extLst>
                  <a:ext uri="{0D108BD9-81ED-4DB2-BD59-A6C34878D82A}">
                    <a16:rowId xmlns:a16="http://schemas.microsoft.com/office/drawing/2014/main" val="10004"/>
                  </a:ext>
                </a:extLst>
              </a:tr>
              <a:tr h="315468">
                <a:tc>
                  <a:txBody>
                    <a:bodyPr/>
                    <a:lstStyle/>
                    <a:p>
                      <a:pPr marL="0" indent="0" algn="l">
                        <a:buNone/>
                      </a:pPr>
                      <a:r>
                        <a:rPr lang="en-US" sz="950" dirty="0">
                          <a:solidFill>
                            <a:srgbClr val="1F2937"/>
                          </a:solidFill>
                          <a:latin typeface="Calibri" pitchFamily="34" charset="0"/>
                          <a:ea typeface="Calibri" pitchFamily="34" charset="-122"/>
                          <a:cs typeface="Calibri" pitchFamily="34" charset="-120"/>
                        </a:rPr>
                        <a:t>Four-way workload agent</a:t>
                      </a:r>
                      <a:endParaRPr lang="en-US" sz="9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lgn="l">
                        <a:buNone/>
                      </a:pPr>
                      <a:r>
                        <a:rPr lang="en-US" sz="950" dirty="0">
                          <a:solidFill>
                            <a:srgbClr val="1F2937"/>
                          </a:solidFill>
                          <a:latin typeface="Calibri" pitchFamily="34" charset="0"/>
                          <a:ea typeface="Calibri" pitchFamily="34" charset="-122"/>
                          <a:cs typeface="Calibri" pitchFamily="34" charset="-120"/>
                        </a:rPr>
                        <a:t>Research</a:t>
                      </a:r>
                      <a:endParaRPr lang="en-US" sz="9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315468">
                <a:tc>
                  <a:txBody>
                    <a:bodyPr/>
                    <a:lstStyle/>
                    <a:p>
                      <a:pPr marL="0" indent="0" algn="l">
                        <a:buNone/>
                      </a:pPr>
                      <a:r>
                        <a:rPr lang="en-US" sz="950" dirty="0">
                          <a:solidFill>
                            <a:srgbClr val="1F2937"/>
                          </a:solidFill>
                          <a:latin typeface="Calibri" pitchFamily="34" charset="0"/>
                          <a:ea typeface="Calibri" pitchFamily="34" charset="-122"/>
                          <a:cs typeface="Calibri" pitchFamily="34" charset="-120"/>
                        </a:rPr>
                        <a:t>ns-3 integration</a:t>
                      </a:r>
                      <a:endParaRPr lang="en-US" sz="9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AFBFD"/>
                    </a:solidFill>
                  </a:tcPr>
                </a:tc>
                <a:tc>
                  <a:txBody>
                    <a:bodyPr/>
                    <a:lstStyle/>
                    <a:p>
                      <a:pPr marL="0" indent="0" algn="l">
                        <a:buNone/>
                      </a:pPr>
                      <a:r>
                        <a:rPr lang="en-US" sz="950" dirty="0">
                          <a:solidFill>
                            <a:srgbClr val="1F2937"/>
                          </a:solidFill>
                          <a:latin typeface="Calibri" pitchFamily="34" charset="0"/>
                          <a:ea typeface="Calibri" pitchFamily="34" charset="-122"/>
                          <a:cs typeface="Calibri" pitchFamily="34" charset="-120"/>
                        </a:rPr>
                        <a:t>Research</a:t>
                      </a:r>
                      <a:endParaRPr lang="en-US" sz="9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AFBFD"/>
                    </a:solidFill>
                  </a:tcPr>
                </a:tc>
                <a:extLst>
                  <a:ext uri="{0D108BD9-81ED-4DB2-BD59-A6C34878D82A}">
                    <a16:rowId xmlns:a16="http://schemas.microsoft.com/office/drawing/2014/main" val="10006"/>
                  </a:ext>
                </a:extLst>
              </a:tr>
              <a:tr h="315468">
                <a:tc>
                  <a:txBody>
                    <a:bodyPr/>
                    <a:lstStyle/>
                    <a:p>
                      <a:pPr marL="0" indent="0" algn="l">
                        <a:buNone/>
                      </a:pPr>
                      <a:r>
                        <a:rPr lang="en-US" sz="950" dirty="0">
                          <a:solidFill>
                            <a:srgbClr val="1F2937"/>
                          </a:solidFill>
                          <a:latin typeface="Calibri" pitchFamily="34" charset="0"/>
                          <a:ea typeface="Calibri" pitchFamily="34" charset="-122"/>
                          <a:cs typeface="Calibri" pitchFamily="34" charset="-120"/>
                        </a:rPr>
                        <a:t>Safety gate &amp; explainability</a:t>
                      </a:r>
                      <a:endParaRPr lang="en-US" sz="9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lgn="l">
                        <a:buNone/>
                      </a:pPr>
                      <a:r>
                        <a:rPr lang="en-US" sz="950" dirty="0">
                          <a:solidFill>
                            <a:srgbClr val="1F2937"/>
                          </a:solidFill>
                          <a:latin typeface="Calibri" pitchFamily="34" charset="0"/>
                          <a:ea typeface="Calibri" pitchFamily="34" charset="-122"/>
                          <a:cs typeface="Calibri" pitchFamily="34" charset="-120"/>
                        </a:rPr>
                        <a:t>In development</a:t>
                      </a:r>
                      <a:endParaRPr lang="en-US" sz="9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7"/>
                  </a:ext>
                </a:extLst>
              </a:tr>
              <a:tr h="315468">
                <a:tc>
                  <a:txBody>
                    <a:bodyPr/>
                    <a:lstStyle/>
                    <a:p>
                      <a:pPr marL="0" indent="0" algn="l">
                        <a:buNone/>
                      </a:pPr>
                      <a:r>
                        <a:rPr lang="en-US" sz="950" dirty="0">
                          <a:solidFill>
                            <a:srgbClr val="1F2937"/>
                          </a:solidFill>
                          <a:latin typeface="Calibri" pitchFamily="34" charset="0"/>
                          <a:ea typeface="Calibri" pitchFamily="34" charset="-122"/>
                          <a:cs typeface="Calibri" pitchFamily="34" charset="-120"/>
                        </a:rPr>
                        <a:t>End-to-end integration &amp; live deployment</a:t>
                      </a:r>
                      <a:endParaRPr lang="en-US" sz="9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AFBFD"/>
                    </a:solidFill>
                  </a:tcPr>
                </a:tc>
                <a:tc>
                  <a:txBody>
                    <a:bodyPr/>
                    <a:lstStyle/>
                    <a:p>
                      <a:pPr marL="0" indent="0" algn="l">
                        <a:buNone/>
                      </a:pPr>
                      <a:r>
                        <a:rPr lang="en-US" sz="950" dirty="0">
                          <a:solidFill>
                            <a:srgbClr val="1F2937"/>
                          </a:solidFill>
                          <a:latin typeface="Calibri" pitchFamily="34" charset="0"/>
                          <a:ea typeface="Calibri" pitchFamily="34" charset="-122"/>
                          <a:cs typeface="Calibri" pitchFamily="34" charset="-120"/>
                        </a:rPr>
                        <a:t>Planned</a:t>
                      </a:r>
                      <a:endParaRPr lang="en-US" sz="9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AFBFD"/>
                    </a:solidFill>
                  </a:tcPr>
                </a:tc>
                <a:extLst>
                  <a:ext uri="{0D108BD9-81ED-4DB2-BD59-A6C34878D82A}">
                    <a16:rowId xmlns:a16="http://schemas.microsoft.com/office/drawing/2014/main" val="10008"/>
                  </a:ext>
                </a:extLst>
              </a:tr>
            </a:tbl>
          </a:graphicData>
        </a:graphic>
      </p:graphicFrame>
      <p:sp>
        <p:nvSpPr>
          <p:cNvPr id="10" name="Shape 7"/>
          <p:cNvSpPr/>
          <p:nvPr/>
        </p:nvSpPr>
        <p:spPr>
          <a:xfrm>
            <a:off x="6903720" y="1463040"/>
            <a:ext cx="4693615" cy="2834640"/>
          </a:xfrm>
          <a:prstGeom prst="rect">
            <a:avLst/>
          </a:prstGeom>
          <a:solidFill>
            <a:srgbClr val="FFFFFF"/>
          </a:solidFill>
          <a:ln w="12700">
            <a:solidFill>
              <a:srgbClr val="AEB9C7"/>
            </a:solidFill>
            <a:prstDash val="solid"/>
          </a:ln>
        </p:spPr>
      </p:sp>
      <p:sp>
        <p:nvSpPr>
          <p:cNvPr id="11" name="Text 8"/>
          <p:cNvSpPr txBox="1"/>
          <p:nvPr/>
        </p:nvSpPr>
        <p:spPr>
          <a:xfrm>
            <a:off x="7068312" y="1572768"/>
            <a:ext cx="4364431" cy="292608"/>
          </a:xfrm>
          <a:prstGeom prst="rect">
            <a:avLst/>
          </a:prstGeom>
          <a:noFill/>
          <a:ln/>
        </p:spPr>
        <p:txBody>
          <a:bodyPr wrap="square" lIns="0" tIns="0" rIns="0" bIns="0" rtlCol="0" anchor="ctr"/>
          <a:lstStyle/>
          <a:p>
            <a:pPr marL="0" indent="0">
              <a:buNone/>
            </a:pPr>
            <a:r>
              <a:rPr lang="en-US" sz="1350" b="1" dirty="0">
                <a:solidFill>
                  <a:srgbClr val="17365D"/>
                </a:solidFill>
                <a:latin typeface="Calibri" pitchFamily="34" charset="0"/>
                <a:ea typeface="Calibri" pitchFamily="34" charset="-122"/>
                <a:cs typeface="Calibri" pitchFamily="34" charset="-120"/>
              </a:rPr>
              <a:t>Next Milestones</a:t>
            </a:r>
            <a:endParaRPr lang="en-US" sz="1350" dirty="0"/>
          </a:p>
        </p:txBody>
      </p:sp>
      <p:sp>
        <p:nvSpPr>
          <p:cNvPr id="12" name="Text 9"/>
          <p:cNvSpPr txBox="1"/>
          <p:nvPr/>
        </p:nvSpPr>
        <p:spPr>
          <a:xfrm>
            <a:off x="7068312" y="1874520"/>
            <a:ext cx="4364431" cy="2286000"/>
          </a:xfrm>
          <a:prstGeom prst="rect">
            <a:avLst/>
          </a:prstGeom>
          <a:noFill/>
          <a:ln/>
        </p:spPr>
        <p:txBody>
          <a:bodyPr wrap="square" lIns="0" tIns="0" rIns="0" bIns="0" rtlCol="0" anchor="t"/>
          <a:lstStyle/>
          <a:p>
            <a:pPr marL="177800" indent="-177800">
              <a:spcAft>
                <a:spcPts val="1000"/>
              </a:spcAft>
              <a:buSzPct val="100000"/>
              <a:buChar char="•"/>
            </a:pPr>
            <a:r>
              <a:rPr lang="en-US" sz="1150" dirty="0">
                <a:solidFill>
                  <a:srgbClr val="1F2937"/>
                </a:solidFill>
                <a:latin typeface="Calibri" pitchFamily="34" charset="0"/>
                <a:ea typeface="Calibri" pitchFamily="34" charset="-122"/>
                <a:cs typeface="Calibri" pitchFamily="34" charset="-120"/>
              </a:rPr>
              <a:t>Finish full RL training on the complete replay buffer</a:t>
            </a:r>
            <a:endParaRPr lang="en-US" sz="1150" dirty="0"/>
          </a:p>
          <a:p>
            <a:pPr marL="177800" indent="-177800">
              <a:spcAft>
                <a:spcPts val="1000"/>
              </a:spcAft>
              <a:buSzPct val="100000"/>
              <a:buChar char="•"/>
            </a:pPr>
            <a:r>
              <a:rPr lang="en-US" sz="1150" dirty="0">
                <a:solidFill>
                  <a:srgbClr val="1F2937"/>
                </a:solidFill>
                <a:latin typeface="Calibri" pitchFamily="34" charset="0"/>
                <a:ea typeface="Calibri" pitchFamily="34" charset="-122"/>
                <a:cs typeface="Calibri" pitchFamily="34" charset="-120"/>
              </a:rPr>
              <a:t>Run the detector-only / RL-only / safety-gated ablation</a:t>
            </a:r>
            <a:endParaRPr lang="en-US" sz="1150" dirty="0"/>
          </a:p>
          <a:p>
            <a:pPr marL="177800" indent="-177800">
              <a:spcAft>
                <a:spcPts val="1000"/>
              </a:spcAft>
              <a:buSzPct val="100000"/>
              <a:buChar char="•"/>
            </a:pPr>
            <a:r>
              <a:rPr lang="en-US" sz="1150" dirty="0">
                <a:solidFill>
                  <a:srgbClr val="1F2937"/>
                </a:solidFill>
                <a:latin typeface="Calibri" pitchFamily="34" charset="0"/>
                <a:ea typeface="Calibri" pitchFamily="34" charset="-122"/>
                <a:cs typeface="Calibri" pitchFamily="34" charset="-120"/>
              </a:rPr>
              <a:t>Capture live screenshots from an end-to-end run</a:t>
            </a:r>
            <a:endParaRPr lang="en-US" sz="1150" dirty="0"/>
          </a:p>
          <a:p>
            <a:pPr marL="177800" indent="-177800">
              <a:spcAft>
                <a:spcPts val="1000"/>
              </a:spcAft>
              <a:buSzPct val="100000"/>
              <a:buChar char="•"/>
            </a:pPr>
            <a:r>
              <a:rPr lang="en-US" sz="1150" dirty="0">
                <a:solidFill>
                  <a:srgbClr val="1F2937"/>
                </a:solidFill>
                <a:latin typeface="Calibri" pitchFamily="34" charset="0"/>
                <a:ea typeface="Calibri" pitchFamily="34" charset="-122"/>
                <a:cs typeface="Calibri" pitchFamily="34" charset="-120"/>
              </a:rPr>
              <a:t>Draft and submit the research paper</a:t>
            </a:r>
            <a:endParaRPr lang="en-US" sz="1150" dirty="0"/>
          </a:p>
          <a:p>
            <a:pPr marL="177800" indent="-177800">
              <a:spcAft>
                <a:spcPts val="1000"/>
              </a:spcAft>
              <a:buSzPct val="100000"/>
              <a:buChar char="•"/>
            </a:pPr>
            <a:r>
              <a:rPr lang="en-US" sz="1150" dirty="0">
                <a:solidFill>
                  <a:srgbClr val="1F2937"/>
                </a:solidFill>
                <a:latin typeface="Calibri" pitchFamily="34" charset="0"/>
                <a:ea typeface="Calibri" pitchFamily="34" charset="-122"/>
                <a:cs typeface="Calibri" pitchFamily="34" charset="-120"/>
              </a:rPr>
              <a:t>Stress-test beyond 80 nodes</a:t>
            </a:r>
            <a:endParaRPr lang="en-US" sz="1150" dirty="0"/>
          </a:p>
        </p:txBody>
      </p:sp>
      <p:sp>
        <p:nvSpPr>
          <p:cNvPr id="9" name="Text 10"/>
          <p:cNvSpPr txBox="1"/>
          <p:nvPr/>
        </p:nvSpPr>
        <p:spPr>
          <a:xfrm>
            <a:off x="1051560" y="4709160"/>
            <a:ext cx="10088575" cy="457200"/>
          </a:xfrm>
          <a:prstGeom prst="rect">
            <a:avLst/>
          </a:prstGeom>
          <a:noFill/>
          <a:ln/>
        </p:spPr>
        <p:txBody>
          <a:bodyPr wrap="square" lIns="0" tIns="0" rIns="0" bIns="0" rtlCol="0" anchor="ctr"/>
          <a:lstStyle/>
          <a:p>
            <a:pPr marL="0" indent="0" algn="ctr">
              <a:buNone/>
            </a:pPr>
            <a:r>
              <a:rPr lang="en-US" sz="1300" b="1" dirty="0">
                <a:solidFill>
                  <a:srgbClr val="8A1C1C"/>
                </a:solidFill>
                <a:latin typeface="Calibri" pitchFamily="34" charset="0"/>
                <a:ea typeface="Calibri" pitchFamily="34" charset="-122"/>
                <a:cs typeface="Calibri" pitchFamily="34" charset="-120"/>
              </a:rPr>
              <a:t>Research and development stage — core components in progress; results pending reproducible logs</a:t>
            </a:r>
            <a:endParaRPr lang="en-US" sz="13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7F9FC"/>
        </a:solidFill>
        <a:effectLst/>
      </p:bgPr>
    </p:bg>
    <p:spTree>
      <p:nvGrpSpPr>
        <p:cNvPr id="1" name=""/>
        <p:cNvGrpSpPr/>
        <p:nvPr/>
      </p:nvGrpSpPr>
      <p:grpSpPr>
        <a:xfrm>
          <a:off x="0" y="0"/>
          <a:ext cx="0" cy="0"/>
          <a:chOff x="0" y="0"/>
          <a:chExt cx="0" cy="0"/>
        </a:xfrm>
      </p:grpSpPr>
      <p:sp>
        <p:nvSpPr>
          <p:cNvPr id="2" name="Shape 0"/>
          <p:cNvSpPr/>
          <p:nvPr/>
        </p:nvSpPr>
        <p:spPr>
          <a:xfrm>
            <a:off x="0" y="0"/>
            <a:ext cx="12191695" cy="256032"/>
          </a:xfrm>
          <a:prstGeom prst="rect">
            <a:avLst/>
          </a:prstGeom>
          <a:solidFill>
            <a:srgbClr val="17365D"/>
          </a:solidFill>
          <a:ln w="12700">
            <a:solidFill>
              <a:srgbClr val="17365D"/>
            </a:solidFill>
            <a:prstDash val="solid"/>
          </a:ln>
        </p:spPr>
      </p:sp>
      <p:sp>
        <p:nvSpPr>
          <p:cNvPr id="3" name="Text 1"/>
          <p:cNvSpPr txBox="1"/>
          <p:nvPr/>
        </p:nvSpPr>
        <p:spPr>
          <a:xfrm>
            <a:off x="594360" y="475488"/>
            <a:ext cx="10607040" cy="438912"/>
          </a:xfrm>
          <a:prstGeom prst="rect">
            <a:avLst/>
          </a:prstGeom>
          <a:noFill/>
          <a:ln/>
        </p:spPr>
        <p:txBody>
          <a:bodyPr wrap="square" lIns="0" tIns="0" rIns="0" bIns="0" rtlCol="0" anchor="ctr"/>
          <a:lstStyle/>
          <a:p>
            <a:pPr marL="0" indent="0" algn="l">
              <a:buNone/>
            </a:pPr>
            <a:r>
              <a:rPr lang="en-US" sz="2400" b="1" dirty="0">
                <a:solidFill>
                  <a:srgbClr val="17365D"/>
                </a:solidFill>
                <a:latin typeface="Calibri" pitchFamily="34" charset="0"/>
                <a:ea typeface="Calibri" pitchFamily="34" charset="-122"/>
                <a:cs typeface="Calibri" pitchFamily="34" charset="-120"/>
              </a:rPr>
              <a:t>13. Research Paper Status</a:t>
            </a:r>
            <a:endParaRPr lang="en-US" sz="2400" dirty="0"/>
          </a:p>
        </p:txBody>
      </p:sp>
      <p:sp>
        <p:nvSpPr>
          <p:cNvPr id="4" name="Shape 2"/>
          <p:cNvSpPr/>
          <p:nvPr/>
        </p:nvSpPr>
        <p:spPr>
          <a:xfrm>
            <a:off x="594360" y="1005840"/>
            <a:ext cx="1097280" cy="0"/>
          </a:xfrm>
          <a:prstGeom prst="line">
            <a:avLst/>
          </a:prstGeom>
          <a:noFill/>
          <a:ln w="38100">
            <a:solidFill>
              <a:srgbClr val="8A1C1C"/>
            </a:solidFill>
            <a:prstDash val="solid"/>
          </a:ln>
        </p:spPr>
      </p:sp>
      <p:sp>
        <p:nvSpPr>
          <p:cNvPr id="5" name="Text 3"/>
          <p:cNvSpPr txBox="1"/>
          <p:nvPr/>
        </p:nvSpPr>
        <p:spPr>
          <a:xfrm>
            <a:off x="1920240" y="877824"/>
            <a:ext cx="8961120" cy="274320"/>
          </a:xfrm>
          <a:prstGeom prst="rect">
            <a:avLst/>
          </a:prstGeom>
          <a:noFill/>
          <a:ln/>
        </p:spPr>
        <p:txBody>
          <a:bodyPr wrap="square" lIns="0" tIns="0" rIns="0" bIns="0" rtlCol="0" anchor="ctr"/>
          <a:lstStyle/>
          <a:p>
            <a:pPr marL="0" indent="0" algn="l">
              <a:buNone/>
            </a:pPr>
            <a:r>
              <a:rPr lang="en-US" sz="1200" dirty="0">
                <a:solidFill>
                  <a:srgbClr val="5D6B7A"/>
                </a:solidFill>
                <a:latin typeface="Calibri" pitchFamily="34" charset="0"/>
                <a:ea typeface="Calibri" pitchFamily="34" charset="-122"/>
                <a:cs typeface="Calibri" pitchFamily="34" charset="-120"/>
              </a:rPr>
              <a:t>Draft in progress — fields below to be confirmed by the team</a:t>
            </a:r>
            <a:endParaRPr lang="en-US" sz="1200" dirty="0"/>
          </a:p>
        </p:txBody>
      </p:sp>
      <p:sp>
        <p:nvSpPr>
          <p:cNvPr id="6" name="Shape 4"/>
          <p:cNvSpPr/>
          <p:nvPr/>
        </p:nvSpPr>
        <p:spPr>
          <a:xfrm>
            <a:off x="594360" y="6446520"/>
            <a:ext cx="11002975" cy="0"/>
          </a:xfrm>
          <a:prstGeom prst="line">
            <a:avLst/>
          </a:prstGeom>
          <a:noFill/>
          <a:ln w="9525">
            <a:solidFill>
              <a:srgbClr val="CBD5E1"/>
            </a:solidFill>
            <a:prstDash val="solid"/>
          </a:ln>
        </p:spPr>
      </p:sp>
      <p:sp>
        <p:nvSpPr>
          <p:cNvPr id="7" name="Text 5"/>
          <p:cNvSpPr txBox="1"/>
          <p:nvPr/>
        </p:nvSpPr>
        <p:spPr>
          <a:xfrm>
            <a:off x="594360" y="6492240"/>
            <a:ext cx="6858000" cy="219456"/>
          </a:xfrm>
          <a:prstGeom prst="rect">
            <a:avLst/>
          </a:prstGeom>
          <a:noFill/>
          <a:ln/>
        </p:spPr>
        <p:txBody>
          <a:bodyPr wrap="square" lIns="0" tIns="0" rIns="0" bIns="0" rtlCol="0" anchor="ctr"/>
          <a:lstStyle/>
          <a:p>
            <a:pPr marL="0" indent="0" algn="l">
              <a:buNone/>
            </a:pPr>
            <a:r>
              <a:rPr lang="en-US" sz="900" dirty="0">
                <a:solidFill>
                  <a:srgbClr val="5D6B7A"/>
                </a:solidFill>
                <a:latin typeface="Calibri" pitchFamily="34" charset="0"/>
                <a:ea typeface="Calibri" pitchFamily="34" charset="-122"/>
                <a:cs typeface="Calibri" pitchFamily="34" charset="-120"/>
              </a:rPr>
              <a:t>KPR Institute of Engineering and Technology  |  Department of Information Technology</a:t>
            </a:r>
            <a:endParaRPr lang="en-US" sz="900" dirty="0"/>
          </a:p>
        </p:txBody>
      </p:sp>
      <p:sp>
        <p:nvSpPr>
          <p:cNvPr id="8" name="Text 6"/>
          <p:cNvSpPr txBox="1"/>
          <p:nvPr/>
        </p:nvSpPr>
        <p:spPr>
          <a:xfrm>
            <a:off x="7939735" y="6492240"/>
            <a:ext cx="3657600" cy="219456"/>
          </a:xfrm>
          <a:prstGeom prst="rect">
            <a:avLst/>
          </a:prstGeom>
          <a:noFill/>
          <a:ln/>
        </p:spPr>
        <p:txBody>
          <a:bodyPr wrap="square" lIns="0" tIns="0" rIns="0" bIns="0" rtlCol="0" anchor="ctr"/>
          <a:lstStyle/>
          <a:p>
            <a:pPr marL="0" indent="0" algn="r">
              <a:buNone/>
            </a:pPr>
            <a:r>
              <a:rPr lang="en-US" sz="900" b="1" dirty="0">
                <a:solidFill>
                  <a:srgbClr val="8A1C1C"/>
                </a:solidFill>
                <a:latin typeface="Calibri" pitchFamily="34" charset="0"/>
                <a:ea typeface="Calibri" pitchFamily="34" charset="-122"/>
                <a:cs typeface="Calibri" pitchFamily="34" charset="-120"/>
              </a:rPr>
              <a:t> REVIEW - III  |   13</a:t>
            </a:r>
            <a:endParaRPr lang="en-US" sz="900" dirty="0"/>
          </a:p>
        </p:txBody>
      </p:sp>
      <p:sp>
        <p:nvSpPr>
          <p:cNvPr id="9" name="Text 7"/>
          <p:cNvSpPr txBox="1"/>
          <p:nvPr/>
        </p:nvSpPr>
        <p:spPr>
          <a:xfrm>
            <a:off x="594360" y="1508760"/>
            <a:ext cx="2743200" cy="384048"/>
          </a:xfrm>
          <a:prstGeom prst="rect">
            <a:avLst/>
          </a:prstGeom>
          <a:noFill/>
          <a:ln/>
        </p:spPr>
        <p:txBody>
          <a:bodyPr wrap="square" lIns="0" tIns="0" rIns="0" bIns="0" rtlCol="0" anchor="ctr"/>
          <a:lstStyle/>
          <a:p>
            <a:pPr marL="0" indent="0">
              <a:buNone/>
            </a:pPr>
            <a:r>
              <a:rPr lang="en-US" sz="1250" b="1" dirty="0">
                <a:solidFill>
                  <a:srgbClr val="17365D"/>
                </a:solidFill>
                <a:latin typeface="Calibri" pitchFamily="34" charset="0"/>
                <a:ea typeface="Calibri" pitchFamily="34" charset="-122"/>
                <a:cs typeface="Calibri" pitchFamily="34" charset="-120"/>
              </a:rPr>
              <a:t>Paper title</a:t>
            </a:r>
            <a:endParaRPr lang="en-US" sz="1250" dirty="0"/>
          </a:p>
        </p:txBody>
      </p:sp>
      <p:sp>
        <p:nvSpPr>
          <p:cNvPr id="10" name="Shape 8"/>
          <p:cNvSpPr/>
          <p:nvPr/>
        </p:nvSpPr>
        <p:spPr>
          <a:xfrm>
            <a:off x="3337560" y="1508760"/>
            <a:ext cx="8259775" cy="384048"/>
          </a:xfrm>
          <a:prstGeom prst="roundRect">
            <a:avLst>
              <a:gd name="adj" fmla="val 11905"/>
            </a:avLst>
          </a:prstGeom>
          <a:solidFill>
            <a:srgbClr val="FFFFFF"/>
          </a:solidFill>
          <a:ln w="12700">
            <a:solidFill>
              <a:srgbClr val="CBD5E1"/>
            </a:solidFill>
            <a:prstDash val="solid"/>
          </a:ln>
        </p:spPr>
      </p:sp>
      <p:sp>
        <p:nvSpPr>
          <p:cNvPr id="11" name="Text 9"/>
          <p:cNvSpPr txBox="1"/>
          <p:nvPr/>
        </p:nvSpPr>
        <p:spPr>
          <a:xfrm>
            <a:off x="3474720" y="1508760"/>
            <a:ext cx="7985455" cy="384048"/>
          </a:xfrm>
          <a:prstGeom prst="rect">
            <a:avLst/>
          </a:prstGeom>
          <a:noFill/>
          <a:ln/>
        </p:spPr>
        <p:txBody>
          <a:bodyPr wrap="square" lIns="0" tIns="0" rIns="0" bIns="0" rtlCol="0" anchor="ctr"/>
          <a:lstStyle/>
          <a:p>
            <a:r>
              <a:rPr lang="en-US" sz="1200" dirty="0" err="1"/>
              <a:t>NeuroNet</a:t>
            </a:r>
            <a:r>
              <a:rPr lang="en-US" sz="1200" dirty="0"/>
              <a:t>: Adaptive Fault Remediation in Software-Defined Networks Using Dueling Deep Q-Learning</a:t>
            </a:r>
          </a:p>
        </p:txBody>
      </p:sp>
      <p:sp>
        <p:nvSpPr>
          <p:cNvPr id="12" name="Text 10"/>
          <p:cNvSpPr txBox="1"/>
          <p:nvPr/>
        </p:nvSpPr>
        <p:spPr>
          <a:xfrm>
            <a:off x="594360" y="2020824"/>
            <a:ext cx="2743200" cy="384048"/>
          </a:xfrm>
          <a:prstGeom prst="rect">
            <a:avLst/>
          </a:prstGeom>
          <a:noFill/>
          <a:ln/>
        </p:spPr>
        <p:txBody>
          <a:bodyPr wrap="square" lIns="0" tIns="0" rIns="0" bIns="0" rtlCol="0" anchor="ctr"/>
          <a:lstStyle/>
          <a:p>
            <a:pPr marL="0" indent="0">
              <a:buNone/>
            </a:pPr>
            <a:r>
              <a:rPr lang="en-US" sz="1250" b="1" dirty="0">
                <a:solidFill>
                  <a:srgbClr val="17365D"/>
                </a:solidFill>
                <a:latin typeface="Calibri" pitchFamily="34" charset="0"/>
                <a:ea typeface="Calibri" pitchFamily="34" charset="-122"/>
                <a:cs typeface="Calibri" pitchFamily="34" charset="-120"/>
              </a:rPr>
              <a:t>Target conference / journal</a:t>
            </a:r>
            <a:endParaRPr lang="en-US" sz="1250" dirty="0"/>
          </a:p>
        </p:txBody>
      </p:sp>
      <p:sp>
        <p:nvSpPr>
          <p:cNvPr id="13" name="Shape 11"/>
          <p:cNvSpPr/>
          <p:nvPr/>
        </p:nvSpPr>
        <p:spPr>
          <a:xfrm>
            <a:off x="3337560" y="2020824"/>
            <a:ext cx="8259775" cy="384048"/>
          </a:xfrm>
          <a:prstGeom prst="roundRect">
            <a:avLst>
              <a:gd name="adj" fmla="val 11905"/>
            </a:avLst>
          </a:prstGeom>
          <a:solidFill>
            <a:srgbClr val="FFFFFF"/>
          </a:solidFill>
          <a:ln w="12700">
            <a:solidFill>
              <a:srgbClr val="CBD5E1"/>
            </a:solidFill>
            <a:prstDash val="solid"/>
          </a:ln>
        </p:spPr>
      </p:sp>
      <p:sp>
        <p:nvSpPr>
          <p:cNvPr id="14" name="Text 12"/>
          <p:cNvSpPr txBox="1"/>
          <p:nvPr/>
        </p:nvSpPr>
        <p:spPr>
          <a:xfrm>
            <a:off x="3474720" y="2020824"/>
            <a:ext cx="7985455" cy="384048"/>
          </a:xfrm>
          <a:prstGeom prst="rect">
            <a:avLst/>
          </a:prstGeom>
          <a:noFill/>
          <a:ln/>
        </p:spPr>
        <p:txBody>
          <a:bodyPr wrap="square" lIns="0" tIns="0" rIns="0" bIns="0" rtlCol="0" anchor="ctr"/>
          <a:lstStyle/>
          <a:p>
            <a:pPr marL="0" indent="0">
              <a:buNone/>
            </a:pPr>
            <a:r>
              <a:rPr lang="en-US" sz="1200" dirty="0">
                <a:solidFill>
                  <a:srgbClr val="1F2937"/>
                </a:solidFill>
                <a:latin typeface="Calibri" pitchFamily="34" charset="0"/>
                <a:ea typeface="Calibri" pitchFamily="34" charset="-122"/>
                <a:cs typeface="Calibri" pitchFamily="34" charset="-120"/>
              </a:rPr>
              <a:t> Conference / Journal  </a:t>
            </a:r>
            <a:endParaRPr lang="en-US" sz="1200" dirty="0"/>
          </a:p>
        </p:txBody>
      </p:sp>
      <p:sp>
        <p:nvSpPr>
          <p:cNvPr id="15" name="Text 13"/>
          <p:cNvSpPr txBox="1"/>
          <p:nvPr/>
        </p:nvSpPr>
        <p:spPr>
          <a:xfrm>
            <a:off x="594360" y="2532888"/>
            <a:ext cx="2743200" cy="384048"/>
          </a:xfrm>
          <a:prstGeom prst="rect">
            <a:avLst/>
          </a:prstGeom>
          <a:noFill/>
          <a:ln/>
        </p:spPr>
        <p:txBody>
          <a:bodyPr wrap="square" lIns="0" tIns="0" rIns="0" bIns="0" rtlCol="0" anchor="ctr"/>
          <a:lstStyle/>
          <a:p>
            <a:pPr marL="0" indent="0">
              <a:buNone/>
            </a:pPr>
            <a:r>
              <a:rPr lang="en-US" sz="1250" b="1" dirty="0">
                <a:solidFill>
                  <a:srgbClr val="17365D"/>
                </a:solidFill>
                <a:latin typeface="Calibri" pitchFamily="34" charset="0"/>
                <a:ea typeface="Calibri" pitchFamily="34" charset="-122"/>
                <a:cs typeface="Calibri" pitchFamily="34" charset="-120"/>
              </a:rPr>
              <a:t>Current status</a:t>
            </a:r>
            <a:endParaRPr lang="en-US" sz="1250" dirty="0"/>
          </a:p>
        </p:txBody>
      </p:sp>
      <p:sp>
        <p:nvSpPr>
          <p:cNvPr id="16" name="Shape 14"/>
          <p:cNvSpPr/>
          <p:nvPr/>
        </p:nvSpPr>
        <p:spPr>
          <a:xfrm>
            <a:off x="3337560" y="2532888"/>
            <a:ext cx="8259775" cy="384048"/>
          </a:xfrm>
          <a:prstGeom prst="roundRect">
            <a:avLst>
              <a:gd name="adj" fmla="val 11905"/>
            </a:avLst>
          </a:prstGeom>
          <a:solidFill>
            <a:srgbClr val="FFFFFF"/>
          </a:solidFill>
          <a:ln w="12700">
            <a:solidFill>
              <a:srgbClr val="CBD5E1"/>
            </a:solidFill>
            <a:prstDash val="solid"/>
          </a:ln>
        </p:spPr>
      </p:sp>
      <p:sp>
        <p:nvSpPr>
          <p:cNvPr id="17" name="Text 15"/>
          <p:cNvSpPr txBox="1"/>
          <p:nvPr/>
        </p:nvSpPr>
        <p:spPr>
          <a:xfrm>
            <a:off x="3474720" y="2532888"/>
            <a:ext cx="7985455" cy="384048"/>
          </a:xfrm>
          <a:prstGeom prst="rect">
            <a:avLst/>
          </a:prstGeom>
          <a:noFill/>
          <a:ln/>
        </p:spPr>
        <p:txBody>
          <a:bodyPr wrap="square" lIns="0" tIns="0" rIns="0" bIns="0" rtlCol="0" anchor="ctr"/>
          <a:lstStyle/>
          <a:p>
            <a:pPr marL="0" indent="0">
              <a:buNone/>
            </a:pPr>
            <a:r>
              <a:rPr lang="en-US" sz="1200" dirty="0">
                <a:solidFill>
                  <a:srgbClr val="1F2937"/>
                </a:solidFill>
                <a:latin typeface="Calibri" pitchFamily="34" charset="0"/>
                <a:ea typeface="Calibri" pitchFamily="34" charset="-122"/>
                <a:cs typeface="Calibri" pitchFamily="34" charset="-120"/>
              </a:rPr>
              <a:t>Drafted</a:t>
            </a:r>
            <a:endParaRPr lang="en-US" sz="1200" dirty="0"/>
          </a:p>
        </p:txBody>
      </p:sp>
      <p:sp>
        <p:nvSpPr>
          <p:cNvPr id="18" name="Text 16"/>
          <p:cNvSpPr txBox="1"/>
          <p:nvPr/>
        </p:nvSpPr>
        <p:spPr>
          <a:xfrm>
            <a:off x="594360" y="3044952"/>
            <a:ext cx="2743200" cy="384048"/>
          </a:xfrm>
          <a:prstGeom prst="rect">
            <a:avLst/>
          </a:prstGeom>
          <a:noFill/>
          <a:ln/>
        </p:spPr>
        <p:txBody>
          <a:bodyPr wrap="square" lIns="0" tIns="0" rIns="0" bIns="0" rtlCol="0" anchor="ctr"/>
          <a:lstStyle/>
          <a:p>
            <a:pPr marL="0" indent="0">
              <a:buNone/>
            </a:pPr>
            <a:r>
              <a:rPr lang="en-US" sz="1250" b="1" dirty="0">
                <a:solidFill>
                  <a:srgbClr val="17365D"/>
                </a:solidFill>
                <a:latin typeface="Calibri" pitchFamily="34" charset="0"/>
                <a:ea typeface="Calibri" pitchFamily="34" charset="-122"/>
                <a:cs typeface="Calibri" pitchFamily="34" charset="-120"/>
              </a:rPr>
              <a:t>Target submission date</a:t>
            </a:r>
            <a:endParaRPr lang="en-US" sz="1250" dirty="0"/>
          </a:p>
        </p:txBody>
      </p:sp>
      <p:sp>
        <p:nvSpPr>
          <p:cNvPr id="19" name="Shape 17"/>
          <p:cNvSpPr/>
          <p:nvPr/>
        </p:nvSpPr>
        <p:spPr>
          <a:xfrm>
            <a:off x="3337560" y="3044952"/>
            <a:ext cx="8259775" cy="384048"/>
          </a:xfrm>
          <a:prstGeom prst="roundRect">
            <a:avLst>
              <a:gd name="adj" fmla="val 11905"/>
            </a:avLst>
          </a:prstGeom>
          <a:solidFill>
            <a:srgbClr val="FFFFFF"/>
          </a:solidFill>
          <a:ln w="12700">
            <a:solidFill>
              <a:srgbClr val="CBD5E1"/>
            </a:solidFill>
            <a:prstDash val="solid"/>
          </a:ln>
        </p:spPr>
      </p:sp>
      <p:sp>
        <p:nvSpPr>
          <p:cNvPr id="20" name="Text 18"/>
          <p:cNvSpPr txBox="1"/>
          <p:nvPr/>
        </p:nvSpPr>
        <p:spPr>
          <a:xfrm>
            <a:off x="3474720" y="3044952"/>
            <a:ext cx="7985455" cy="384048"/>
          </a:xfrm>
          <a:prstGeom prst="rect">
            <a:avLst/>
          </a:prstGeom>
          <a:noFill/>
          <a:ln/>
        </p:spPr>
        <p:txBody>
          <a:bodyPr wrap="square" lIns="0" tIns="0" rIns="0" bIns="0" rtlCol="0" anchor="ctr"/>
          <a:lstStyle/>
          <a:p>
            <a:pPr marL="0" indent="0">
              <a:buNone/>
            </a:pPr>
            <a:r>
              <a:rPr lang="en-US" sz="1200" dirty="0">
                <a:solidFill>
                  <a:srgbClr val="1F2937"/>
                </a:solidFill>
                <a:latin typeface="Calibri" pitchFamily="34" charset="0"/>
                <a:ea typeface="Calibri" pitchFamily="34" charset="-122"/>
                <a:cs typeface="Calibri" pitchFamily="34" charset="-120"/>
              </a:rPr>
              <a:t>Dec</a:t>
            </a:r>
            <a:endParaRPr lang="en-US" sz="1200" dirty="0"/>
          </a:p>
        </p:txBody>
      </p:sp>
      <p:sp>
        <p:nvSpPr>
          <p:cNvPr id="21" name="Text 19"/>
          <p:cNvSpPr txBox="1"/>
          <p:nvPr/>
        </p:nvSpPr>
        <p:spPr>
          <a:xfrm>
            <a:off x="594360" y="3557016"/>
            <a:ext cx="2743200" cy="384048"/>
          </a:xfrm>
          <a:prstGeom prst="rect">
            <a:avLst/>
          </a:prstGeom>
          <a:noFill/>
          <a:ln/>
        </p:spPr>
        <p:txBody>
          <a:bodyPr wrap="square" lIns="0" tIns="0" rIns="0" bIns="0" rtlCol="0" anchor="ctr"/>
          <a:lstStyle/>
          <a:p>
            <a:pPr marL="0" indent="0">
              <a:buNone/>
            </a:pPr>
            <a:r>
              <a:rPr lang="en-US" sz="1250" b="1" dirty="0">
                <a:solidFill>
                  <a:srgbClr val="17365D"/>
                </a:solidFill>
                <a:latin typeface="Calibri" pitchFamily="34" charset="0"/>
                <a:ea typeface="Calibri" pitchFamily="34" charset="-122"/>
                <a:cs typeface="Calibri" pitchFamily="34" charset="-120"/>
              </a:rPr>
              <a:t>Sections drafted</a:t>
            </a:r>
            <a:endParaRPr lang="en-US" sz="1250" dirty="0"/>
          </a:p>
        </p:txBody>
      </p:sp>
      <p:sp>
        <p:nvSpPr>
          <p:cNvPr id="22" name="Shape 20"/>
          <p:cNvSpPr/>
          <p:nvPr/>
        </p:nvSpPr>
        <p:spPr>
          <a:xfrm>
            <a:off x="3337560" y="3557016"/>
            <a:ext cx="8259775" cy="384048"/>
          </a:xfrm>
          <a:prstGeom prst="roundRect">
            <a:avLst>
              <a:gd name="adj" fmla="val 11905"/>
            </a:avLst>
          </a:prstGeom>
          <a:solidFill>
            <a:srgbClr val="FFFFFF"/>
          </a:solidFill>
          <a:ln w="12700">
            <a:solidFill>
              <a:srgbClr val="CBD5E1"/>
            </a:solidFill>
            <a:prstDash val="solid"/>
          </a:ln>
        </p:spPr>
      </p:sp>
      <p:sp>
        <p:nvSpPr>
          <p:cNvPr id="23" name="Text 21"/>
          <p:cNvSpPr txBox="1"/>
          <p:nvPr/>
        </p:nvSpPr>
        <p:spPr>
          <a:xfrm>
            <a:off x="3474720" y="3648777"/>
            <a:ext cx="7985455" cy="384048"/>
          </a:xfrm>
          <a:prstGeom prst="rect">
            <a:avLst/>
          </a:prstGeom>
          <a:noFill/>
          <a:ln/>
        </p:spPr>
        <p:txBody>
          <a:bodyPr wrap="square" lIns="0" tIns="0" rIns="0" bIns="0" rtlCol="0" anchor="ctr"/>
          <a:lstStyle/>
          <a:p>
            <a:r>
              <a:rPr lang="en-US" sz="1200" dirty="0"/>
              <a:t>Abstract , Introduction , Literature Survey , Methodology , Implementation , Algorithm , Results and Experiments , Discussion and Limitations ,  Conclusion , References</a:t>
            </a:r>
          </a:p>
          <a:p>
            <a:endParaRPr lang="en-US" sz="1200" dirty="0"/>
          </a:p>
        </p:txBody>
      </p:sp>
      <p:sp>
        <p:nvSpPr>
          <p:cNvPr id="24" name="Text 22"/>
          <p:cNvSpPr txBox="1"/>
          <p:nvPr/>
        </p:nvSpPr>
        <p:spPr>
          <a:xfrm>
            <a:off x="594360" y="4069080"/>
            <a:ext cx="2743200" cy="384048"/>
          </a:xfrm>
          <a:prstGeom prst="rect">
            <a:avLst/>
          </a:prstGeom>
          <a:noFill/>
          <a:ln/>
        </p:spPr>
        <p:txBody>
          <a:bodyPr wrap="square" lIns="0" tIns="0" rIns="0" bIns="0" rtlCol="0" anchor="ctr"/>
          <a:lstStyle/>
          <a:p>
            <a:pPr marL="0" indent="0">
              <a:buNone/>
            </a:pPr>
            <a:r>
              <a:rPr lang="en-US" sz="1250" b="1" dirty="0">
                <a:solidFill>
                  <a:srgbClr val="17365D"/>
                </a:solidFill>
                <a:latin typeface="Calibri" pitchFamily="34" charset="0"/>
                <a:ea typeface="Calibri" pitchFamily="34" charset="-122"/>
                <a:cs typeface="Calibri" pitchFamily="34" charset="-120"/>
              </a:rPr>
              <a:t>Sections pending</a:t>
            </a:r>
            <a:endParaRPr lang="en-US" sz="1250" dirty="0"/>
          </a:p>
        </p:txBody>
      </p:sp>
      <p:sp>
        <p:nvSpPr>
          <p:cNvPr id="25" name="Shape 23"/>
          <p:cNvSpPr/>
          <p:nvPr/>
        </p:nvSpPr>
        <p:spPr>
          <a:xfrm>
            <a:off x="3337560" y="4069080"/>
            <a:ext cx="8259775" cy="384048"/>
          </a:xfrm>
          <a:prstGeom prst="roundRect">
            <a:avLst>
              <a:gd name="adj" fmla="val 11905"/>
            </a:avLst>
          </a:prstGeom>
          <a:solidFill>
            <a:srgbClr val="FFFFFF"/>
          </a:solidFill>
          <a:ln w="12700">
            <a:solidFill>
              <a:srgbClr val="CBD5E1"/>
            </a:solidFill>
            <a:prstDash val="solid"/>
          </a:ln>
        </p:spPr>
        <p:txBody>
          <a:bodyPr/>
          <a:lstStyle/>
          <a:p>
            <a:endParaRPr lang="en-IN" dirty="0"/>
          </a:p>
        </p:txBody>
      </p:sp>
      <p:sp>
        <p:nvSpPr>
          <p:cNvPr id="26" name="Text 24"/>
          <p:cNvSpPr txBox="1"/>
          <p:nvPr/>
        </p:nvSpPr>
        <p:spPr>
          <a:xfrm>
            <a:off x="3474720" y="4069080"/>
            <a:ext cx="7985455" cy="384048"/>
          </a:xfrm>
          <a:prstGeom prst="rect">
            <a:avLst/>
          </a:prstGeom>
          <a:noFill/>
          <a:ln/>
        </p:spPr>
        <p:txBody>
          <a:bodyPr wrap="square" lIns="0" tIns="0" rIns="0" bIns="0" rtlCol="0" anchor="ctr"/>
          <a:lstStyle/>
          <a:p>
            <a:pPr marL="0" indent="0">
              <a:buNone/>
            </a:pPr>
            <a:r>
              <a:rPr lang="en-US" sz="1200" dirty="0">
                <a:solidFill>
                  <a:srgbClr val="1F2937"/>
                </a:solidFill>
                <a:latin typeface="Calibri" pitchFamily="34" charset="0"/>
                <a:ea typeface="Calibri" pitchFamily="34" charset="-122"/>
                <a:cs typeface="Calibri" pitchFamily="34" charset="-120"/>
              </a:rPr>
              <a:t>NIL</a:t>
            </a:r>
            <a:endParaRPr lang="en-US" sz="1200" dirty="0"/>
          </a:p>
        </p:txBody>
      </p:sp>
      <p:sp>
        <p:nvSpPr>
          <p:cNvPr id="27" name="Shape 25"/>
          <p:cNvSpPr/>
          <p:nvPr/>
        </p:nvSpPr>
        <p:spPr>
          <a:xfrm>
            <a:off x="594360" y="4718304"/>
            <a:ext cx="11002975" cy="512064"/>
          </a:xfrm>
          <a:prstGeom prst="roundRect">
            <a:avLst>
              <a:gd name="adj" fmla="val 14286"/>
            </a:avLst>
          </a:prstGeom>
          <a:solidFill>
            <a:srgbClr val="FFF8E7"/>
          </a:solidFill>
          <a:ln w="12700">
            <a:solidFill>
              <a:srgbClr val="E8C76C"/>
            </a:solidFill>
            <a:prstDash val="solid"/>
          </a:ln>
        </p:spPr>
      </p:sp>
      <p:sp>
        <p:nvSpPr>
          <p:cNvPr id="28" name="Text 26"/>
          <p:cNvSpPr txBox="1"/>
          <p:nvPr/>
        </p:nvSpPr>
        <p:spPr>
          <a:xfrm>
            <a:off x="868680" y="4718304"/>
            <a:ext cx="10454335" cy="512064"/>
          </a:xfrm>
          <a:prstGeom prst="rect">
            <a:avLst/>
          </a:prstGeom>
          <a:noFill/>
          <a:ln/>
        </p:spPr>
        <p:txBody>
          <a:bodyPr wrap="square" lIns="0" tIns="0" rIns="0" bIns="0" rtlCol="0" anchor="ctr"/>
          <a:lstStyle/>
          <a:p>
            <a:pPr marL="0" indent="0" algn="ctr">
              <a:buNone/>
            </a:pPr>
            <a:r>
              <a:rPr lang="en-US" sz="1250" b="1" dirty="0">
                <a:solidFill>
                  <a:srgbClr val="17365D"/>
                </a:solidFill>
                <a:latin typeface="Calibri" pitchFamily="34" charset="0"/>
                <a:ea typeface="Calibri" pitchFamily="34" charset="-122"/>
                <a:cs typeface="Calibri" pitchFamily="34" charset="-120"/>
              </a:rPr>
              <a:t>Fields marked Undecided will be fixed with the guide</a:t>
            </a:r>
            <a:endParaRPr lang="en-US" sz="12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7F9FC"/>
        </a:solidFill>
        <a:effectLst/>
      </p:bgPr>
    </p:bg>
    <p:spTree>
      <p:nvGrpSpPr>
        <p:cNvPr id="1" name=""/>
        <p:cNvGrpSpPr/>
        <p:nvPr/>
      </p:nvGrpSpPr>
      <p:grpSpPr>
        <a:xfrm>
          <a:off x="0" y="0"/>
          <a:ext cx="0" cy="0"/>
          <a:chOff x="0" y="0"/>
          <a:chExt cx="0" cy="0"/>
        </a:xfrm>
      </p:grpSpPr>
      <p:sp>
        <p:nvSpPr>
          <p:cNvPr id="2" name="Shape 0"/>
          <p:cNvSpPr/>
          <p:nvPr/>
        </p:nvSpPr>
        <p:spPr>
          <a:xfrm>
            <a:off x="0" y="0"/>
            <a:ext cx="12191695" cy="256032"/>
          </a:xfrm>
          <a:prstGeom prst="rect">
            <a:avLst/>
          </a:prstGeom>
          <a:solidFill>
            <a:srgbClr val="17365D"/>
          </a:solidFill>
          <a:ln w="12700">
            <a:solidFill>
              <a:srgbClr val="17365D"/>
            </a:solidFill>
            <a:prstDash val="solid"/>
          </a:ln>
        </p:spPr>
      </p:sp>
      <p:sp>
        <p:nvSpPr>
          <p:cNvPr id="3" name="Text 1"/>
          <p:cNvSpPr txBox="1"/>
          <p:nvPr/>
        </p:nvSpPr>
        <p:spPr>
          <a:xfrm>
            <a:off x="594360" y="475488"/>
            <a:ext cx="10607040" cy="438912"/>
          </a:xfrm>
          <a:prstGeom prst="rect">
            <a:avLst/>
          </a:prstGeom>
          <a:noFill/>
          <a:ln/>
        </p:spPr>
        <p:txBody>
          <a:bodyPr wrap="square" lIns="0" tIns="0" rIns="0" bIns="0" rtlCol="0" anchor="ctr"/>
          <a:lstStyle/>
          <a:p>
            <a:pPr marL="0" indent="0" algn="l">
              <a:buNone/>
            </a:pPr>
            <a:r>
              <a:rPr lang="en-US" sz="2400" b="1" dirty="0">
                <a:solidFill>
                  <a:srgbClr val="17365D"/>
                </a:solidFill>
                <a:latin typeface="Calibri" pitchFamily="34" charset="0"/>
                <a:ea typeface="Calibri" pitchFamily="34" charset="-122"/>
                <a:cs typeface="Calibri" pitchFamily="34" charset="-120"/>
              </a:rPr>
              <a:t>14. Conclusion &amp; Q&amp;A</a:t>
            </a:r>
            <a:endParaRPr lang="en-US" sz="2400" dirty="0"/>
          </a:p>
        </p:txBody>
      </p:sp>
      <p:sp>
        <p:nvSpPr>
          <p:cNvPr id="4" name="Shape 2"/>
          <p:cNvSpPr/>
          <p:nvPr/>
        </p:nvSpPr>
        <p:spPr>
          <a:xfrm>
            <a:off x="594360" y="1005840"/>
            <a:ext cx="1097280" cy="0"/>
          </a:xfrm>
          <a:prstGeom prst="line">
            <a:avLst/>
          </a:prstGeom>
          <a:noFill/>
          <a:ln w="38100">
            <a:solidFill>
              <a:srgbClr val="8A1C1C"/>
            </a:solidFill>
            <a:prstDash val="solid"/>
          </a:ln>
        </p:spPr>
      </p:sp>
      <p:sp>
        <p:nvSpPr>
          <p:cNvPr id="5" name="Text 3"/>
          <p:cNvSpPr txBox="1"/>
          <p:nvPr/>
        </p:nvSpPr>
        <p:spPr>
          <a:xfrm>
            <a:off x="1920240" y="877824"/>
            <a:ext cx="8961120" cy="274320"/>
          </a:xfrm>
          <a:prstGeom prst="rect">
            <a:avLst/>
          </a:prstGeom>
          <a:noFill/>
          <a:ln/>
        </p:spPr>
        <p:txBody>
          <a:bodyPr wrap="square" lIns="0" tIns="0" rIns="0" bIns="0" rtlCol="0" anchor="ctr"/>
          <a:lstStyle/>
          <a:p>
            <a:pPr marL="0" indent="0" algn="l">
              <a:buNone/>
            </a:pPr>
            <a:r>
              <a:rPr lang="en-US" sz="1200" dirty="0">
                <a:solidFill>
                  <a:srgbClr val="5D6B7A"/>
                </a:solidFill>
                <a:latin typeface="Calibri" pitchFamily="34" charset="0"/>
                <a:ea typeface="Calibri" pitchFamily="34" charset="-122"/>
                <a:cs typeface="Calibri" pitchFamily="34" charset="-120"/>
              </a:rPr>
              <a:t>Where NeuroNet stands today</a:t>
            </a:r>
            <a:endParaRPr lang="en-US" sz="1200" dirty="0"/>
          </a:p>
        </p:txBody>
      </p:sp>
      <p:sp>
        <p:nvSpPr>
          <p:cNvPr id="6" name="Shape 4"/>
          <p:cNvSpPr/>
          <p:nvPr/>
        </p:nvSpPr>
        <p:spPr>
          <a:xfrm>
            <a:off x="594360" y="6446520"/>
            <a:ext cx="11002975" cy="0"/>
          </a:xfrm>
          <a:prstGeom prst="line">
            <a:avLst/>
          </a:prstGeom>
          <a:noFill/>
          <a:ln w="9525">
            <a:solidFill>
              <a:srgbClr val="CBD5E1"/>
            </a:solidFill>
            <a:prstDash val="solid"/>
          </a:ln>
        </p:spPr>
      </p:sp>
      <p:sp>
        <p:nvSpPr>
          <p:cNvPr id="7" name="Text 5"/>
          <p:cNvSpPr txBox="1"/>
          <p:nvPr/>
        </p:nvSpPr>
        <p:spPr>
          <a:xfrm>
            <a:off x="594360" y="6492240"/>
            <a:ext cx="6858000" cy="219456"/>
          </a:xfrm>
          <a:prstGeom prst="rect">
            <a:avLst/>
          </a:prstGeom>
          <a:noFill/>
          <a:ln/>
        </p:spPr>
        <p:txBody>
          <a:bodyPr wrap="square" lIns="0" tIns="0" rIns="0" bIns="0" rtlCol="0" anchor="ctr"/>
          <a:lstStyle/>
          <a:p>
            <a:pPr marL="0" indent="0" algn="l">
              <a:buNone/>
            </a:pPr>
            <a:r>
              <a:rPr lang="en-US" sz="900" dirty="0">
                <a:solidFill>
                  <a:srgbClr val="5D6B7A"/>
                </a:solidFill>
                <a:latin typeface="Calibri" pitchFamily="34" charset="0"/>
                <a:ea typeface="Calibri" pitchFamily="34" charset="-122"/>
                <a:cs typeface="Calibri" pitchFamily="34" charset="-120"/>
              </a:rPr>
              <a:t>KPR Institute of Engineering and Technology  |  Department of Information Technology</a:t>
            </a:r>
            <a:endParaRPr lang="en-US" sz="900" dirty="0"/>
          </a:p>
        </p:txBody>
      </p:sp>
      <p:sp>
        <p:nvSpPr>
          <p:cNvPr id="8" name="Text 6"/>
          <p:cNvSpPr txBox="1"/>
          <p:nvPr/>
        </p:nvSpPr>
        <p:spPr>
          <a:xfrm>
            <a:off x="7939735" y="6492240"/>
            <a:ext cx="3657600" cy="219456"/>
          </a:xfrm>
          <a:prstGeom prst="rect">
            <a:avLst/>
          </a:prstGeom>
          <a:noFill/>
          <a:ln/>
        </p:spPr>
        <p:txBody>
          <a:bodyPr wrap="square" lIns="0" tIns="0" rIns="0" bIns="0" rtlCol="0" anchor="ctr"/>
          <a:lstStyle/>
          <a:p>
            <a:pPr marL="0" indent="0" algn="r">
              <a:buNone/>
            </a:pPr>
            <a:r>
              <a:rPr lang="en-US" sz="900" b="1" dirty="0">
                <a:solidFill>
                  <a:srgbClr val="8A1C1C"/>
                </a:solidFill>
                <a:latin typeface="Calibri" pitchFamily="34" charset="0"/>
                <a:ea typeface="Calibri" pitchFamily="34" charset="-122"/>
                <a:cs typeface="Calibri" pitchFamily="34" charset="-120"/>
              </a:rPr>
              <a:t>REVIEW - III   |   14</a:t>
            </a:r>
            <a:endParaRPr lang="en-US" sz="900" dirty="0"/>
          </a:p>
        </p:txBody>
      </p:sp>
      <p:sp>
        <p:nvSpPr>
          <p:cNvPr id="9" name="Shape 7"/>
          <p:cNvSpPr/>
          <p:nvPr/>
        </p:nvSpPr>
        <p:spPr>
          <a:xfrm>
            <a:off x="594360" y="1463040"/>
            <a:ext cx="11002975" cy="1417320"/>
          </a:xfrm>
          <a:prstGeom prst="rect">
            <a:avLst/>
          </a:prstGeom>
          <a:solidFill>
            <a:srgbClr val="FFFFFF"/>
          </a:solidFill>
          <a:ln w="12700">
            <a:solidFill>
              <a:srgbClr val="AEB9C7"/>
            </a:solidFill>
            <a:prstDash val="solid"/>
          </a:ln>
        </p:spPr>
      </p:sp>
      <p:sp>
        <p:nvSpPr>
          <p:cNvPr id="10" name="Text 8"/>
          <p:cNvSpPr txBox="1"/>
          <p:nvPr/>
        </p:nvSpPr>
        <p:spPr>
          <a:xfrm>
            <a:off x="868680" y="1463040"/>
            <a:ext cx="10454335" cy="1417320"/>
          </a:xfrm>
          <a:prstGeom prst="rect">
            <a:avLst/>
          </a:prstGeom>
          <a:noFill/>
          <a:ln/>
        </p:spPr>
        <p:txBody>
          <a:bodyPr wrap="square" lIns="0" tIns="0" rIns="0" bIns="0" rtlCol="0" anchor="ctr"/>
          <a:lstStyle/>
          <a:p>
            <a:pPr marL="0" indent="0" algn="l">
              <a:lnSpc>
                <a:spcPct val="115000"/>
              </a:lnSpc>
              <a:buNone/>
            </a:pPr>
            <a:r>
              <a:rPr lang="en-US" sz="1350" dirty="0">
                <a:solidFill>
                  <a:srgbClr val="1F2937"/>
                </a:solidFill>
                <a:latin typeface="Calibri" pitchFamily="34" charset="0"/>
                <a:ea typeface="Calibri" pitchFamily="34" charset="-122"/>
                <a:cs typeface="Calibri" pitchFamily="34" charset="-120"/>
              </a:rPr>
              <a:t>NeuroNet Modulator aims to develop an AI/ML-driven, safety-aware self-healing network system. Model development is in progress, while GPU acceleration, four-way workload-agent design and ns-3 integration are being researched. End-to-end integration and experimental validation remain future milestones.</a:t>
            </a:r>
            <a:endParaRPr lang="en-US" sz="1350" dirty="0"/>
          </a:p>
        </p:txBody>
      </p:sp>
      <p:sp>
        <p:nvSpPr>
          <p:cNvPr id="11" name="Shape 9"/>
          <p:cNvSpPr/>
          <p:nvPr/>
        </p:nvSpPr>
        <p:spPr>
          <a:xfrm>
            <a:off x="594360" y="3108960"/>
            <a:ext cx="3484778" cy="914400"/>
          </a:xfrm>
          <a:prstGeom prst="rect">
            <a:avLst/>
          </a:prstGeom>
          <a:solidFill>
            <a:srgbClr val="EEF3F8"/>
          </a:solidFill>
          <a:ln w="12700">
            <a:solidFill>
              <a:srgbClr val="AEB9C7"/>
            </a:solidFill>
            <a:prstDash val="solid"/>
          </a:ln>
        </p:spPr>
      </p:sp>
      <p:sp>
        <p:nvSpPr>
          <p:cNvPr id="12" name="Text 10"/>
          <p:cNvSpPr txBox="1"/>
          <p:nvPr/>
        </p:nvSpPr>
        <p:spPr>
          <a:xfrm>
            <a:off x="731520" y="3218688"/>
            <a:ext cx="3210458" cy="384048"/>
          </a:xfrm>
          <a:prstGeom prst="rect">
            <a:avLst/>
          </a:prstGeom>
          <a:noFill/>
          <a:ln/>
        </p:spPr>
        <p:txBody>
          <a:bodyPr wrap="square" lIns="0" tIns="0" rIns="0" bIns="0" rtlCol="0" anchor="ctr"/>
          <a:lstStyle/>
          <a:p>
            <a:pPr marL="0" indent="0">
              <a:buNone/>
            </a:pPr>
            <a:r>
              <a:rPr lang="en-US" sz="1200" b="1" dirty="0">
                <a:solidFill>
                  <a:srgbClr val="17365D"/>
                </a:solidFill>
                <a:latin typeface="Calibri" pitchFamily="34" charset="0"/>
                <a:ea typeface="Calibri" pitchFamily="34" charset="-122"/>
                <a:cs typeface="Calibri" pitchFamily="34" charset="-120"/>
              </a:rPr>
              <a:t>Model development</a:t>
            </a:r>
            <a:endParaRPr lang="en-US" sz="1200" dirty="0"/>
          </a:p>
        </p:txBody>
      </p:sp>
      <p:sp>
        <p:nvSpPr>
          <p:cNvPr id="13" name="Text 11"/>
          <p:cNvSpPr txBox="1"/>
          <p:nvPr/>
        </p:nvSpPr>
        <p:spPr>
          <a:xfrm>
            <a:off x="731520" y="3621024"/>
            <a:ext cx="3210458" cy="347472"/>
          </a:xfrm>
          <a:prstGeom prst="rect">
            <a:avLst/>
          </a:prstGeom>
          <a:noFill/>
          <a:ln/>
        </p:spPr>
        <p:txBody>
          <a:bodyPr wrap="square" lIns="0" tIns="0" rIns="0" bIns="0" rtlCol="0" anchor="ctr"/>
          <a:lstStyle/>
          <a:p>
            <a:pPr marL="0" indent="0">
              <a:buNone/>
            </a:pPr>
            <a:r>
              <a:rPr lang="en-US" sz="1150" dirty="0">
                <a:solidFill>
                  <a:srgbClr val="1F2937"/>
                </a:solidFill>
                <a:latin typeface="Calibri" pitchFamily="34" charset="0"/>
                <a:ea typeface="Calibri" pitchFamily="34" charset="-122"/>
                <a:cs typeface="Calibri" pitchFamily="34" charset="-120"/>
              </a:rPr>
              <a:t>In progress</a:t>
            </a:r>
            <a:endParaRPr lang="en-US" sz="1150" dirty="0"/>
          </a:p>
        </p:txBody>
      </p:sp>
      <p:sp>
        <p:nvSpPr>
          <p:cNvPr id="14" name="Shape 12"/>
          <p:cNvSpPr/>
          <p:nvPr/>
        </p:nvSpPr>
        <p:spPr>
          <a:xfrm>
            <a:off x="4353458" y="3108960"/>
            <a:ext cx="3484778" cy="914400"/>
          </a:xfrm>
          <a:prstGeom prst="rect">
            <a:avLst/>
          </a:prstGeom>
          <a:solidFill>
            <a:srgbClr val="EEF3F8"/>
          </a:solidFill>
          <a:ln w="12700">
            <a:solidFill>
              <a:srgbClr val="AEB9C7"/>
            </a:solidFill>
            <a:prstDash val="solid"/>
          </a:ln>
        </p:spPr>
      </p:sp>
      <p:sp>
        <p:nvSpPr>
          <p:cNvPr id="15" name="Text 13"/>
          <p:cNvSpPr txBox="1"/>
          <p:nvPr/>
        </p:nvSpPr>
        <p:spPr>
          <a:xfrm>
            <a:off x="4490618" y="3218688"/>
            <a:ext cx="3210458" cy="384048"/>
          </a:xfrm>
          <a:prstGeom prst="rect">
            <a:avLst/>
          </a:prstGeom>
          <a:noFill/>
          <a:ln/>
        </p:spPr>
        <p:txBody>
          <a:bodyPr wrap="square" lIns="0" tIns="0" rIns="0" bIns="0" rtlCol="0" anchor="ctr"/>
          <a:lstStyle/>
          <a:p>
            <a:pPr marL="0" indent="0">
              <a:buNone/>
            </a:pPr>
            <a:r>
              <a:rPr lang="en-US" sz="1200" b="1" dirty="0">
                <a:solidFill>
                  <a:srgbClr val="17365D"/>
                </a:solidFill>
                <a:latin typeface="Calibri" pitchFamily="34" charset="0"/>
                <a:ea typeface="Calibri" pitchFamily="34" charset="-122"/>
                <a:cs typeface="Calibri" pitchFamily="34" charset="-120"/>
              </a:rPr>
              <a:t>GPU, agent &amp; ns-3</a:t>
            </a:r>
            <a:endParaRPr lang="en-US" sz="1200" dirty="0"/>
          </a:p>
        </p:txBody>
      </p:sp>
      <p:sp>
        <p:nvSpPr>
          <p:cNvPr id="16" name="Text 14"/>
          <p:cNvSpPr txBox="1"/>
          <p:nvPr/>
        </p:nvSpPr>
        <p:spPr>
          <a:xfrm>
            <a:off x="4490618" y="3621024"/>
            <a:ext cx="3210458" cy="347472"/>
          </a:xfrm>
          <a:prstGeom prst="rect">
            <a:avLst/>
          </a:prstGeom>
          <a:noFill/>
          <a:ln/>
        </p:spPr>
        <p:txBody>
          <a:bodyPr wrap="square" lIns="0" tIns="0" rIns="0" bIns="0" rtlCol="0" anchor="ctr"/>
          <a:lstStyle/>
          <a:p>
            <a:pPr marL="0" indent="0">
              <a:buNone/>
            </a:pPr>
            <a:r>
              <a:rPr lang="en-US" sz="1150" dirty="0">
                <a:solidFill>
                  <a:srgbClr val="1F2937"/>
                </a:solidFill>
                <a:latin typeface="Calibri" pitchFamily="34" charset="0"/>
                <a:ea typeface="Calibri" pitchFamily="34" charset="-122"/>
                <a:cs typeface="Calibri" pitchFamily="34" charset="-120"/>
              </a:rPr>
              <a:t>Research</a:t>
            </a:r>
            <a:endParaRPr lang="en-US" sz="1150" dirty="0"/>
          </a:p>
        </p:txBody>
      </p:sp>
      <p:sp>
        <p:nvSpPr>
          <p:cNvPr id="17" name="Shape 15"/>
          <p:cNvSpPr/>
          <p:nvPr/>
        </p:nvSpPr>
        <p:spPr>
          <a:xfrm>
            <a:off x="8112557" y="3108960"/>
            <a:ext cx="3484778" cy="914400"/>
          </a:xfrm>
          <a:prstGeom prst="rect">
            <a:avLst/>
          </a:prstGeom>
          <a:solidFill>
            <a:srgbClr val="EEF3F8"/>
          </a:solidFill>
          <a:ln w="12700">
            <a:solidFill>
              <a:srgbClr val="AEB9C7"/>
            </a:solidFill>
            <a:prstDash val="solid"/>
          </a:ln>
        </p:spPr>
      </p:sp>
      <p:sp>
        <p:nvSpPr>
          <p:cNvPr id="18" name="Text 16"/>
          <p:cNvSpPr txBox="1"/>
          <p:nvPr/>
        </p:nvSpPr>
        <p:spPr>
          <a:xfrm>
            <a:off x="8249717" y="3218688"/>
            <a:ext cx="3210458" cy="384048"/>
          </a:xfrm>
          <a:prstGeom prst="rect">
            <a:avLst/>
          </a:prstGeom>
          <a:noFill/>
          <a:ln/>
        </p:spPr>
        <p:txBody>
          <a:bodyPr wrap="square" lIns="0" tIns="0" rIns="0" bIns="0" rtlCol="0" anchor="ctr"/>
          <a:lstStyle/>
          <a:p>
            <a:pPr marL="0" indent="0">
              <a:buNone/>
            </a:pPr>
            <a:r>
              <a:rPr lang="en-US" sz="1200" b="1" dirty="0">
                <a:solidFill>
                  <a:srgbClr val="17365D"/>
                </a:solidFill>
                <a:latin typeface="Calibri" pitchFamily="34" charset="0"/>
                <a:ea typeface="Calibri" pitchFamily="34" charset="-122"/>
                <a:cs typeface="Calibri" pitchFamily="34" charset="-120"/>
              </a:rPr>
              <a:t>Integration &amp; validation</a:t>
            </a:r>
            <a:endParaRPr lang="en-US" sz="1200" dirty="0"/>
          </a:p>
        </p:txBody>
      </p:sp>
      <p:sp>
        <p:nvSpPr>
          <p:cNvPr id="19" name="Text 17"/>
          <p:cNvSpPr txBox="1"/>
          <p:nvPr/>
        </p:nvSpPr>
        <p:spPr>
          <a:xfrm>
            <a:off x="8249717" y="3621024"/>
            <a:ext cx="3210458" cy="347472"/>
          </a:xfrm>
          <a:prstGeom prst="rect">
            <a:avLst/>
          </a:prstGeom>
          <a:noFill/>
          <a:ln/>
        </p:spPr>
        <p:txBody>
          <a:bodyPr wrap="square" lIns="0" tIns="0" rIns="0" bIns="0" rtlCol="0" anchor="ctr"/>
          <a:lstStyle/>
          <a:p>
            <a:pPr marL="0" indent="0">
              <a:buNone/>
            </a:pPr>
            <a:r>
              <a:rPr lang="en-US" sz="1150" dirty="0">
                <a:solidFill>
                  <a:srgbClr val="1F2937"/>
                </a:solidFill>
                <a:latin typeface="Calibri" pitchFamily="34" charset="0"/>
                <a:ea typeface="Calibri" pitchFamily="34" charset="-122"/>
                <a:cs typeface="Calibri" pitchFamily="34" charset="-120"/>
              </a:rPr>
              <a:t>Future milestone</a:t>
            </a:r>
            <a:endParaRPr lang="en-US" sz="1150" dirty="0"/>
          </a:p>
        </p:txBody>
      </p:sp>
      <p:sp>
        <p:nvSpPr>
          <p:cNvPr id="20" name="Shape 18"/>
          <p:cNvSpPr/>
          <p:nvPr/>
        </p:nvSpPr>
        <p:spPr>
          <a:xfrm>
            <a:off x="594360" y="4343400"/>
            <a:ext cx="11002975" cy="1005840"/>
          </a:xfrm>
          <a:prstGeom prst="roundRect">
            <a:avLst>
              <a:gd name="adj" fmla="val 7273"/>
            </a:avLst>
          </a:prstGeom>
          <a:solidFill>
            <a:srgbClr val="EEF7EE"/>
          </a:solidFill>
          <a:ln w="12700">
            <a:solidFill>
              <a:srgbClr val="A9D1A9"/>
            </a:solidFill>
            <a:prstDash val="solid"/>
          </a:ln>
        </p:spPr>
      </p:sp>
      <p:sp>
        <p:nvSpPr>
          <p:cNvPr id="21" name="Text 19"/>
          <p:cNvSpPr txBox="1"/>
          <p:nvPr/>
        </p:nvSpPr>
        <p:spPr>
          <a:xfrm>
            <a:off x="594360" y="4343400"/>
            <a:ext cx="11002975" cy="1005840"/>
          </a:xfrm>
          <a:prstGeom prst="rect">
            <a:avLst/>
          </a:prstGeom>
          <a:noFill/>
          <a:ln/>
        </p:spPr>
        <p:txBody>
          <a:bodyPr wrap="square" lIns="0" tIns="0" rIns="0" bIns="0" rtlCol="0" anchor="ctr"/>
          <a:lstStyle/>
          <a:p>
            <a:pPr marL="0" indent="0" algn="ctr">
              <a:buNone/>
            </a:pPr>
            <a:r>
              <a:rPr lang="en-US" sz="2200" b="1" dirty="0">
                <a:solidFill>
                  <a:srgbClr val="2E7D32"/>
                </a:solidFill>
                <a:latin typeface="Calibri" pitchFamily="34" charset="0"/>
                <a:ea typeface="Calibri" pitchFamily="34" charset="-122"/>
                <a:cs typeface="Calibri" pitchFamily="34" charset="-120"/>
              </a:rPr>
              <a:t>Thank you — Questions &amp; Suggestions</a:t>
            </a:r>
            <a:endParaRPr lang="en-US" sz="2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82</TotalTime>
  <Words>1747</Words>
  <Application>Microsoft Office PowerPoint</Application>
  <PresentationFormat>Widescreen</PresentationFormat>
  <Paragraphs>329</Paragraphs>
  <Slides>14</Slides>
  <Notes>14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14</vt:i4>
      </vt:variant>
    </vt:vector>
  </HeadingPairs>
  <TitlesOfParts>
    <vt:vector size="17" baseType="lpstr">
      <vt:lpstr>Arial</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Abinaya K</cp:lastModifiedBy>
  <cp:revision>3</cp:revision>
  <dcterms:created xsi:type="dcterms:W3CDTF">2026-10-14T04:27:27Z</dcterms:created>
  <dcterms:modified xsi:type="dcterms:W3CDTF">2026-10-14T09:52:26Z</dcterms:modified>
</cp:coreProperties>
</file>