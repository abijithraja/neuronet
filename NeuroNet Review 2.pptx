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969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B7C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92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KPR Institute of Engineering and Technology | Department of Information Technology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92640" y="6492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 – 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12191695" cy="617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"/>
            <a:ext cx="12191695" cy="9601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7365D"/>
                </a:solidFill>
              </a:rPr>
              <a:t>PROJECT REVIEW – I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31520" y="21396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A1C1C"/>
                </a:solidFill>
              </a:rPr>
              <a:t>Student Project Presentation Template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0" y="2834640"/>
            <a:ext cx="8549640" cy="11430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2924680"/>
            <a:ext cx="8092440" cy="10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937"/>
                </a:solidFill>
              </a:rPr>
              <a:t>NeuroNet Modulator: GPU-Accelerated RL-Based Self-Healing Network Intelligence System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6B7A"/>
                </a:solidFill>
              </a:rPr>
              <a:t>Team No. 23  |  Guide: Mr. SRIRAM KRISHNA V S  |  Batch: 2023-2027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</a:rPr>
              <a:t>Department of Information Technology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B7A"/>
                </a:solidFill>
              </a:rPr>
              <a:t>KPR Institute of Engineering and Technology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71500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1C1C"/>
                </a:solidFill>
              </a:rPr>
              <a:t>Academic Year 2026–2027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1. Team &amp; Project Details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" cy="0"/>
          </a:xfrm>
          <a:prstGeom prst="line">
            <a:avLst/>
          </a:prstGeom>
          <a:noFill/>
          <a:ln w="38100">
            <a:solidFill>
              <a:srgbClr val="8A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B7A"/>
                </a:solidFill>
              </a:rPr>
              <a:t>Complete all fields before the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Project Title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63240" y="1335024"/>
            <a:ext cx="8321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41732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8A1C1C"/>
                </a:solidFill>
              </a:rPr>
              <a:t>NeuroNet Modulator: GPU-Accelerated RL-Based Self-Healing Network Intelligence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84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Domain / Area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63240" y="2048256"/>
            <a:ext cx="8321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13055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AIOps, AI/ML, Reinforcement Learning, Software-Defined Networking, Network Automation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7980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Team Number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63240" y="2761488"/>
            <a:ext cx="8321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843784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23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511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Student Members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Guide / Mentor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063240" y="4187952"/>
            <a:ext cx="8321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152814" y="427024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Mr. SRIRAM KRISHNA V S 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208F6DA4-BE1D-936B-E316-0DA7E3423404}"/>
              </a:ext>
            </a:extLst>
          </p:cNvPr>
          <p:cNvSpPr/>
          <p:nvPr/>
        </p:nvSpPr>
        <p:spPr>
          <a:xfrm>
            <a:off x="3040380" y="3456432"/>
            <a:ext cx="8321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n-IN" sz="1400" dirty="0"/>
              <a:t>1.MITHIELESH  N  2. ABIJITH RAJA B  3. ABINAYA  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2. Problem Statement &amp; Motivation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" cy="0"/>
          </a:xfrm>
          <a:prstGeom prst="line">
            <a:avLst/>
          </a:prstGeom>
          <a:noFill/>
          <a:ln w="38100">
            <a:solidFill>
              <a:srgbClr val="8A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B7A"/>
                </a:solidFill>
              </a:rPr>
              <a:t>Clearly define the problem, context and need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44752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828800"/>
            <a:ext cx="51572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Modern networks rely on static thresholds, fixed routing rules and human-assisted recovery, which detect degradation but cannot learn which corrective action best fits changing conditions. The project builds a framework that detects anomalies, selects corrective actions, executes remediation, observes the result and learns from the outcome.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166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44475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Motivation / Significance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1828800"/>
            <a:ext cx="483717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Cloud, telecom, edge and SDN environments face dynamic traffic and conditions; congestion, packet loss, routing instability and link failures degrade QoS. Manual diagnosis is slow, and static rule-based systems cannot adapt their response policy from past incidents — RL can model remediation as sequential decision-making and keep improving.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85800" y="3611880"/>
            <a:ext cx="10835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730752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Current Challenges / Limitations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" y="4114800"/>
            <a:ext cx="105064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Dependence on static thresholds and predefined recovery rules  •  Detection and remediation handled as separate processes  •  Most RL networking systems focus mainly on routing optimization  •  Existing fault-recovery approaches often target only specific failure categories  •  Autonomous actions still require safety, confidence estimation, explainability and rollback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960" y="5376672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1C1C"/>
                </a:solidFill>
              </a:rPr>
              <a:t>Detecting network anomalies → selecting corrective actions → executing remediation → observing the result → learning from the outcome.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3. Existing System &amp; Literature Survey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" cy="0"/>
          </a:xfrm>
          <a:prstGeom prst="line">
            <a:avLst/>
          </a:prstGeom>
          <a:noFill/>
          <a:ln w="38100">
            <a:solidFill>
              <a:srgbClr val="8A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B7A"/>
                </a:solidFill>
              </a:rPr>
              <a:t>Existing studies address routing, traffic engineering or fault recovery independently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873406"/>
              </p:ext>
            </p:extLst>
          </p:nvPr>
        </p:nvGraphicFramePr>
        <p:xfrm>
          <a:off x="502920" y="1325880"/>
          <a:ext cx="11274551" cy="4671367"/>
        </p:xfrm>
        <a:graphic>
          <a:graphicData uri="http://schemas.openxmlformats.org/drawingml/2006/table">
            <a:tbl>
              <a:tblPr/>
              <a:tblGrid>
                <a:gridCol w="337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3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5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219">
                  <a:extLst>
                    <a:ext uri="{9D8B030D-6E8A-4147-A177-3AD203B41FA5}">
                      <a16:colId xmlns:a16="http://schemas.microsoft.com/office/drawing/2014/main" val="927286200"/>
                    </a:ext>
                  </a:extLst>
                </a:gridCol>
                <a:gridCol w="2155300">
                  <a:extLst>
                    <a:ext uri="{9D8B030D-6E8A-4147-A177-3AD203B41FA5}">
                      <a16:colId xmlns:a16="http://schemas.microsoft.com/office/drawing/2014/main" val="1880877232"/>
                    </a:ext>
                  </a:extLst>
                </a:gridCol>
              </a:tblGrid>
              <a:tr h="648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Ref.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/>
                        <a:t>Author(s) &amp; Year</a:t>
                      </a:r>
                      <a:endParaRPr lang="en-US" sz="12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/>
                        <a:t>Paper / Approach</a:t>
                      </a:r>
                      <a:endParaRPr lang="en-US" sz="12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/>
                        <a:t>Method / Technology</a:t>
                      </a:r>
                      <a:endParaRPr lang="en-US" sz="12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/>
                        <a:t>Dataset / Application</a:t>
                      </a:r>
                      <a:endParaRPr lang="en-US" sz="12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/>
                        <a:t>Key Findings</a:t>
                      </a:r>
                      <a:endParaRPr lang="en-US" sz="12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/>
                        <a:t>Limitation / Research Gap</a:t>
                      </a:r>
                      <a:endParaRPr lang="en-US" sz="12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Ochoa-Aday et al. (2020)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Self-Healing and SDN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SDN local recovery + optimization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Software-Defined Networks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local recovery, then global optimization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Routing-based recovery; no continuous policy learning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Mismar &amp; Evans (2018)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Q-Learning for SON Faults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Q-Learning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Cellular SON networks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 learns corrective action sequences for alarms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cellular radio faults only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Casas-Velasco et al. (2022)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DRSIR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RL + SDN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SDN routing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delay, packet loss, routing adaptation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Routing-only; no heterogeneous self-healing actions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 et al. (2025)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FRRL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 + topology failure encoding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SDN link failures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routing policy generation after link failure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Restricted to link-failure recovery/rerouting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Makiyah et al. (2026)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RL-Based Self-Healing Recovery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PPO + SDN telemetry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Intent-based SDN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RL-driven recovery across multiple fault types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for explainability, multi-objective, safety-aware execution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605116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1C1C"/>
                </a:solidFill>
              </a:rPr>
              <a:t>Existing work rarely unifies anomaly-aware detection, multi-action remediation and continuous learning in one self-healing framework.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4. Research / Technical Gap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" cy="0"/>
          </a:xfrm>
          <a:prstGeom prst="line">
            <a:avLst/>
          </a:prstGeom>
          <a:noFill/>
          <a:ln w="38100">
            <a:solidFill>
              <a:srgbClr val="8A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23731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B7A"/>
                </a:solidFill>
              </a:rPr>
              <a:t>Connect literature findings to your proposed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4930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3619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Gap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581911"/>
            <a:ext cx="3163824" cy="168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Fragmented Self-Healing Pipeline: many approaches address either detection or remediation, not both. Need: a closed loop — Detection → Decision → Action → Feedback → Learning.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53128" y="1417320"/>
            <a:ext cx="34930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53619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Gap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1794463"/>
            <a:ext cx="316382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Restricted RL Action Space: RL networking approaches mostly optimize routing or one fault type. Need: a policy over heterogeneous actions — rerouting, QoS adjustment, scaling, traffic shaping, failover, monitoring, escalation.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35945" y="1415454"/>
            <a:ext cx="34930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5048" y="153619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Gap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5048" y="1867430"/>
            <a:ext cx="316382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Safe &amp; Explainable Autonomous Control: high-performing RL decisions aren't automatically safe for autonomous execution. Need: confidence-aware execution with explainability, escalation, audit logging, rollback and oscillation prevention.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5877" y="3746986"/>
            <a:ext cx="11033076" cy="2122714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50392" y="3822192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Problem-to-Gap-to-Solution Logic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" y="4206240"/>
            <a:ext cx="10506456" cy="1634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IN" sz="1400" b="1" dirty="0"/>
              <a:t>Reactive/Static Network Management</a:t>
            </a:r>
            <a:r>
              <a:rPr lang="en-IN" sz="1400" dirty="0"/>
              <a:t> → Limited adaptation to dynamic network conditions, changing traffic patterns, and unexpected failures → </a:t>
            </a:r>
            <a:r>
              <a:rPr lang="en-IN" sz="1400" b="1" dirty="0"/>
              <a:t>Need for RL-based intelligent decision-making</a:t>
            </a:r>
            <a:r>
              <a:rPr lang="en-IN" sz="1400" dirty="0"/>
              <a:t> → Existing approaches remain fragmented, fault-specific, and mainly focused on individual recovery tasks → </a:t>
            </a:r>
            <a:r>
              <a:rPr lang="en-IN" sz="1400" b="1" dirty="0"/>
              <a:t>Integrated detection–decision–action–feedback loop</a:t>
            </a:r>
            <a:r>
              <a:rPr lang="en-IN" sz="1400" dirty="0"/>
              <a:t> for continuous monitoring, fault analysis, adaptive recovery, and performance verification → Limited support for heterogeneous recovery actions and lack of safety mechanisms for autonomous decisions → </a:t>
            </a:r>
            <a:r>
              <a:rPr lang="en-IN" sz="1400" b="1" dirty="0"/>
              <a:t>Multi-action, confidence-aware, explainable, and safety-driven control</a:t>
            </a:r>
            <a:r>
              <a:rPr lang="en-IN" sz="1400" dirty="0"/>
              <a:t> with escalation, rollback, auditability, and continuous feedback learning → </a:t>
            </a:r>
            <a:r>
              <a:rPr lang="en-IN" sz="1400" b="1" dirty="0"/>
              <a:t>Proposed </a:t>
            </a:r>
            <a:r>
              <a:rPr lang="en-IN" sz="1400" b="1" dirty="0" err="1"/>
              <a:t>NeuroNet</a:t>
            </a:r>
            <a:r>
              <a:rPr lang="en-IN" sz="1400" b="1" dirty="0"/>
              <a:t> Modulator</a:t>
            </a:r>
            <a:r>
              <a:rPr lang="en-IN" sz="1400" dirty="0"/>
              <a:t> enabling intelligent action selection, adaptive learning, reliable recovery, and safe autonomous self-healing across diverse and continuously changing SDN network conditions.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5. Objectives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" cy="0"/>
          </a:xfrm>
          <a:prstGeom prst="line">
            <a:avLst/>
          </a:prstGeom>
          <a:noFill/>
          <a:ln w="38100">
            <a:solidFill>
              <a:srgbClr val="8A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B7A"/>
                </a:solidFill>
              </a:rPr>
              <a:t>Objectives should be specific, measurable and aligned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201400" cy="3351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2937"/>
                </a:solidFill>
              </a:rPr>
              <a:t>Objective 1</a:t>
            </a:r>
            <a:r>
              <a:rPr lang="en-US" sz="1600" dirty="0">
                <a:solidFill>
                  <a:srgbClr val="1F2937"/>
                </a:solidFill>
              </a:rPr>
              <a:t> – Design: Design an AI-driven self-healing network architecture that continuously monitors network conditions and identifies abnormal behaviour.</a:t>
            </a:r>
            <a:endParaRPr lang="en-US" sz="16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2937"/>
                </a:solidFill>
              </a:rPr>
              <a:t>Objective 2 </a:t>
            </a:r>
            <a:r>
              <a:rPr lang="en-US" sz="1600" dirty="0">
                <a:solidFill>
                  <a:srgbClr val="1F2937"/>
                </a:solidFill>
              </a:rPr>
              <a:t>– Develop: Develop a reinforcement-learning agent that selects suitable remediation actions based on network state and observed anomalies.</a:t>
            </a:r>
            <a:endParaRPr lang="en-US" sz="16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2937"/>
                </a:solidFill>
              </a:rPr>
              <a:t>Objective 3 </a:t>
            </a:r>
            <a:r>
              <a:rPr lang="en-US" sz="1600" dirty="0">
                <a:solidFill>
                  <a:srgbClr val="1F2937"/>
                </a:solidFill>
              </a:rPr>
              <a:t>– Design &amp; Analyze: Design and analyze a multi-objective reward mechanism considering latency, throughput, packet loss, congestion, action cost and repeated-action penalties.</a:t>
            </a:r>
            <a:endParaRPr lang="en-US" sz="16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2937"/>
                </a:solidFill>
              </a:rPr>
              <a:t>Objective 4 </a:t>
            </a:r>
            <a:r>
              <a:rPr lang="en-US" sz="1600" dirty="0">
                <a:solidFill>
                  <a:srgbClr val="1F2937"/>
                </a:solidFill>
              </a:rPr>
              <a:t>– Evaluate: Evaluate the framework using simulated network failures, measuring learning behaviour, remediation performance, decision latency, stability and scalability.</a:t>
            </a:r>
            <a:endParaRPr lang="en-US" sz="16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2937"/>
                </a:solidFill>
              </a:rPr>
              <a:t>Objective 5</a:t>
            </a:r>
            <a:r>
              <a:rPr lang="en-US" sz="1600" dirty="0">
                <a:solidFill>
                  <a:srgbClr val="1F2937"/>
                </a:solidFill>
              </a:rPr>
              <a:t> – Incorporate: Incorporate confidence-aware autonomy, explainability and safety mechanisms for reliable automated network control.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Objective 6 </a:t>
            </a:r>
            <a:r>
              <a:rPr lang="en-IN" sz="1600" dirty="0"/>
              <a:t>– Optimize: Optimize the selection of self-healing actions to minimize network recovery time, service             disruption, and operational cost while maintaining required QoS levels.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 </a:t>
            </a:r>
            <a:r>
              <a:rPr lang="en-IN" sz="1600" b="1" dirty="0"/>
              <a:t>Objective 7 </a:t>
            </a:r>
            <a:r>
              <a:rPr lang="en-IN" sz="1600" dirty="0"/>
              <a:t>– Validate: Validate the proposed </a:t>
            </a:r>
            <a:r>
              <a:rPr lang="en-IN" sz="1600" dirty="0" err="1"/>
              <a:t>NeuroNet</a:t>
            </a:r>
            <a:r>
              <a:rPr lang="en-IN" sz="1600" dirty="0"/>
              <a:t> Modulator under different network topologies, traffic conditions, and failure scenarios to assess its robustness, adaptability, and generalization capability.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399" y="4814596"/>
            <a:ext cx="10260563" cy="1427584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E8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flipV="1">
            <a:off x="513183" y="5074917"/>
            <a:ext cx="45719" cy="457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7037" y="4727449"/>
            <a:ext cx="10021077" cy="1427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600" b="1" dirty="0"/>
              <a:t>Problem &amp; Motivation</a:t>
            </a:r>
            <a:r>
              <a:rPr lang="en-IN" sz="1600" dirty="0"/>
              <a:t> → </a:t>
            </a:r>
            <a:r>
              <a:rPr lang="en-IN" sz="1600" b="1" dirty="0"/>
              <a:t>Research Objectives (1–5)</a:t>
            </a:r>
            <a:r>
              <a:rPr lang="en-IN" sz="1600" dirty="0"/>
              <a:t> → </a:t>
            </a:r>
            <a:r>
              <a:rPr lang="en-IN" sz="1600" b="1" dirty="0" err="1"/>
              <a:t>NeuroNet</a:t>
            </a:r>
            <a:r>
              <a:rPr lang="en-IN" sz="1600" b="1" dirty="0"/>
              <a:t> Modulator</a:t>
            </a:r>
            <a:r>
              <a:rPr lang="en-IN" sz="1600" dirty="0"/>
              <a:t> → </a:t>
            </a:r>
            <a:r>
              <a:rPr lang="en-IN" sz="1600" b="1" dirty="0"/>
              <a:t>Anomaly Detection + RL Decision-Making</a:t>
            </a:r>
            <a:r>
              <a:rPr lang="en-IN" sz="1600" dirty="0"/>
              <a:t> → </a:t>
            </a:r>
            <a:r>
              <a:rPr lang="en-IN" sz="1600" b="1" dirty="0"/>
              <a:t>Safe Multi-Action Self-Healing</a:t>
            </a:r>
            <a:r>
              <a:rPr lang="en-IN" sz="1600" dirty="0"/>
              <a:t> → </a:t>
            </a:r>
            <a:r>
              <a:rPr lang="en-IN" sz="1600" b="1" dirty="0"/>
              <a:t>Performance, Reliability &amp; Safety Evaluation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6. Proposed Methodology / Architecture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" cy="0"/>
          </a:xfrm>
          <a:prstGeom prst="line">
            <a:avLst/>
          </a:prstGeom>
          <a:noFill/>
          <a:ln w="38100">
            <a:solidFill>
              <a:srgbClr val="8A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B7A"/>
                </a:solidFill>
              </a:rPr>
              <a:t>Telemetry → anomaly detection → RL decision → safe action → feedback loop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554480" cy="1051560"/>
          </a:xfrm>
          <a:prstGeom prst="roundRect">
            <a:avLst/>
          </a:prstGeom>
          <a:solidFill>
            <a:srgbClr val="EEF3F8"/>
          </a:solidFill>
          <a:ln w="16510">
            <a:solidFill>
              <a:srgbClr val="9FB0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5915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</a:rPr>
              <a:t>Telemetry Input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67712" y="23225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8A1C1C"/>
                </a:solidFill>
              </a:rPr>
              <a:t>→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2788920" y="2057400"/>
            <a:ext cx="1554480" cy="1051560"/>
          </a:xfrm>
          <a:prstGeom prst="roundRect">
            <a:avLst/>
          </a:prstGeom>
          <a:solidFill>
            <a:srgbClr val="EEF3F8"/>
          </a:solidFill>
          <a:ln w="16510">
            <a:solidFill>
              <a:srgbClr val="9FB0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35915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</a:rPr>
              <a:t>Anomaly Detection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16552" y="23225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8A1C1C"/>
                </a:solidFill>
              </a:rPr>
              <a:t>→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937760" y="2057400"/>
            <a:ext cx="1554480" cy="1051560"/>
          </a:xfrm>
          <a:prstGeom prst="roundRect">
            <a:avLst/>
          </a:prstGeom>
          <a:solidFill>
            <a:srgbClr val="FCEAEA"/>
          </a:solidFill>
          <a:ln w="16510">
            <a:solidFill>
              <a:srgbClr val="8A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235915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</a:rPr>
              <a:t>RL Agent (DQN)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65392" y="23225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8A1C1C"/>
                </a:solidFill>
              </a:rPr>
              <a:t>→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7086600" y="2057400"/>
            <a:ext cx="1554480" cy="1051560"/>
          </a:xfrm>
          <a:prstGeom prst="roundRect">
            <a:avLst/>
          </a:prstGeom>
          <a:solidFill>
            <a:srgbClr val="EEF3F8"/>
          </a:solidFill>
          <a:ln w="16510">
            <a:solidFill>
              <a:srgbClr val="9FB0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235915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</a:rPr>
              <a:t>Safety Gate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14232" y="23225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8A1C1C"/>
                </a:solidFill>
              </a:rPr>
              <a:t>→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235440" y="2057400"/>
            <a:ext cx="1554480" cy="1051560"/>
          </a:xfrm>
          <a:prstGeom prst="roundRect">
            <a:avLst/>
          </a:prstGeom>
          <a:solidFill>
            <a:srgbClr val="EEF3F8"/>
          </a:solidFill>
          <a:ln w="16510">
            <a:solidFill>
              <a:srgbClr val="9FB0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235915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65D"/>
                </a:solidFill>
              </a:rPr>
              <a:t>Remediation + Learning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10835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822192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Methodology Details / Algorithm / Architecture Notes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" y="4114800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Network telemetry (Prometheus/Kafka/InfluxDB) feeds an LSTM Autoencoder + Isolation Forest ensemble anomaly detector; the resulting anomaly score and RL state vector drive a Dueling DQN agent (experience replay, target network, GPU inference). Selected actions pass a confidence/safety gate before execution via OpenFlow, Kubernetes and Ansible. SHAP explanations, audit logs and rollback support safe autonomy, and rewards from the new network state feed back into policy learning — a continuous self-healing loop.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7. Technology Stack, Dataset &amp; Evaluation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" cy="0"/>
          </a:xfrm>
          <a:prstGeom prst="line">
            <a:avLst/>
          </a:prstGeom>
          <a:noFill/>
          <a:ln w="38100">
            <a:solidFill>
              <a:srgbClr val="8A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B7A"/>
                </a:solidFill>
              </a:rPr>
              <a:t>Simulation-based evaluation using Mininet/SDN telemetry and injected faults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96896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819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Programming / Frameworks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261873"/>
            <a:ext cx="2267712" cy="223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IN" sz="1200" dirty="0"/>
              <a:t>Python, </a:t>
            </a:r>
            <a:r>
              <a:rPr lang="en-IN" sz="1200" dirty="0" err="1"/>
              <a:t>PyTorch</a:t>
            </a:r>
            <a:r>
              <a:rPr lang="en-IN" sz="1200" dirty="0"/>
              <a:t>, scikit-learn, SHAP, </a:t>
            </a:r>
            <a:r>
              <a:rPr lang="en-IN" sz="1200" dirty="0" err="1"/>
              <a:t>FastAPI</a:t>
            </a:r>
            <a:r>
              <a:rPr lang="en-IN" sz="1200" dirty="0"/>
              <a:t>, NumPy, Pandas, Matplotlib, Seaborn, Gymnasium, Stable-Baselines3, </a:t>
            </a:r>
            <a:r>
              <a:rPr lang="en-IN" sz="1200" dirty="0" err="1"/>
              <a:t>NetworkX</a:t>
            </a:r>
            <a:r>
              <a:rPr lang="en-IN" sz="1200" dirty="0"/>
              <a:t>, Scikit-learn, </a:t>
            </a:r>
            <a:r>
              <a:rPr lang="en-IN" sz="1200" dirty="0" err="1"/>
              <a:t>TensorBoard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3008" y="1463040"/>
            <a:ext cx="2596896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5819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Tools / Platforms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463040"/>
            <a:ext cx="226771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IN" sz="1200" dirty="0"/>
              <a:t>Mininet, OpenFlow, Ryu/ONOS, Prometheus, Grafana, Kafka, </a:t>
            </a:r>
            <a:r>
              <a:rPr lang="en-IN" sz="1200" dirty="0" err="1"/>
              <a:t>InfluxDB</a:t>
            </a:r>
            <a:r>
              <a:rPr lang="en-IN" sz="1200" dirty="0"/>
              <a:t>, Redis, Docker, Kubernetes, Ansible, Git/GitHub, Linux/Ubuntu, CUDA-enabled GPU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45936" y="1463040"/>
            <a:ext cx="2596896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5819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Dataset / Data Source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1965960"/>
            <a:ext cx="226771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No conventional labelled dataset — telemetry (latency, throughput, packet loss, congestion, device/network health) is generated from simulated networks with injected faults: congestion, routing instability, link failure, resource saturation, gradual degradation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98864" y="1463040"/>
            <a:ext cx="2596896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5819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Evaluation Metrics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63456" y="1965960"/>
            <a:ext cx="226771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Anomaly detection: Accuracy/Precision/Recall/F1  •  RL: mean/cumulative reward, convergence, Q-values, policy stability  •  Network: latency, throughput, packet-loss reduction, recovery time  •  System: inference latency (p50/p95), autonomous action rate, escalation rate, scalability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79"/>
            <a:ext cx="10972800" cy="2148839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AEB9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315968"/>
            <a:ext cx="1064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Feasibility &amp; Constraints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4572000"/>
            <a:ext cx="10643616" cy="15582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IN" sz="1400" b="1" dirty="0"/>
              <a:t>The proposed framework is technically feasible using simulation-based SDN environments and open-source tools.</a:t>
            </a:r>
            <a:r>
              <a:rPr lang="en-IN" sz="1400" dirty="0"/>
              <a:t> Initial development and evaluation will be performed using Mininet, OpenFlow, and telemetry platforms without requiring a production network. However, the quality of results depends on the realism of simulated traffic and injected fault scenarios. RL model training may require </a:t>
            </a:r>
            <a:r>
              <a:rPr lang="en-IN" sz="1400" b="1" dirty="0"/>
              <a:t>GPU-enabled hardware and sufficient computational resources</a:t>
            </a:r>
            <a:r>
              <a:rPr lang="en-IN" sz="1400" dirty="0"/>
              <a:t>, while real-world deployment would require integration with physical SDN controllers and live network telemetry. The framework will also need to address </a:t>
            </a:r>
            <a:r>
              <a:rPr lang="en-IN" sz="1400" b="1" dirty="0"/>
              <a:t>scalability, inference latency, training stability, and generalization</a:t>
            </a:r>
            <a:r>
              <a:rPr lang="en-IN" sz="1400" dirty="0"/>
              <a:t> across different network topologies and failure conditions.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8. Work Plan &amp; Milestones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" cy="0"/>
          </a:xfrm>
          <a:prstGeom prst="line">
            <a:avLst/>
          </a:prstGeom>
          <a:noFill/>
          <a:ln w="38100">
            <a:solidFill>
              <a:srgbClr val="8A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B7A"/>
                </a:solidFill>
              </a:rPr>
              <a:t>8-week plan across literature survey, RL development, simulation and evaluation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572474"/>
              </p:ext>
            </p:extLst>
          </p:nvPr>
        </p:nvGraphicFramePr>
        <p:xfrm>
          <a:off x="685800" y="1417319"/>
          <a:ext cx="10515598" cy="3350619"/>
        </p:xfrm>
        <a:graphic>
          <a:graphicData uri="http://schemas.openxmlformats.org/drawingml/2006/table">
            <a:tbl>
              <a:tblPr/>
              <a:tblGrid>
                <a:gridCol w="3077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6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1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61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</a:rPr>
                        <a:t>Activity</a:t>
                      </a:r>
                      <a:endParaRPr lang="en-US" sz="16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</a:rPr>
                        <a:t>Weeks 1–2</a:t>
                      </a:r>
                      <a:endParaRPr lang="en-US" sz="16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</a:rPr>
                        <a:t>Weeks 3–4</a:t>
                      </a:r>
                      <a:endParaRPr lang="en-US" sz="16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</a:rPr>
                        <a:t>Weeks 5–6</a:t>
                      </a:r>
                      <a:endParaRPr lang="en-US" sz="16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</a:rPr>
                        <a:t>Weeks 7–8</a:t>
                      </a:r>
                      <a:endParaRPr lang="en-US" sz="16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</a:rPr>
                        <a:t>Status</a:t>
                      </a:r>
                      <a:endParaRPr lang="en-US" sz="1600" b="1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Literature Survey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Ongoing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Requirement Analysis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Completed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Architecture Design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Completed / Refinement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Initial RL Prototype / MVP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Partially completed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Full RL Model Development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Ongoing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Network Simulation &amp; Fault Injection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Ongoing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Model Evaluation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Planned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Research Analysis &amp; Documentation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Ongoing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798" y="5179416"/>
            <a:ext cx="10515600" cy="80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1C1C"/>
                </a:solidFill>
              </a:rPr>
              <a:t>Before the next review: finalize RL state/action/reward design, run simulation scenarios, generate SHAP explanations and compare RL behaviour against baselines.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9. Expected Outcomes &amp; Contribution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" cy="0"/>
          </a:xfrm>
          <a:prstGeom prst="line">
            <a:avLst/>
          </a:prstGeom>
          <a:noFill/>
          <a:ln w="38100">
            <a:solidFill>
              <a:srgbClr val="8A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B7A"/>
                </a:solidFill>
              </a:rPr>
              <a:t>Working system, performance gains, research contribution, beneficiaries and future scope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61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926000"/>
            <a:ext cx="10561320" cy="1213542"/>
          </a:xfrm>
          <a:prstGeom prst="roundRect">
            <a:avLst/>
          </a:prstGeom>
          <a:solidFill>
            <a:srgbClr val="EEF7EE"/>
          </a:solidFill>
          <a:ln w="12700">
            <a:solidFill>
              <a:srgbClr val="A9D1A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926000"/>
            <a:ext cx="9692640" cy="111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Expected final deliverable: A validated RL-based self-healing network intelligence framework with simulation results, performance analysis and an explainable autonomous-control mechanism.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5FD23-DE52-D916-2D1B-ABC23FB2B3F9}"/>
              </a:ext>
            </a:extLst>
          </p:cNvPr>
          <p:cNvSpPr txBox="1"/>
          <p:nvPr/>
        </p:nvSpPr>
        <p:spPr>
          <a:xfrm>
            <a:off x="594359" y="1112952"/>
            <a:ext cx="1092708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Working system: an end-to-end simulation of an intelligent self-healing network that detects, decides, acts, evaluates and learns.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Expected performance: faster automated remediation than manual/static recovery, reduced latency and packet loss, improved throughput and congestion management, and low-latency GPU-based action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Research contribution: a unified architecture combining hybrid anomaly detection, reinforcement learning, multi-objective reward optimization, explainability and confidence-aware autonomous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Beneficiaries: telecom network operators, cloud infrastructure providers, Network Operations Centres, SDN environments, and edge/5G infrastructure providers.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Future extensions: production SDN deployment, large-scale network validation, multi-agent RL, MANET adaptation, real-world   telecom telemetry, and continual/federated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Improved Resilience: The system is expected to improve network resilience and service continuity by identifying failures early and selecting appropriate recovery actions with minimal human intervention.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Adaptive &amp; Generalizable Framework: The proposed framework is expected to adapt to different network conditions, traffic patterns, and failure scenarios, providing a scalable foundation for future autonomous SDN and intelligent network management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</a:rPr>
              <a:t>10. References &amp; Discussion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" cy="0"/>
          </a:xfrm>
          <a:prstGeom prst="line">
            <a:avLst/>
          </a:prstGeom>
          <a:noFill/>
          <a:ln w="38100">
            <a:solidFill>
              <a:srgbClr val="8A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B7A"/>
                </a:solidFill>
              </a:rPr>
              <a:t>IEEE-style reference list for cited literature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821644" cy="48705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[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0" y="182880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THANK OU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818120" y="24231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EEF5"/>
                </a:solidFill>
              </a:rPr>
              <a:t>Questions &amp; Suggestions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B5A839-1973-8447-F520-208AAC225E9F}"/>
              </a:ext>
            </a:extLst>
          </p:cNvPr>
          <p:cNvSpPr txBox="1"/>
          <p:nvPr/>
        </p:nvSpPr>
        <p:spPr>
          <a:xfrm>
            <a:off x="594359" y="1435608"/>
            <a:ext cx="111831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L. Ochoa-Aday et al., "Self-healing and SDN: Bridging the gap," </a:t>
            </a:r>
            <a:r>
              <a:rPr lang="en-IN" sz="1600" i="1" dirty="0"/>
              <a:t>Digital Communications and Networks</a:t>
            </a:r>
            <a:r>
              <a:rPr lang="en-IN" sz="1600" dirty="0"/>
              <a:t>, 2020.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F. B. </a:t>
            </a:r>
            <a:r>
              <a:rPr lang="en-IN" sz="1600" dirty="0" err="1"/>
              <a:t>Mismar</a:t>
            </a:r>
            <a:r>
              <a:rPr lang="en-IN" sz="1600" dirty="0"/>
              <a:t> and B. L. Evans, "Deep Q-Learning for Self-Organizing Networks Fault Management and Radio Performance Improvement," </a:t>
            </a:r>
            <a:r>
              <a:rPr lang="en-IN" sz="1600" i="1" dirty="0"/>
              <a:t>Proc. Asilomar Conf.</a:t>
            </a:r>
            <a:r>
              <a:rPr lang="en-IN" sz="1600" dirty="0"/>
              <a:t>, 2018.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D. M. Casas-Velasco et al., "DRSIR: A Deep RL Approach for Routing in SDN," </a:t>
            </a:r>
            <a:r>
              <a:rPr lang="en-IN" sz="1600" i="1" dirty="0"/>
              <a:t>IEEE TNSM</a:t>
            </a:r>
            <a:r>
              <a:rPr lang="en-IN" sz="1600" dirty="0"/>
              <a:t>, 2022.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Y. Ma et al., "FRRL: A Reinforcement Learning Approach for Link Failure Recovery in a Hybrid SDN," </a:t>
            </a:r>
            <a:r>
              <a:rPr lang="en-IN" sz="1600" i="1" dirty="0"/>
              <a:t>J. Network and Computer Applications</a:t>
            </a:r>
            <a:r>
              <a:rPr lang="en-IN" sz="1600" dirty="0"/>
              <a:t>, 2025.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E. H. Makiyah et al., "A Reinforcement Learning Framework for Self-Healing Fault Recovery in Intent-Based SDNs," </a:t>
            </a:r>
            <a:r>
              <a:rPr lang="en-IN" sz="1600" i="1" dirty="0"/>
              <a:t>Discover Networks</a:t>
            </a:r>
            <a:r>
              <a:rPr lang="en-IN" sz="1600" dirty="0"/>
              <a:t>, 2026.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C. Yu, J. Lan, Z. Guo, and Y. Hu, "DROM: Optimizing the Routing in Software-Defined Networks With Deep Reinforcement Learning," </a:t>
            </a:r>
            <a:r>
              <a:rPr lang="en-IN" sz="1600" i="1" dirty="0"/>
              <a:t>IEEE Access</a:t>
            </a:r>
            <a:r>
              <a:rPr lang="en-IN" sz="1600" dirty="0"/>
              <a:t>, 2018.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M. S. Al-Hajri et al., "</a:t>
            </a:r>
            <a:r>
              <a:rPr lang="en-IN" sz="1600" dirty="0" err="1"/>
              <a:t>CoDRL</a:t>
            </a:r>
            <a:r>
              <a:rPr lang="en-IN" sz="1600" dirty="0"/>
              <a:t>: Intelligent Packet Routing in SDN Using Convolutional Deep Reinforcement Learning," </a:t>
            </a:r>
            <a:r>
              <a:rPr lang="en-IN" sz="1600" i="1" dirty="0"/>
              <a:t>Proc. IEEE ANTS</a:t>
            </a:r>
            <a:r>
              <a:rPr lang="en-IN" sz="1600" dirty="0"/>
              <a:t>, 2019.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Y. Xiao et al., "</a:t>
            </a:r>
            <a:r>
              <a:rPr lang="en-IN" sz="1600" dirty="0" err="1"/>
              <a:t>NFVdeep</a:t>
            </a:r>
            <a:r>
              <a:rPr lang="en-IN" sz="1600" dirty="0"/>
              <a:t>: Adaptive Online Service Function Chain Deployment with Deep Reinforcement Learning," </a:t>
            </a:r>
            <a:r>
              <a:rPr lang="en-IN" sz="1600" i="1" dirty="0"/>
              <a:t>Proc. IEEE/ACM </a:t>
            </a:r>
            <a:r>
              <a:rPr lang="en-IN" sz="1600" i="1" dirty="0" err="1"/>
              <a:t>IWQoS</a:t>
            </a:r>
            <a:r>
              <a:rPr lang="en-IN" sz="1600" dirty="0"/>
              <a:t>, 2019.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Y. Ma et al., "Reliable Service Function Chain Deployment Method Based on Deep Reinforcement Learning," </a:t>
            </a:r>
            <a:r>
              <a:rPr lang="en-IN" sz="1600" i="1" dirty="0"/>
              <a:t>Sensors</a:t>
            </a:r>
            <a:r>
              <a:rPr lang="en-IN" sz="1600" dirty="0"/>
              <a:t>, 2021.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H. Qu, K. Wang, and J. Zhao, "Priority-awareness VNF Migration Method Based on Deep Reinforcement Learning," </a:t>
            </a:r>
            <a:r>
              <a:rPr lang="en-IN" sz="1600" i="1" dirty="0"/>
              <a:t>Computer Networks</a:t>
            </a:r>
            <a:r>
              <a:rPr lang="en-IN" sz="1600" dirty="0"/>
              <a:t>,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2093</Words>
  <Application>Microsoft Office PowerPoint</Application>
  <PresentationFormat>Widescreen</PresentationFormat>
  <Paragraphs>204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KPR Institute of Engineering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 – I | Student Project Presentation Template</dc:title>
  <dc:subject>Project Review – I Presentation Template</dc:subject>
  <dc:creator>Department of Information Technology</dc:creator>
  <cp:lastModifiedBy>ABIJITH RAJA B</cp:lastModifiedBy>
  <cp:revision>7</cp:revision>
  <dcterms:created xsi:type="dcterms:W3CDTF">2026-09-03T10:01:00Z</dcterms:created>
  <dcterms:modified xsi:type="dcterms:W3CDTF">2026-10-14T03:45:55Z</dcterms:modified>
</cp:coreProperties>
</file>